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9" r:id="rId15"/>
    <p:sldId id="271" r:id="rId16"/>
    <p:sldId id="272" r:id="rId17"/>
    <p:sldId id="274" r:id="rId18"/>
    <p:sldId id="277" r:id="rId19"/>
    <p:sldId id="276" r:id="rId20"/>
    <p:sldId id="278" r:id="rId21"/>
    <p:sldId id="279" r:id="rId22"/>
    <p:sldId id="284" r:id="rId23"/>
    <p:sldId id="281" r:id="rId24"/>
    <p:sldId id="285" r:id="rId25"/>
    <p:sldId id="283" r:id="rId26"/>
    <p:sldId id="286" r:id="rId27"/>
    <p:sldId id="287" r:id="rId28"/>
    <p:sldId id="291" r:id="rId29"/>
    <p:sldId id="292" r:id="rId30"/>
    <p:sldId id="293" r:id="rId31"/>
    <p:sldId id="294" r:id="rId32"/>
    <p:sldId id="295" r:id="rId33"/>
    <p:sldId id="288" r:id="rId34"/>
    <p:sldId id="296" r:id="rId35"/>
    <p:sldId id="297" r:id="rId36"/>
    <p:sldId id="298" r:id="rId37"/>
    <p:sldId id="299" r:id="rId38"/>
    <p:sldId id="300" r:id="rId39"/>
    <p:sldId id="289" r:id="rId40"/>
    <p:sldId id="290" r:id="rId4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400EED2A-2C0A-4719-89B8-F76F44E13437}">
          <p14:sldIdLst>
            <p14:sldId id="256"/>
            <p14:sldId id="257"/>
          </p14:sldIdLst>
        </p14:section>
        <p14:section name="Табличные_данные" id="{CB178731-8F14-48CE-9519-6F6C53616819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Временные_ряды" id="{82E9AFED-166D-4E34-B502-027EC9686783}">
          <p14:sldIdLst>
            <p14:sldId id="264"/>
            <p14:sldId id="265"/>
            <p14:sldId id="266"/>
            <p14:sldId id="267"/>
            <p14:sldId id="270"/>
            <p14:sldId id="269"/>
          </p14:sldIdLst>
        </p14:section>
        <p14:section name="Данные_с_изображениями" id="{E8CA9BBE-39A6-4A49-BC8B-C9822371601B}">
          <p14:sldIdLst>
            <p14:sldId id="271"/>
            <p14:sldId id="272"/>
            <p14:sldId id="274"/>
            <p14:sldId id="277"/>
            <p14:sldId id="276"/>
          </p14:sldIdLst>
        </p14:section>
        <p14:section name="Текстовые_данные" id="{B99349B3-7A9C-414A-B0B3-9EE6761D8FEA}">
          <p14:sldIdLst>
            <p14:sldId id="278"/>
            <p14:sldId id="279"/>
            <p14:sldId id="284"/>
            <p14:sldId id="281"/>
            <p14:sldId id="285"/>
            <p14:sldId id="283"/>
          </p14:sldIdLst>
        </p14:section>
        <p14:section name="Заключение" id="{0E926B80-6233-47CE-AE56-98E404BA7ECF}">
          <p14:sldIdLst>
            <p14:sldId id="286"/>
          </p14:sldIdLst>
        </p14:section>
        <p14:section name="Доп. слайды(табличные_данные)" id="{0425AB6F-E616-4EC8-93B8-A6F6331D704C}">
          <p14:sldIdLst>
            <p14:sldId id="287"/>
            <p14:sldId id="291"/>
            <p14:sldId id="292"/>
            <p14:sldId id="293"/>
            <p14:sldId id="294"/>
            <p14:sldId id="295"/>
          </p14:sldIdLst>
        </p14:section>
        <p14:section name="Доп. слайды(временные_ряды)" id="{1A213C40-3792-4A2D-8F21-0315D339442F}">
          <p14:sldIdLst>
            <p14:sldId id="288"/>
            <p14:sldId id="296"/>
            <p14:sldId id="297"/>
            <p14:sldId id="298"/>
            <p14:sldId id="299"/>
            <p14:sldId id="300"/>
          </p14:sldIdLst>
        </p14:section>
        <p14:section name="Доп. слайды(данные_с_изображениями)" id="{EF3AE2D9-1E70-43F6-A766-252DDDA20EC5}">
          <p14:sldIdLst>
            <p14:sldId id="289"/>
          </p14:sldIdLst>
        </p14:section>
        <p14:section name="Доп. слайды(текстовые_данные)" id="{3BDDF5C5-B4CD-4472-AC4F-30C6734DF0A1}">
          <p14:sldIdLst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3932" autoAdjust="0"/>
  </p:normalViewPr>
  <p:slideViewPr>
    <p:cSldViewPr snapToGrid="0">
      <p:cViewPr>
        <p:scale>
          <a:sx n="66" d="100"/>
          <a:sy n="66" d="100"/>
        </p:scale>
        <p:origin x="552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805A11-193B-4C07-A20A-B39EC8973A2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C5B02-561F-4307-93D6-A5A5DB3110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93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908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49719-52EC-F4F7-8BAD-91124D1A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AAB9BB6-7A91-C6BA-1439-986D2A5BB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F28010E-9B47-2634-4227-203481279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32D288-0A67-76AC-01F0-4C27948E6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062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B8AC8-B858-467A-130E-924F185A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5083AE9-BC18-1C62-D81F-4A3591679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C729A96-F7E3-544B-E7E8-3AC62B894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DA2CCB-03C4-BFD7-33D8-99E3E0FEF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917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EBF80-378B-51BD-2586-16D96D487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29D1BAB-D7D5-EB37-098D-764266A21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A4C9578-D356-801A-602C-BAEC64C1A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F48C84-7806-C8F8-C6E3-8E5B019DE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314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573B4-42CA-F1E2-DAA2-63BD7EE14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AC6D8E8-B53C-32C7-3491-C747B88D9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AE0D06F-D96E-0C4E-0DA5-2B9628889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1EFE42-EB70-C7F2-E120-65377B397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270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90733-C057-56BD-C58C-0B59F72FA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731C57B-3DAF-60C8-E1AF-5B1D82A12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FAB16FA-8AD7-156C-0247-25D86F2C1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18118A-D0C7-92F8-3417-77F8212DEE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190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F2B6A-1D09-007E-E0A2-E2541FC0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648F9DE-33D1-13A9-0AD2-93D012220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23315C4-3AF3-11C8-D486-15DA4D2F5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64112E-C1D3-EF51-0F59-8A7331A5C1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800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D9364-043D-255E-E429-1C0E867B9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20A1002-1CB5-DA1D-B9DC-541774243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3FCE6E0-B13F-FE1A-C94B-4C4A4F3DF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97E2D2-8879-22B6-5541-528DD682B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057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47C0B-7659-9A4D-0BDB-9AFE15925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DB5645D-160C-D039-0677-1A65406F2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10599DE-B61A-D079-061A-59294F069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FAD7ED-EFBE-7F8C-8E1A-675B10D30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404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EF6CA-8D2F-BE99-DA0F-D8F19D7DB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87617FC-5D51-3717-0978-E53F314A7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4241ED7-54A3-5A95-2065-B5603D44C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93A6C4-1195-FC9E-47F2-8A863D986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619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CFB25-6AB5-24CA-AAD5-75A714565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E9C752-2BDC-C424-013E-8A5159CF7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5DF9A9B-D67A-5CBA-5C8A-56A4E1E74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A598DF-2E56-CEDB-E2F9-9AA55B1B1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689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7AAA6-87E7-227D-6504-1873B843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C714F76-DBB6-5A87-350F-E437DA547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8A4DE0D-03A2-9DC2-FAA2-AFEE8B838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336CDF-0334-1188-FD89-7414964AD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8884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4103E-A48D-C7A1-C3E1-90DFFC71A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A0B31C6-8542-0CE0-CE92-23E791805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E0D4E1A-BA17-29ED-0051-D16DAFDAA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8121B2-B487-B45C-863E-1121AAE6E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725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3671A-D4FB-FF4E-6AF5-D3F7DC6F3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069800D-628D-C8EF-78DD-3F8D790D5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535B4FE-508F-BC88-882E-AAE43C0DD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666BF-76EF-BF68-6085-726136143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0698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B4FD7-5B7B-384C-ED04-03C197D9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2DD02D2-B565-F90E-8ACA-5522B7837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E4735DA-DDD5-AC32-C4AA-94DA8DBF8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45955F-62A3-2F58-8E11-8B0F5139F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699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6DF62-A88C-0485-6CEE-78F6FC2FB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FB021B0-D460-7642-6A3A-2420C909D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06BEC8C-947F-923F-40BB-1059C6D3A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72E31F-8A11-78B9-2991-0FFB37222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4248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BC442-720D-F28B-20F8-663C34723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298243B-CC74-FE8B-A9D3-FEB2B520D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5E2988C-82C5-7A97-30C5-AA6FF3851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07D12A-B0E4-7495-3FAF-D31760FD0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9467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75A9B-4C6F-AD62-0B8A-15BF0BA3C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35EBA18-49D2-17AB-3E1F-E3E666379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9B4D101-AC66-6A37-E6DE-D0A821461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679FBA-0510-96E2-FCA2-7FA918046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6408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06C81-C8D4-166D-B0AB-9F85237E4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A90E64A-AB19-08CF-E486-A883E7FB9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8986D37-F122-EFC5-96D8-2AFF028DF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CEE432-A89E-5F38-2C48-CEF951755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1171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40C1-F79D-A229-96BD-C66A32A48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9FEDC8-FD0E-ED70-47C7-58E62BEC9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B33EB43-4E51-44EB-260D-54D7D23D7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488AFC-1AC7-D8C4-326E-8A9D65198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8390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AC199-FC28-0758-5EDA-1900E59BC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2BEA17D-CE22-9B3C-1A38-8C202CF85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0F7695B-A315-55C4-C433-3BAF206A3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07442C-7AD6-1A58-CED2-93DAFCD8E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8231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2C5D8-6ED2-552D-BDE4-62FB68BEB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EE6D001-EE6C-B125-0540-F6FEA4A11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5063764-30B8-1586-1F44-6C9FE9B4E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328915-7933-639F-426C-682C95B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2986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91882-C897-553F-D46A-EF597EE9C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EB9776E-8065-AA6F-EEBB-16613242A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EEDFF93-4B72-E510-0E0E-B8386FBEE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22139A-C7D9-7659-2B86-2AE64E8B8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6311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C3E04-F59B-8BE7-9B5B-5450AD0F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94150CB-B201-6711-46C7-A0B728D14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25F1A45-3EBE-CCFD-3C85-C86F00195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FCE148-766A-8671-7872-A6EC5F935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30660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576AC-544B-1255-4169-AADEA626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D81042C-9FF1-1525-919A-FC71856CD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91ECB1-7DF7-BD87-17FD-278CC1C0E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F67D34D-BDCF-8924-F4C9-9237A57E2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1521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15079-2736-10D7-AFD1-6FF41C270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5EBAA64-556A-7B60-D477-0B8BB460B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BB595E6-FA30-AA7F-FCBF-53C004F26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1BD52D-AC51-6A06-F62E-DF4CA6073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8862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C86C9-EDAD-DD83-B7E0-09B9DF3A0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2218986-0F63-97B0-51EA-13BDABACF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ABB9C04-642A-128B-A0B9-7D14BD173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1FA632-B8C8-55F8-4200-53A839056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1673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9E084-EDC0-A5EC-9954-CC3465CD5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19C8CCC-9D85-447E-03E5-8C32EF66F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42ACCFC-8375-2F29-A9A9-CD64BD67C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1F194E-E8A6-B980-8C13-72E93D316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3307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52A89-D7CD-7161-8262-40BEAE86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AA3687B-1565-3631-88F8-9AF214307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9B6A021-FD0D-EECB-8D45-8C3A33435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525AB3-43D7-066F-CD25-007C49707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899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59CFF-881C-EB51-FF99-DE09B7F0F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4CC35FB-AD68-95E0-1D29-835547D28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9AEF890-94C4-09A5-EFCC-D6B54316B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8C93F0-C934-DB52-EB4E-336ABDC99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3679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39BAD-0F19-E27E-3D1B-DA1B6FD70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B806FAB-81A8-CECF-54DD-4476F0974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6E752F-2489-6CFE-1953-FCB05AA5C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6AA9AB-A8DA-1D69-0051-FA969D38B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6127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DAFB0-22FB-1F68-0FB7-98D4F442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4C02AC8-68B2-A305-2A88-64C8BCF84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FFA6D88-34E1-ADA0-A6D6-F8DC1C59B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F8C797-09A1-1C62-E3B2-DDC77C163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3002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76AE8-DA2C-C2EA-612B-DDCBC250C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AB36A58-9E1A-8771-979C-EFCD0CFE2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DE8807B-495E-A6E9-3156-527560753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04F0604-9718-D4C5-3A2A-299F4B83E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5496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F6FA-4ACD-8DDD-449F-918A362B2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5AD181B-B01F-9C3D-DE5A-2C2A5587E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5BC5AD-2F4A-1CB3-63F3-E74D6823B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FB6807-3002-AD62-8E11-BE85F7F1F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4902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79307-8648-4E4C-9A40-C808560D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8B2229-2A6F-B8C9-8CBC-DD793BA5D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C16F649-BF39-F137-0C11-2E96478C8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D137E3-4DCB-93D5-6429-95329E5D4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09486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F8A30-F517-2D38-2DFE-A62A7E419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E51AD6B-8E43-803B-B412-24B918EFB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FD12A07-B8B6-33B2-03D3-BB130C2AF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F40867-972B-1F35-9065-0526CF9A8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775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BD4FE-E733-A72D-D15F-4125E2F2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456AB56-4AEF-1C96-2089-56C12730D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C64E0E7-386F-EFFC-40E1-E8D9B54F4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0F910B-B77D-C38C-CCEB-77356DED3E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361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338BF-486A-C945-EC6C-C388C4EC6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F6596F1-4F9F-E4BB-BE8A-599F6BD67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3C475BD-3F9A-BC95-9A74-D7D5C20EC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86B424-8194-89AA-639F-E7EBAE174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3765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49B90-4457-1AE3-F2D9-4CB9E857F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8D49382-21B8-A55A-E33E-D9F24BF91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F99D348-5B7A-7C73-5723-58FE3661D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2E4F0A-59D9-2629-9315-7F916973E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7546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EBDA7-CB15-0D5A-E313-CE131C81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47C80B1-63BC-954A-0908-9E487843E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6E7F72A-1F12-5D44-AA95-582560F59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6E9281-FD5C-8CD4-FC18-9C1AFDC58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5B02-561F-4307-93D6-A5A5DB3110ED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07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9CC74-665A-AD31-E9DC-95006BBCC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94476D-7284-7BBE-446A-76FF39874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652C06-32D6-D7F8-0E4C-0683CC54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1A73-851F-4AB9-9124-DFC91A9DB165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54244B-426D-9BF9-96CF-FE9A06C3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991E66-AEBC-1C8A-CF94-B8F8E6FE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F4E1-6D5E-4E01-99C8-F7DDCC2816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862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494FD5-0C0C-BA83-A355-94DD9D4ED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9BE3F5-E1C1-01CB-B98A-5EFAB2280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8EEC1A-0BDE-189B-6A8A-F4E51A37A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1A73-851F-4AB9-9124-DFC91A9DB165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9669C7-0542-D821-8F69-66CFE6688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9D0543-F934-FDAA-DD1A-DB4E6DF4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F4E1-6D5E-4E01-99C8-F7DDCC2816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660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66DC49-CFC2-837D-CA6F-92E434B78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28E4FD-6E0E-1358-4040-93F3CE9B9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5A72A5-4D52-9236-6299-6412A092B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1A73-851F-4AB9-9124-DFC91A9DB165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FE2396-B9D1-13CD-C8A8-506C3BC6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A76F3D-845B-DEFA-93C4-07322B3B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F4E1-6D5E-4E01-99C8-F7DDCC2816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67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E8E82-ADB6-D640-2D20-1F339C7FB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6B498-6BAA-E4C4-9DD0-95B8AFCC4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F1244EF-1427-B976-AD97-B65090EBE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A66C3C-0EAA-2B0A-E48B-3AE1EA267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1A73-851F-4AB9-9124-DFC91A9DB165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010EE4-C2BE-52FB-9BE7-3C0741C00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4BCA40-FF57-4E25-F2EA-CB478C048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F4E1-6D5E-4E01-99C8-F7DDCC2816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217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AAAA18-FF0E-B402-251E-1C19D020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268E10-9D48-5A27-5CB4-6D6B8CDF9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ABE0ED1-FED6-E78E-19B9-B0FA564ED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0EBC7F-F845-9ADF-A4C1-7D566B57B1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0B3200A-FD9D-2D26-35E2-1D4DBE86D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63A7D25-F234-6DDD-4673-29B2AFDE6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1A73-851F-4AB9-9124-DFC91A9DB165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918FF3F-5105-C091-5D2D-6D0E46AF4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724460-A5F6-203B-33A8-24247E84A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F4E1-6D5E-4E01-99C8-F7DDCC2816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618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6A887-B8B5-ED96-ABE6-7EB3BB1A0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70693A2-4098-7A00-AF45-206C966E1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1A73-851F-4AB9-9124-DFC91A9DB165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B4D88A9-DC34-7D73-4382-883830DFB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DE3EE5-4FF9-C706-D12E-DEB055B35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F4E1-6D5E-4E01-99C8-F7DDCC2816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384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3CBDB28-37DC-2F12-C0C5-9660B7CD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1A73-851F-4AB9-9124-DFC91A9DB165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9B7C4A-DA23-84B7-3EC2-2604B5288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7681A9-22E0-5E06-CEDD-DC0E46EC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F4E1-6D5E-4E01-99C8-F7DDCC2816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197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C1E48D-9150-9B70-614F-98BBF693C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58C948-FF4D-E038-A5E7-26DB23EC3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79FDE6-EEB6-FEF7-B10B-BA73912A9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75CA86-718E-A76F-6144-770C71E4E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1A73-851F-4AB9-9124-DFC91A9DB165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5348D2-4667-646F-F29C-AC72630F9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5608ED-7429-070E-41D1-876446B5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F4E1-6D5E-4E01-99C8-F7DDCC2816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35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8CE69-89BB-94C4-D2E9-8CE6E49F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C47B682-3305-818C-58AF-D660F7D24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00CE882-7B61-FE0A-D9C7-10DF0FA91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164D2A-B294-D5E4-380F-031D72036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1A73-851F-4AB9-9124-DFC91A9DB165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52D1E1-775C-1ECC-F2B5-62E7B2989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7CA77D-A94F-3058-0874-7620B98B2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F4E1-6D5E-4E01-99C8-F7DDCC2816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297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87B016-E0A2-FD59-9492-1A3FE6D65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E000EDE-56D3-F434-BE7A-1D30D8206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64B2EB-B40D-6111-D039-0B80E96C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1A73-851F-4AB9-9124-DFC91A9DB165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113B9C-49D7-F121-C150-1B1A4F8C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9BC5F1-CAE6-ED54-4F61-AA2FA7BA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F4E1-6D5E-4E01-99C8-F7DDCC2816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797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AE1CE18-0A6E-B327-EB3D-97E0873497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EBE083-3103-97D0-9828-84A85BBE4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4754D7-2D64-9BE2-1425-F85355B56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1A73-851F-4AB9-9124-DFC91A9DB165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34B0AE-9AFA-1DEB-2D00-4E5ED8A8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1CA0A7-31B1-BAF0-4F61-56A58678D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F4E1-6D5E-4E01-99C8-F7DDCC2816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269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B15DC-FBD2-5656-AEA5-97F54761D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952FC0-D0BA-DF0C-F72B-F69FCA7FF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50FB97-73D0-C390-B0F9-6741026F1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11A73-851F-4AB9-9124-DFC91A9DB165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14AE30-1B6B-CA22-1568-C85980F451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D83B2D-4520-B769-061B-E6915B0B3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9FF4E1-6D5E-4E01-99C8-F7DDCC2816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56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jayjoshi37/sleep-screen-time-and-stress-analysi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yuriykatser/skoltech-anomaly-benchmark-skab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KTyZV/KYRSOVAIA_RABOTA.git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6AB19F8-85AC-0BC8-7B6A-C6F5F270F79D}"/>
              </a:ext>
            </a:extLst>
          </p:cNvPr>
          <p:cNvSpPr/>
          <p:nvPr/>
        </p:nvSpPr>
        <p:spPr>
          <a:xfrm>
            <a:off x="-24674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62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F6398D-60A1-76AD-0688-84AC3DC6B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946" y="281312"/>
            <a:ext cx="11262101" cy="1655762"/>
          </a:xfrm>
        </p:spPr>
        <p:txBody>
          <a:bodyPr>
            <a:normAutofit fontScale="92500" lnSpcReduction="10000"/>
          </a:bodyPr>
          <a:lstStyle/>
          <a:p>
            <a:r>
              <a:rPr lang="ru-RU" sz="17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МИНИСТЕРСТВО НАУКИ И ВЫСШЕГО ОБРАЗОВАНИЯ РОССИЙСКОЙ ФЕДЕРАЦИИ</a:t>
            </a:r>
          </a:p>
          <a:p>
            <a:r>
              <a:rPr lang="ru-RU" sz="17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Федеральное государственное автономное образовательное учреждение высшего образования</a:t>
            </a:r>
          </a:p>
          <a:p>
            <a:r>
              <a:rPr lang="ru-RU" sz="17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ru-RU" sz="17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Южно</a:t>
            </a:r>
            <a:r>
              <a:rPr lang="ru-RU" sz="17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–Уральский государственный университет (национальный исследовательский университет)»</a:t>
            </a:r>
            <a:endParaRPr lang="en-CA" sz="17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7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Институт естественных и точных наук</a:t>
            </a:r>
          </a:p>
          <a:p>
            <a:r>
              <a:rPr lang="ru-RU" sz="17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Центр «</a:t>
            </a:r>
            <a:r>
              <a:rPr lang="ru-RU" sz="17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ВиртУм</a:t>
            </a:r>
            <a:r>
              <a:rPr lang="ru-RU" sz="17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BFD47E-561E-0900-A0D4-7C73B134E194}"/>
              </a:ext>
            </a:extLst>
          </p:cNvPr>
          <p:cNvSpPr txBox="1"/>
          <p:nvPr/>
        </p:nvSpPr>
        <p:spPr>
          <a:xfrm>
            <a:off x="651248" y="1937074"/>
            <a:ext cx="108894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Поиск и первичный анализ наборов данных </a:t>
            </a:r>
            <a:b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по различным областям применения</a:t>
            </a:r>
          </a:p>
        </p:txBody>
      </p:sp>
      <p:sp>
        <p:nvSpPr>
          <p:cNvPr id="8" name="Подзаголовок 5">
            <a:extLst>
              <a:ext uri="{FF2B5EF4-FFF2-40B4-BE49-F238E27FC236}">
                <a16:creationId xmlns:a16="http://schemas.microsoft.com/office/drawing/2014/main" id="{9C3422C1-D2EB-47E1-7E58-018B735CE50A}"/>
              </a:ext>
            </a:extLst>
          </p:cNvPr>
          <p:cNvSpPr txBox="1">
            <a:spLocks/>
          </p:cNvSpPr>
          <p:nvPr/>
        </p:nvSpPr>
        <p:spPr>
          <a:xfrm>
            <a:off x="4199048" y="2839664"/>
            <a:ext cx="3793894" cy="565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09.03.04 «Программная инженерия»</a:t>
            </a:r>
          </a:p>
        </p:txBody>
      </p:sp>
      <p:sp>
        <p:nvSpPr>
          <p:cNvPr id="9" name="Текст 7">
            <a:extLst>
              <a:ext uri="{FF2B5EF4-FFF2-40B4-BE49-F238E27FC236}">
                <a16:creationId xmlns:a16="http://schemas.microsoft.com/office/drawing/2014/main" id="{5506FDE5-FCFD-B58B-DD71-E6098F48FC18}"/>
              </a:ext>
            </a:extLst>
          </p:cNvPr>
          <p:cNvSpPr txBox="1">
            <a:spLocks/>
          </p:cNvSpPr>
          <p:nvPr/>
        </p:nvSpPr>
        <p:spPr>
          <a:xfrm>
            <a:off x="8398106" y="3429000"/>
            <a:ext cx="3793894" cy="253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Научный руководитель:</a:t>
            </a:r>
          </a:p>
          <a:p>
            <a:pPr algn="l"/>
            <a:r>
              <a:rPr lang="ru-RU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к.ф</a:t>
            </a:r>
            <a:r>
              <a:rPr lang="ru-RU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.–</a:t>
            </a:r>
            <a:r>
              <a:rPr lang="ru-RU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м.н</a:t>
            </a:r>
            <a:r>
              <a:rPr lang="ru-RU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., доцент центра «</a:t>
            </a:r>
            <a:r>
              <a:rPr lang="ru-RU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ВиртУм</a:t>
            </a:r>
            <a:r>
              <a:rPr lang="ru-RU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r>
              <a:rPr lang="ru-RU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ru-RU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Я. А. Краева</a:t>
            </a:r>
          </a:p>
          <a:p>
            <a:pPr algn="l"/>
            <a:endParaRPr lang="ru-RU" altLang="zh-CN" sz="16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ct val="0"/>
              </a:spcBef>
              <a:defRPr/>
            </a:pPr>
            <a:r>
              <a:rPr lang="ru-RU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Автор:</a:t>
            </a:r>
          </a:p>
          <a:p>
            <a:pPr algn="l">
              <a:spcBef>
                <a:spcPct val="0"/>
              </a:spcBef>
              <a:defRPr/>
            </a:pPr>
            <a:r>
              <a:rPr lang="ru-RU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студент группы ЕТ–141</a:t>
            </a:r>
          </a:p>
          <a:p>
            <a:pPr algn="l">
              <a:spcBef>
                <a:spcPct val="0"/>
              </a:spcBef>
              <a:defRPr/>
            </a:pPr>
            <a:r>
              <a:rPr lang="ru-RU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В. А. Бобыкин</a:t>
            </a: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89FBBBC7-0066-0F54-9D37-F53D3EB002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36566" y="6394125"/>
            <a:ext cx="3918858" cy="365125"/>
          </a:xfrm>
        </p:spPr>
        <p:txBody>
          <a:bodyPr/>
          <a:lstStyle/>
          <a:p>
            <a:pPr algn="ctr">
              <a:defRPr/>
            </a:pPr>
            <a:r>
              <a:rPr lang="ru-RU" altLang="zh-CN" sz="16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Челябинск, 2026 г.</a:t>
            </a:r>
          </a:p>
        </p:txBody>
      </p:sp>
    </p:spTree>
    <p:extLst>
      <p:ext uri="{BB962C8B-B14F-4D97-AF65-F5344CB8AC3E}">
        <p14:creationId xmlns:p14="http://schemas.microsoft.com/office/powerpoint/2010/main" val="4068142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6186-33FE-D848-1A8E-943C33CC6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5BC23B4-0947-834F-1BA6-6F40FDC5E7DA}"/>
              </a:ext>
            </a:extLst>
          </p:cNvPr>
          <p:cNvSpPr/>
          <p:nvPr/>
        </p:nvSpPr>
        <p:spPr>
          <a:xfrm>
            <a:off x="-24674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56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38EAAF-1ECE-B927-EFF3-4366B45EFD4E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Актуальность: необходимость первичного анализа</a:t>
            </a:r>
            <a:endParaRPr lang="ru-RU" sz="2000" dirty="0">
              <a:solidFill>
                <a:schemeClr val="bg1">
                  <a:lumMod val="8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8FC6E632-BAC9-95D7-9673-18C8824ADC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2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CD6188E-386C-1164-CAE9-40656CAAA09C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3AE06DB1-5F52-AED9-DDCC-16D43A72EB92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2780F8-0F97-67B1-126C-E14B70CDD0AE}"/>
              </a:ext>
            </a:extLst>
          </p:cNvPr>
          <p:cNvSpPr txBox="1"/>
          <p:nvPr/>
        </p:nvSpPr>
        <p:spPr>
          <a:xfrm>
            <a:off x="586665" y="1114754"/>
            <a:ext cx="11018658" cy="4847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ru-RU" sz="16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Технологии искусственного интеллекта применяются в медицине, финансах, транспорте и промышленности. Однако качество работы ИИ–модели напрямую зависит от качества данных, на которых она обучается. Как отмечается </a:t>
            </a:r>
            <a:r>
              <a:rPr lang="ru-RU" sz="1600" dirty="0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ru-RU" sz="16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исследовании</a:t>
            </a:r>
            <a:r>
              <a:rPr lang="ru-RU" sz="1600" dirty="0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lang="en-CA" sz="1600" dirty="0" err="1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edir</a:t>
            </a:r>
            <a:r>
              <a:rPr lang="ru-RU" sz="16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Mohammed</a:t>
            </a:r>
            <a:r>
              <a:rPr lang="ru-RU" sz="16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(2025) на примере данных о клиентах телеком–компании изучено, как дефекты данных влияют на точность прогнозов. Основные выводы:</a:t>
            </a:r>
          </a:p>
          <a:p>
            <a:pPr algn="just">
              <a:lnSpc>
                <a:spcPct val="150000"/>
              </a:lnSpc>
              <a:buNone/>
            </a:pPr>
            <a:endParaRPr lang="ru-RU" sz="1600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Пропуски в данных: при отсутствии более половины значений модель перестаёт работать.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1600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Ошибки в целевой переменной: при 20% неверных меток точность падает на 10%.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1600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Нарушение форматов и дубликаты почти не влияют на результат.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1600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ru-RU" sz="16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итоге предварительный анализ и оценка качества данных являются обязательным этапом перед построением любой ИИ–модели.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6EF93C17-1DC7-8864-8777-65F03C064F5F}"/>
              </a:ext>
            </a:extLst>
          </p:cNvPr>
          <p:cNvSpPr/>
          <p:nvPr/>
        </p:nvSpPr>
        <p:spPr>
          <a:xfrm>
            <a:off x="586665" y="2917371"/>
            <a:ext cx="11018658" cy="51162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E76C744-C799-7037-B455-C40BE47FA59E}"/>
              </a:ext>
            </a:extLst>
          </p:cNvPr>
          <p:cNvSpPr/>
          <p:nvPr/>
        </p:nvSpPr>
        <p:spPr>
          <a:xfrm>
            <a:off x="586665" y="3686222"/>
            <a:ext cx="11018658" cy="51162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49784E2-C2BF-0A0D-49FB-F2EFFBA82D0C}"/>
              </a:ext>
            </a:extLst>
          </p:cNvPr>
          <p:cNvSpPr/>
          <p:nvPr/>
        </p:nvSpPr>
        <p:spPr>
          <a:xfrm>
            <a:off x="586665" y="4425046"/>
            <a:ext cx="11018658" cy="51162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596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4E0BB-0F8D-1C17-9109-908BC290D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C3D35F0-E6B7-E111-79CD-4FC4074EE3B0}"/>
              </a:ext>
            </a:extLst>
          </p:cNvPr>
          <p:cNvSpPr/>
          <p:nvPr/>
        </p:nvSpPr>
        <p:spPr>
          <a:xfrm>
            <a:off x="-24674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5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EF8EA-CD73-4442-1304-4BF4905F94EB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Табличные данные: задача и описание данных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2228C747-96CA-8B98-8936-6A5A397290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3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84EB758-3A46-FAA5-4C5D-D028FC441330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5A9B5C19-9070-9C51-0886-025C1A66E53E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4F3D47-7B13-CD29-1D96-D00C32120C15}"/>
              </a:ext>
            </a:extLst>
          </p:cNvPr>
          <p:cNvSpPr txBox="1"/>
          <p:nvPr/>
        </p:nvSpPr>
        <p:spPr>
          <a:xfrm>
            <a:off x="413651" y="981929"/>
            <a:ext cx="11364686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Задача:</a:t>
            </a: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Прогнозирование уровня стресса, качества сна </a:t>
            </a:r>
          </a:p>
          <a:p>
            <a:pPr algn="just">
              <a:lnSpc>
                <a:spcPct val="150000"/>
              </a:lnSpc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 умственной усталости по поведенческим факторам </a:t>
            </a:r>
          </a:p>
          <a:p>
            <a:pPr algn="just">
              <a:lnSpc>
                <a:spcPct val="150000"/>
              </a:lnSpc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(возраст, пол, профессия, экранное время, кофеин, </a:t>
            </a:r>
          </a:p>
          <a:p>
            <a:pPr algn="just">
              <a:lnSpc>
                <a:spcPct val="150000"/>
              </a:lnSpc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физическая активность, уведомления)</a:t>
            </a:r>
          </a:p>
          <a:p>
            <a:pPr algn="just">
              <a:lnSpc>
                <a:spcPct val="150000"/>
              </a:lnSpc>
            </a:pP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Набор данных:</a:t>
            </a:r>
            <a:endParaRPr lang="ru-RU" sz="2000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2" indent="43200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Название, источник: </a:t>
            </a:r>
            <a:r>
              <a:rPr lang="ru-RU" sz="20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Sleep</a:t>
            </a: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Screen</a:t>
            </a: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Time </a:t>
            </a:r>
            <a:r>
              <a:rPr lang="ru-RU" sz="20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Stress</a:t>
            </a: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Analysis, </a:t>
            </a:r>
            <a:r>
              <a:rPr lang="ru-RU" sz="20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Kaggle</a:t>
            </a:r>
            <a:endParaRPr lang="ru-RU" sz="2000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2" indent="43200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URL:</a:t>
            </a:r>
            <a:r>
              <a:rPr lang="ru-RU" sz="20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000" i="0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https://www.kaggle.com/datasets/jayjoshi37/sleep–screen–time–and–stress–analysis</a:t>
            </a:r>
            <a:endParaRPr lang="ru-RU" sz="200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2" indent="43200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Автор: </a:t>
            </a:r>
            <a:r>
              <a:rPr lang="ru-RU" sz="20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Jay</a:t>
            </a: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Joshi</a:t>
            </a: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2026 г.</a:t>
            </a:r>
          </a:p>
          <a:p>
            <a:pPr marL="457200" lvl="2" indent="43200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Описание: синтетические данные о сне, экранном времени и уровне стресса</a:t>
            </a:r>
          </a:p>
          <a:p>
            <a:pPr marL="457200" lvl="2" indent="43200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Размерность: 15 000 объектов, 26 признаков (3 целевых)</a:t>
            </a:r>
          </a:p>
          <a:p>
            <a:pPr marL="457200" lvl="2" indent="43200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dirty="0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Целевые признаки: уровень стресса, качество сна, умственная усталость</a:t>
            </a:r>
            <a:endParaRPr lang="ru-RU" sz="2000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 descr="Влияние гаджетов на сон">
            <a:extLst>
              <a:ext uri="{FF2B5EF4-FFF2-40B4-BE49-F238E27FC236}">
                <a16:creationId xmlns:a16="http://schemas.microsoft.com/office/drawing/2014/main" id="{9B3EA208-06E5-84BC-2F5B-65E4936EDC0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8069943" y="981929"/>
            <a:ext cx="3598633" cy="2400886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70711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28C5D-FBDD-67D8-989D-ACE93A14C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19678CD-680C-4AA5-B4A9-306DCA108AF1}"/>
              </a:ext>
            </a:extLst>
          </p:cNvPr>
          <p:cNvSpPr/>
          <p:nvPr/>
        </p:nvSpPr>
        <p:spPr>
          <a:xfrm>
            <a:off x="-24674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44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6837DC-A132-5658-D331-CDB7ADB99ACA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Табличные данные: атрибуты</a:t>
            </a: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30C53E0F-1BB8-9602-6898-8FCD1F33C4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4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9A75A88-F9EF-7C09-1A94-183C0D246603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8785677C-D908-6A7E-E810-9E16D4562026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258C6FE-AE95-85A7-551F-F2BF2F209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70259"/>
              </p:ext>
            </p:extLst>
          </p:nvPr>
        </p:nvGraphicFramePr>
        <p:xfrm>
          <a:off x="393713" y="948802"/>
          <a:ext cx="5585899" cy="519074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0756">
                  <a:extLst>
                    <a:ext uri="{9D8B030D-6E8A-4147-A177-3AD203B41FA5}">
                      <a16:colId xmlns:a16="http://schemas.microsoft.com/office/drawing/2014/main" val="1015900073"/>
                    </a:ext>
                  </a:extLst>
                </a:gridCol>
                <a:gridCol w="1048931">
                  <a:extLst>
                    <a:ext uri="{9D8B030D-6E8A-4147-A177-3AD203B41FA5}">
                      <a16:colId xmlns:a16="http://schemas.microsoft.com/office/drawing/2014/main" val="45257346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242938945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3697788141"/>
                    </a:ext>
                  </a:extLst>
                </a:gridCol>
                <a:gridCol w="1267912">
                  <a:extLst>
                    <a:ext uri="{9D8B030D-6E8A-4147-A177-3AD203B41FA5}">
                      <a16:colId xmlns:a16="http://schemas.microsoft.com/office/drawing/2014/main" val="138882774"/>
                    </a:ext>
                  </a:extLst>
                </a:gridCol>
              </a:tblGrid>
              <a:tr h="67017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</a:p>
                  </a:txBody>
                  <a:tcPr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Название</a:t>
                      </a: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Семантика</a:t>
                      </a: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</a:t>
                      </a: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Допустимые значения</a:t>
                      </a: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554565"/>
                  </a:ext>
                </a:extLst>
              </a:tr>
              <a:tr h="67017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user_id</a:t>
                      </a:r>
                      <a:endParaRPr lang="ru-RU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Уникальный идентификатор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числовой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1–15 000</a:t>
                      </a:r>
                    </a:p>
                  </a:txBody>
                  <a:tcPr marL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226786"/>
                  </a:ext>
                </a:extLst>
              </a:tr>
              <a:tr h="42043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Возраст (лет)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числовой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18–59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68196"/>
                  </a:ext>
                </a:extLst>
              </a:tr>
              <a:tr h="67017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gender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категориальный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ru-RU" sz="12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ru-RU" sz="12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</a:t>
                      </a:r>
                      <a:endParaRPr lang="ru-RU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573889"/>
                  </a:ext>
                </a:extLst>
              </a:tr>
              <a:tr h="67017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occupation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Профессия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категориальный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 значений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517128"/>
                  </a:ext>
                </a:extLst>
              </a:tr>
              <a:tr h="91992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daily_screen_time</a:t>
                      </a: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 </a:t>
                      </a:r>
                      <a:r>
                        <a:rPr lang="ru-RU" sz="12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hours</a:t>
                      </a:r>
                      <a:endParaRPr lang="ru-RU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Экранное время (ч)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числовой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1–10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698193"/>
                  </a:ext>
                </a:extLst>
              </a:tr>
              <a:tr h="116967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phone_usage_before_sleep</a:t>
                      </a: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 </a:t>
                      </a:r>
                      <a:r>
                        <a:rPr lang="ru-RU" sz="12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minutes</a:t>
                      </a:r>
                      <a:endParaRPr lang="ru-RU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Телефон перед сном (мин)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числовой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0–119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022475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E7C3D01E-8444-F4CC-3913-BE02D937B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277172"/>
              </p:ext>
            </p:extLst>
          </p:nvPr>
        </p:nvGraphicFramePr>
        <p:xfrm>
          <a:off x="6209121" y="948803"/>
          <a:ext cx="5651500" cy="520160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4500">
                  <a:extLst>
                    <a:ext uri="{9D8B030D-6E8A-4147-A177-3AD203B41FA5}">
                      <a16:colId xmlns:a16="http://schemas.microsoft.com/office/drawing/2014/main" val="586533814"/>
                    </a:ext>
                  </a:extLst>
                </a:gridCol>
                <a:gridCol w="1212850">
                  <a:extLst>
                    <a:ext uri="{9D8B030D-6E8A-4147-A177-3AD203B41FA5}">
                      <a16:colId xmlns:a16="http://schemas.microsoft.com/office/drawing/2014/main" val="3895204415"/>
                    </a:ext>
                  </a:extLst>
                </a:gridCol>
                <a:gridCol w="2001429">
                  <a:extLst>
                    <a:ext uri="{9D8B030D-6E8A-4147-A177-3AD203B41FA5}">
                      <a16:colId xmlns:a16="http://schemas.microsoft.com/office/drawing/2014/main" val="4246933073"/>
                    </a:ext>
                  </a:extLst>
                </a:gridCol>
                <a:gridCol w="1040221">
                  <a:extLst>
                    <a:ext uri="{9D8B030D-6E8A-4147-A177-3AD203B41FA5}">
                      <a16:colId xmlns:a16="http://schemas.microsoft.com/office/drawing/2014/main" val="411755616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035850811"/>
                    </a:ext>
                  </a:extLst>
                </a:gridCol>
              </a:tblGrid>
              <a:tr h="67115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sleep_duration_hours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Длительность сна (ч)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числовой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4–9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802282"/>
                  </a:ext>
                </a:extLst>
              </a:tr>
              <a:tr h="67115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R="152400" marT="95250" marB="9525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sleep_quality_score</a:t>
                      </a:r>
                    </a:p>
                  </a:txBody>
                  <a:tcPr marL="152400" marR="152400" marT="95250" marB="9525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Качество сна (1–10)</a:t>
                      </a:r>
                    </a:p>
                  </a:txBody>
                  <a:tcPr marL="152400" marR="152400" marT="95250" marB="9525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целевой</a:t>
                      </a:r>
                    </a:p>
                  </a:txBody>
                  <a:tcPr marL="152400" marR="152400" marT="95250" marB="9525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1–10</a:t>
                      </a:r>
                    </a:p>
                  </a:txBody>
                  <a:tcPr marL="152400" marT="95250" marB="9525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519303"/>
                  </a:ext>
                </a:extLst>
              </a:tr>
              <a:tr h="42104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stress_level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Уровень стресса (1–10)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целевой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1–10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397231"/>
                  </a:ext>
                </a:extLst>
              </a:tr>
              <a:tr h="67115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caffeine_intake_cups</a:t>
                      </a:r>
                      <a:endParaRPr lang="ru-RU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Кофеин (чашек/день)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числовой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0–4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077848"/>
                  </a:ext>
                </a:extLst>
              </a:tr>
              <a:tr h="67115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physical_activity_minutes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Физ. активность (мин)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числовой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0–119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439064"/>
                  </a:ext>
                </a:extLst>
              </a:tr>
              <a:tr h="921266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notifications_received_per_day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Уведомлений/день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числовой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20–299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281645"/>
                  </a:ext>
                </a:extLst>
              </a:tr>
              <a:tr h="117467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mental_fatigue_score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Умственная усталость (1–10)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целевой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1–10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42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4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90A7-47A3-BE98-6B3D-89DC4D98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1230294-BFA3-5210-06FB-841DA8C25385}"/>
              </a:ext>
            </a:extLst>
          </p:cNvPr>
          <p:cNvSpPr/>
          <p:nvPr/>
        </p:nvSpPr>
        <p:spPr>
          <a:xfrm>
            <a:off x="-24674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38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37B58B9-295E-8ABC-C6F5-BC661F42C5EA}"/>
              </a:ext>
            </a:extLst>
          </p:cNvPr>
          <p:cNvSpPr/>
          <p:nvPr/>
        </p:nvSpPr>
        <p:spPr>
          <a:xfrm>
            <a:off x="-246746" y="-220648"/>
            <a:ext cx="12685487" cy="131284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43000">
                <a:schemeClr val="tx2">
                  <a:lumMod val="90000"/>
                  <a:lumOff val="10000"/>
                </a:schemeClr>
              </a:gs>
            </a:gsLst>
            <a:lin ang="132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970EB-587E-612C-F799-38D70E19BE74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Табличные данные: пример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6827DC6F-EA4F-085B-4600-CED626AACE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5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0506E74-868C-F46F-009E-64C69ABDF49E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F75AA02B-885E-C636-B1CC-5545E7F44129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1166673A-D10C-B32A-B05D-6402CCD93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686697"/>
              </p:ext>
            </p:extLst>
          </p:nvPr>
        </p:nvGraphicFramePr>
        <p:xfrm>
          <a:off x="336636" y="1444989"/>
          <a:ext cx="11518716" cy="4187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065">
                  <a:extLst>
                    <a:ext uri="{9D8B030D-6E8A-4147-A177-3AD203B41FA5}">
                      <a16:colId xmlns:a16="http://schemas.microsoft.com/office/drawing/2014/main" val="1569345488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111735924"/>
                    </a:ext>
                  </a:extLst>
                </a:gridCol>
                <a:gridCol w="827314">
                  <a:extLst>
                    <a:ext uri="{9D8B030D-6E8A-4147-A177-3AD203B41FA5}">
                      <a16:colId xmlns:a16="http://schemas.microsoft.com/office/drawing/2014/main" val="286224351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4258581387"/>
                    </a:ext>
                  </a:extLst>
                </a:gridCol>
                <a:gridCol w="979657">
                  <a:extLst>
                    <a:ext uri="{9D8B030D-6E8A-4147-A177-3AD203B41FA5}">
                      <a16:colId xmlns:a16="http://schemas.microsoft.com/office/drawing/2014/main" val="2896454625"/>
                    </a:ext>
                  </a:extLst>
                </a:gridCol>
                <a:gridCol w="878172">
                  <a:extLst>
                    <a:ext uri="{9D8B030D-6E8A-4147-A177-3AD203B41FA5}">
                      <a16:colId xmlns:a16="http://schemas.microsoft.com/office/drawing/2014/main" val="1130887205"/>
                    </a:ext>
                  </a:extLst>
                </a:gridCol>
                <a:gridCol w="943428">
                  <a:extLst>
                    <a:ext uri="{9D8B030D-6E8A-4147-A177-3AD203B41FA5}">
                      <a16:colId xmlns:a16="http://schemas.microsoft.com/office/drawing/2014/main" val="3807391186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304095080"/>
                    </a:ext>
                  </a:extLst>
                </a:gridCol>
                <a:gridCol w="754743">
                  <a:extLst>
                    <a:ext uri="{9D8B030D-6E8A-4147-A177-3AD203B41FA5}">
                      <a16:colId xmlns:a16="http://schemas.microsoft.com/office/drawing/2014/main" val="910461317"/>
                    </a:ext>
                  </a:extLst>
                </a:gridCol>
                <a:gridCol w="922337">
                  <a:extLst>
                    <a:ext uri="{9D8B030D-6E8A-4147-A177-3AD203B41FA5}">
                      <a16:colId xmlns:a16="http://schemas.microsoft.com/office/drawing/2014/main" val="3653009250"/>
                    </a:ext>
                  </a:extLst>
                </a:gridCol>
                <a:gridCol w="833892">
                  <a:extLst>
                    <a:ext uri="{9D8B030D-6E8A-4147-A177-3AD203B41FA5}">
                      <a16:colId xmlns:a16="http://schemas.microsoft.com/office/drawing/2014/main" val="2026676986"/>
                    </a:ext>
                  </a:extLst>
                </a:gridCol>
                <a:gridCol w="1248228">
                  <a:extLst>
                    <a:ext uri="{9D8B030D-6E8A-4147-A177-3AD203B41FA5}">
                      <a16:colId xmlns:a16="http://schemas.microsoft.com/office/drawing/2014/main" val="139242865"/>
                    </a:ext>
                  </a:extLst>
                </a:gridCol>
                <a:gridCol w="849765">
                  <a:extLst>
                    <a:ext uri="{9D8B030D-6E8A-4147-A177-3AD203B41FA5}">
                      <a16:colId xmlns:a16="http://schemas.microsoft.com/office/drawing/2014/main" val="883981109"/>
                    </a:ext>
                  </a:extLst>
                </a:gridCol>
              </a:tblGrid>
              <a:tr h="101988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</a:t>
                      </a: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</a:t>
                      </a: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gender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occupation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screen</a:t>
                      </a: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hone</a:t>
                      </a: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before</a:t>
                      </a: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sleep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sleep</a:t>
                      </a: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duration</a:t>
                      </a: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leep</a:t>
                      </a: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quality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stress</a:t>
                      </a: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level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caffeine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activity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notifications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mental</a:t>
                      </a: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fatigue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74507"/>
                  </a:ext>
                </a:extLst>
              </a:tr>
              <a:tr h="86987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Designer</a:t>
                      </a:r>
                      <a:endParaRPr lang="ru-RU" sz="12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3.26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5.31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7.72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3.49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119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3.57</a:t>
                      </a:r>
                    </a:p>
                  </a:txBody>
                  <a:tcPr marL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605181"/>
                  </a:ext>
                </a:extLst>
              </a:tr>
              <a:tr h="86987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Engineer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7.50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6.80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2.15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8.20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8.90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665481"/>
                  </a:ext>
                </a:extLst>
              </a:tr>
              <a:tr h="86987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5.10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7.00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5.00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5.60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5.40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632463"/>
                  </a:ext>
                </a:extLst>
              </a:tr>
              <a:tr h="55803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363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351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B051B-7904-848E-B8A4-534BE6995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033576-C8E6-B85D-9E40-33316FD3C8DF}"/>
              </a:ext>
            </a:extLst>
          </p:cNvPr>
          <p:cNvSpPr/>
          <p:nvPr/>
        </p:nvSpPr>
        <p:spPr>
          <a:xfrm>
            <a:off x="-22769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32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13132AAB-7FDC-6648-FA70-53D1D11C7C5C}"/>
              </a:ext>
            </a:extLst>
          </p:cNvPr>
          <p:cNvGrpSpPr/>
          <p:nvPr/>
        </p:nvGrpSpPr>
        <p:grpSpPr>
          <a:xfrm>
            <a:off x="8379802" y="-1343198"/>
            <a:ext cx="4125183" cy="3903766"/>
            <a:chOff x="8597992" y="-1343198"/>
            <a:chExt cx="4125183" cy="3903766"/>
          </a:xfrm>
        </p:grpSpPr>
        <p:grpSp>
          <p:nvGrpSpPr>
            <p:cNvPr id="95" name="Группа 94">
              <a:extLst>
                <a:ext uri="{FF2B5EF4-FFF2-40B4-BE49-F238E27FC236}">
                  <a16:creationId xmlns:a16="http://schemas.microsoft.com/office/drawing/2014/main" id="{0CB5002B-1BCA-5EDC-F5D7-370AEE9912E1}"/>
                </a:ext>
              </a:extLst>
            </p:cNvPr>
            <p:cNvGrpSpPr/>
            <p:nvPr/>
          </p:nvGrpSpPr>
          <p:grpSpPr>
            <a:xfrm>
              <a:off x="8670670" y="-1343198"/>
              <a:ext cx="3903766" cy="3903766"/>
              <a:chOff x="8746731" y="-1343198"/>
              <a:chExt cx="3903766" cy="3903766"/>
            </a:xfrm>
          </p:grpSpPr>
          <p:grpSp>
            <p:nvGrpSpPr>
              <p:cNvPr id="63" name="Группа 62">
                <a:extLst>
                  <a:ext uri="{FF2B5EF4-FFF2-40B4-BE49-F238E27FC236}">
                    <a16:creationId xmlns:a16="http://schemas.microsoft.com/office/drawing/2014/main" id="{94BA2C9E-464A-E1D1-2DA9-EF4FE2408996}"/>
                  </a:ext>
                </a:extLst>
              </p:cNvPr>
              <p:cNvGrpSpPr/>
              <p:nvPr/>
            </p:nvGrpSpPr>
            <p:grpSpPr>
              <a:xfrm>
                <a:off x="8746731" y="-1343198"/>
                <a:ext cx="3903766" cy="3903766"/>
                <a:chOff x="152400" y="1057655"/>
                <a:chExt cx="3903766" cy="3903766"/>
              </a:xfrm>
            </p:grpSpPr>
            <p:sp>
              <p:nvSpPr>
                <p:cNvPr id="64" name="Полилиния: фигура 63">
                  <a:extLst>
                    <a:ext uri="{FF2B5EF4-FFF2-40B4-BE49-F238E27FC236}">
                      <a16:creationId xmlns:a16="http://schemas.microsoft.com/office/drawing/2014/main" id="{FF064AE3-704C-90F0-E126-909376871FBC}"/>
                    </a:ext>
                  </a:extLst>
                </p:cNvPr>
                <p:cNvSpPr/>
                <p:nvPr/>
              </p:nvSpPr>
              <p:spPr>
                <a:xfrm>
                  <a:off x="152400" y="1057655"/>
                  <a:ext cx="3903766" cy="3903766"/>
                </a:xfrm>
                <a:custGeom>
                  <a:avLst/>
                  <a:gdLst>
                    <a:gd name="csX0" fmla="*/ 2492829 w 4985658"/>
                    <a:gd name="csY0" fmla="*/ 1240972 h 4985658"/>
                    <a:gd name="csX1" fmla="*/ 1240972 w 4985658"/>
                    <a:gd name="csY1" fmla="*/ 2492829 h 4985658"/>
                    <a:gd name="csX2" fmla="*/ 2492829 w 4985658"/>
                    <a:gd name="csY2" fmla="*/ 3744686 h 4985658"/>
                    <a:gd name="csX3" fmla="*/ 3744686 w 4985658"/>
                    <a:gd name="csY3" fmla="*/ 2492829 h 4985658"/>
                    <a:gd name="csX4" fmla="*/ 2492829 w 4985658"/>
                    <a:gd name="csY4" fmla="*/ 1240972 h 4985658"/>
                    <a:gd name="csX5" fmla="*/ 2492829 w 4985658"/>
                    <a:gd name="csY5" fmla="*/ 0 h 4985658"/>
                    <a:gd name="csX6" fmla="*/ 4985658 w 4985658"/>
                    <a:gd name="csY6" fmla="*/ 2492829 h 4985658"/>
                    <a:gd name="csX7" fmla="*/ 2492829 w 4985658"/>
                    <a:gd name="csY7" fmla="*/ 4985658 h 4985658"/>
                    <a:gd name="csX8" fmla="*/ 0 w 4985658"/>
                    <a:gd name="csY8" fmla="*/ 2492829 h 4985658"/>
                    <a:gd name="csX9" fmla="*/ 2492829 w 4985658"/>
                    <a:gd name="csY9" fmla="*/ 0 h 4985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4985658" h="4985658">
                      <a:moveTo>
                        <a:pt x="2492829" y="1240972"/>
                      </a:moveTo>
                      <a:cubicBezTo>
                        <a:pt x="1801447" y="1240972"/>
                        <a:pt x="1240972" y="1801447"/>
                        <a:pt x="1240972" y="2492829"/>
                      </a:cubicBezTo>
                      <a:cubicBezTo>
                        <a:pt x="1240972" y="3184211"/>
                        <a:pt x="1801447" y="3744686"/>
                        <a:pt x="2492829" y="3744686"/>
                      </a:cubicBezTo>
                      <a:cubicBezTo>
                        <a:pt x="3184211" y="3744686"/>
                        <a:pt x="3744686" y="3184211"/>
                        <a:pt x="3744686" y="2492829"/>
                      </a:cubicBezTo>
                      <a:cubicBezTo>
                        <a:pt x="3744686" y="1801447"/>
                        <a:pt x="3184211" y="1240972"/>
                        <a:pt x="2492829" y="1240972"/>
                      </a:cubicBezTo>
                      <a:close/>
                      <a:moveTo>
                        <a:pt x="2492829" y="0"/>
                      </a:moveTo>
                      <a:cubicBezTo>
                        <a:pt x="3869580" y="0"/>
                        <a:pt x="4985658" y="1116078"/>
                        <a:pt x="4985658" y="2492829"/>
                      </a:cubicBezTo>
                      <a:cubicBezTo>
                        <a:pt x="4985658" y="3869580"/>
                        <a:pt x="3869580" y="4985658"/>
                        <a:pt x="2492829" y="4985658"/>
                      </a:cubicBezTo>
                      <a:cubicBezTo>
                        <a:pt x="1116078" y="4985658"/>
                        <a:pt x="0" y="3869580"/>
                        <a:pt x="0" y="2492829"/>
                      </a:cubicBezTo>
                      <a:cubicBezTo>
                        <a:pt x="0" y="1116078"/>
                        <a:pt x="1116078" y="0"/>
                        <a:pt x="2492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75000">
                      <a:srgbClr val="122639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44000">
                      <a:schemeClr val="tx2">
                        <a:lumMod val="90000"/>
                        <a:lumOff val="10000"/>
                      </a:schemeClr>
                    </a:gs>
                  </a:gsLst>
                  <a:lin ang="12600000" scaled="0"/>
                </a:gra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ru-RU" dirty="0"/>
                </a:p>
              </p:txBody>
            </p:sp>
            <p:grpSp>
              <p:nvGrpSpPr>
                <p:cNvPr id="65" name="Группа 64">
                  <a:extLst>
                    <a:ext uri="{FF2B5EF4-FFF2-40B4-BE49-F238E27FC236}">
                      <a16:creationId xmlns:a16="http://schemas.microsoft.com/office/drawing/2014/main" id="{4F68D035-CAA6-2B3D-36C1-3EF5EED3BAC7}"/>
                    </a:ext>
                  </a:extLst>
                </p:cNvPr>
                <p:cNvGrpSpPr/>
                <p:nvPr/>
              </p:nvGrpSpPr>
              <p:grpSpPr>
                <a:xfrm>
                  <a:off x="3084486" y="2719153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9" name="Прямая соединительная линия 68">
                    <a:extLst>
                      <a:ext uri="{FF2B5EF4-FFF2-40B4-BE49-F238E27FC236}">
                        <a16:creationId xmlns:a16="http://schemas.microsoft.com/office/drawing/2014/main" id="{9080DD78-4321-D77C-11AD-B5B48DBD38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Прямая соединительная линия 69">
                    <a:extLst>
                      <a:ext uri="{FF2B5EF4-FFF2-40B4-BE49-F238E27FC236}">
                        <a16:creationId xmlns:a16="http://schemas.microsoft.com/office/drawing/2014/main" id="{1490E25F-2A04-E0C2-7368-50DC2B7B69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6" name="Группа 65">
                  <a:extLst>
                    <a:ext uri="{FF2B5EF4-FFF2-40B4-BE49-F238E27FC236}">
                      <a16:creationId xmlns:a16="http://schemas.microsoft.com/office/drawing/2014/main" id="{698E65FD-3C68-5B89-C22A-A1BDD8ABAB3D}"/>
                    </a:ext>
                  </a:extLst>
                </p:cNvPr>
                <p:cNvGrpSpPr/>
                <p:nvPr/>
              </p:nvGrpSpPr>
              <p:grpSpPr>
                <a:xfrm rot="10800000">
                  <a:off x="152400" y="3035177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7" name="Прямая соединительная линия 66">
                    <a:extLst>
                      <a:ext uri="{FF2B5EF4-FFF2-40B4-BE49-F238E27FC236}">
                        <a16:creationId xmlns:a16="http://schemas.microsoft.com/office/drawing/2014/main" id="{8E5D6DD4-22BA-F53C-9918-50477B1E20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Прямая соединительная линия 67">
                    <a:extLst>
                      <a:ext uri="{FF2B5EF4-FFF2-40B4-BE49-F238E27FC236}">
                        <a16:creationId xmlns:a16="http://schemas.microsoft.com/office/drawing/2014/main" id="{DE8E8508-5A13-FF83-B357-2127054804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F190613-896E-F85D-DBD3-27C62F16E8F8}"/>
                  </a:ext>
                </a:extLst>
              </p:cNvPr>
              <p:cNvSpPr txBox="1"/>
              <p:nvPr/>
            </p:nvSpPr>
            <p:spPr>
              <a:xfrm>
                <a:off x="9256187" y="1628588"/>
                <a:ext cx="29609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3. Проверка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на диапазоны 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значений</a:t>
                </a:r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BDE2D41-99FA-3148-77B3-008790E7C092}"/>
                </a:ext>
              </a:extLst>
            </p:cNvPr>
            <p:cNvSpPr txBox="1"/>
            <p:nvPr/>
          </p:nvSpPr>
          <p:spPr>
            <a:xfrm rot="10800000">
              <a:off x="8597992" y="-1050811"/>
              <a:ext cx="412518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Шаг 6. Кодирование </a:t>
              </a:r>
            </a:p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категор. атрибутов</a:t>
              </a:r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2B2DE113-4176-EF28-58EA-0B82817DBA06}"/>
              </a:ext>
            </a:extLst>
          </p:cNvPr>
          <p:cNvGrpSpPr/>
          <p:nvPr/>
        </p:nvGrpSpPr>
        <p:grpSpPr>
          <a:xfrm>
            <a:off x="4809846" y="-1343198"/>
            <a:ext cx="3922816" cy="3903766"/>
            <a:chOff x="5028036" y="-1343198"/>
            <a:chExt cx="3922816" cy="3903766"/>
          </a:xfrm>
        </p:grpSpPr>
        <p:grpSp>
          <p:nvGrpSpPr>
            <p:cNvPr id="89" name="Группа 88">
              <a:extLst>
                <a:ext uri="{FF2B5EF4-FFF2-40B4-BE49-F238E27FC236}">
                  <a16:creationId xmlns:a16="http://schemas.microsoft.com/office/drawing/2014/main" id="{A5FC6953-035F-4AE6-324B-6BE48378B4F1}"/>
                </a:ext>
              </a:extLst>
            </p:cNvPr>
            <p:cNvGrpSpPr/>
            <p:nvPr/>
          </p:nvGrpSpPr>
          <p:grpSpPr>
            <a:xfrm>
              <a:off x="5047086" y="-1343198"/>
              <a:ext cx="3903766" cy="3903766"/>
              <a:chOff x="5013346" y="-1343198"/>
              <a:chExt cx="3903766" cy="3903766"/>
            </a:xfrm>
          </p:grpSpPr>
          <p:grpSp>
            <p:nvGrpSpPr>
              <p:cNvPr id="55" name="Группа 54">
                <a:extLst>
                  <a:ext uri="{FF2B5EF4-FFF2-40B4-BE49-F238E27FC236}">
                    <a16:creationId xmlns:a16="http://schemas.microsoft.com/office/drawing/2014/main" id="{FB6FC887-A246-3A84-0E97-42136DFE15CE}"/>
                  </a:ext>
                </a:extLst>
              </p:cNvPr>
              <p:cNvGrpSpPr/>
              <p:nvPr/>
            </p:nvGrpSpPr>
            <p:grpSpPr>
              <a:xfrm>
                <a:off x="5013346" y="-1343198"/>
                <a:ext cx="3903766" cy="3903766"/>
                <a:chOff x="152400" y="1057655"/>
                <a:chExt cx="3903766" cy="3903766"/>
              </a:xfrm>
            </p:grpSpPr>
            <p:sp>
              <p:nvSpPr>
                <p:cNvPr id="56" name="Полилиния: фигура 55">
                  <a:extLst>
                    <a:ext uri="{FF2B5EF4-FFF2-40B4-BE49-F238E27FC236}">
                      <a16:creationId xmlns:a16="http://schemas.microsoft.com/office/drawing/2014/main" id="{4CF73232-4184-7C1B-5746-985B025F4AC2}"/>
                    </a:ext>
                  </a:extLst>
                </p:cNvPr>
                <p:cNvSpPr/>
                <p:nvPr/>
              </p:nvSpPr>
              <p:spPr>
                <a:xfrm>
                  <a:off x="152400" y="1057655"/>
                  <a:ext cx="3903766" cy="3903766"/>
                </a:xfrm>
                <a:custGeom>
                  <a:avLst/>
                  <a:gdLst>
                    <a:gd name="csX0" fmla="*/ 2492829 w 4985658"/>
                    <a:gd name="csY0" fmla="*/ 1240972 h 4985658"/>
                    <a:gd name="csX1" fmla="*/ 1240972 w 4985658"/>
                    <a:gd name="csY1" fmla="*/ 2492829 h 4985658"/>
                    <a:gd name="csX2" fmla="*/ 2492829 w 4985658"/>
                    <a:gd name="csY2" fmla="*/ 3744686 h 4985658"/>
                    <a:gd name="csX3" fmla="*/ 3744686 w 4985658"/>
                    <a:gd name="csY3" fmla="*/ 2492829 h 4985658"/>
                    <a:gd name="csX4" fmla="*/ 2492829 w 4985658"/>
                    <a:gd name="csY4" fmla="*/ 1240972 h 4985658"/>
                    <a:gd name="csX5" fmla="*/ 2492829 w 4985658"/>
                    <a:gd name="csY5" fmla="*/ 0 h 4985658"/>
                    <a:gd name="csX6" fmla="*/ 4985658 w 4985658"/>
                    <a:gd name="csY6" fmla="*/ 2492829 h 4985658"/>
                    <a:gd name="csX7" fmla="*/ 2492829 w 4985658"/>
                    <a:gd name="csY7" fmla="*/ 4985658 h 4985658"/>
                    <a:gd name="csX8" fmla="*/ 0 w 4985658"/>
                    <a:gd name="csY8" fmla="*/ 2492829 h 4985658"/>
                    <a:gd name="csX9" fmla="*/ 2492829 w 4985658"/>
                    <a:gd name="csY9" fmla="*/ 0 h 4985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4985658" h="4985658">
                      <a:moveTo>
                        <a:pt x="2492829" y="1240972"/>
                      </a:moveTo>
                      <a:cubicBezTo>
                        <a:pt x="1801447" y="1240972"/>
                        <a:pt x="1240972" y="1801447"/>
                        <a:pt x="1240972" y="2492829"/>
                      </a:cubicBezTo>
                      <a:cubicBezTo>
                        <a:pt x="1240972" y="3184211"/>
                        <a:pt x="1801447" y="3744686"/>
                        <a:pt x="2492829" y="3744686"/>
                      </a:cubicBezTo>
                      <a:cubicBezTo>
                        <a:pt x="3184211" y="3744686"/>
                        <a:pt x="3744686" y="3184211"/>
                        <a:pt x="3744686" y="2492829"/>
                      </a:cubicBezTo>
                      <a:cubicBezTo>
                        <a:pt x="3744686" y="1801447"/>
                        <a:pt x="3184211" y="1240972"/>
                        <a:pt x="2492829" y="1240972"/>
                      </a:cubicBezTo>
                      <a:close/>
                      <a:moveTo>
                        <a:pt x="2492829" y="0"/>
                      </a:moveTo>
                      <a:cubicBezTo>
                        <a:pt x="3869580" y="0"/>
                        <a:pt x="4985658" y="1116078"/>
                        <a:pt x="4985658" y="2492829"/>
                      </a:cubicBezTo>
                      <a:cubicBezTo>
                        <a:pt x="4985658" y="3869580"/>
                        <a:pt x="3869580" y="4985658"/>
                        <a:pt x="2492829" y="4985658"/>
                      </a:cubicBezTo>
                      <a:cubicBezTo>
                        <a:pt x="1116078" y="4985658"/>
                        <a:pt x="0" y="3869580"/>
                        <a:pt x="0" y="2492829"/>
                      </a:cubicBezTo>
                      <a:cubicBezTo>
                        <a:pt x="0" y="1116078"/>
                        <a:pt x="1116078" y="0"/>
                        <a:pt x="2492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75000">
                      <a:srgbClr val="122639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44000">
                      <a:schemeClr val="tx2">
                        <a:lumMod val="90000"/>
                        <a:lumOff val="10000"/>
                      </a:schemeClr>
                    </a:gs>
                  </a:gsLst>
                  <a:lin ang="12600000" scaled="0"/>
                </a:gra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ru-RU" dirty="0"/>
                </a:p>
              </p:txBody>
            </p:sp>
            <p:grpSp>
              <p:nvGrpSpPr>
                <p:cNvPr id="57" name="Группа 56">
                  <a:extLst>
                    <a:ext uri="{FF2B5EF4-FFF2-40B4-BE49-F238E27FC236}">
                      <a16:creationId xmlns:a16="http://schemas.microsoft.com/office/drawing/2014/main" id="{0630B67E-78F4-331F-F7F5-3D136EA73814}"/>
                    </a:ext>
                  </a:extLst>
                </p:cNvPr>
                <p:cNvGrpSpPr/>
                <p:nvPr/>
              </p:nvGrpSpPr>
              <p:grpSpPr>
                <a:xfrm>
                  <a:off x="3084486" y="2719153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1" name="Прямая соединительная линия 60">
                    <a:extLst>
                      <a:ext uri="{FF2B5EF4-FFF2-40B4-BE49-F238E27FC236}">
                        <a16:creationId xmlns:a16="http://schemas.microsoft.com/office/drawing/2014/main" id="{5B2D1B97-355F-D02A-7956-F3CFAC11DE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Прямая соединительная линия 61">
                    <a:extLst>
                      <a:ext uri="{FF2B5EF4-FFF2-40B4-BE49-F238E27FC236}">
                        <a16:creationId xmlns:a16="http://schemas.microsoft.com/office/drawing/2014/main" id="{7ED1BB1C-0C37-AAF6-C3DD-2E9A5B2992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" name="Группа 57">
                  <a:extLst>
                    <a:ext uri="{FF2B5EF4-FFF2-40B4-BE49-F238E27FC236}">
                      <a16:creationId xmlns:a16="http://schemas.microsoft.com/office/drawing/2014/main" id="{E1365FF9-5842-0CF9-7381-D15DEC186025}"/>
                    </a:ext>
                  </a:extLst>
                </p:cNvPr>
                <p:cNvGrpSpPr/>
                <p:nvPr/>
              </p:nvGrpSpPr>
              <p:grpSpPr>
                <a:xfrm rot="10800000">
                  <a:off x="152400" y="3035177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59" name="Прямая соединительная линия 58">
                    <a:extLst>
                      <a:ext uri="{FF2B5EF4-FFF2-40B4-BE49-F238E27FC236}">
                        <a16:creationId xmlns:a16="http://schemas.microsoft.com/office/drawing/2014/main" id="{D6776D5F-9D4A-B61E-5AAD-C44955BFEE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Прямая соединительная линия 59">
                    <a:extLst>
                      <a:ext uri="{FF2B5EF4-FFF2-40B4-BE49-F238E27FC236}">
                        <a16:creationId xmlns:a16="http://schemas.microsoft.com/office/drawing/2014/main" id="{90D89D03-B1DE-1ACF-C7E7-ED8C375EC4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DE55CB7-59B4-600D-0ECF-D61621CCB364}"/>
                  </a:ext>
                </a:extLst>
              </p:cNvPr>
              <p:cNvSpPr txBox="1"/>
              <p:nvPr/>
            </p:nvSpPr>
            <p:spPr>
              <a:xfrm>
                <a:off x="5013346" y="1623950"/>
                <a:ext cx="390376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2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Корреляционный 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анализ</a:t>
                </a: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54F7E8E-48FB-128B-8A05-24BF2EB091FF}"/>
                </a:ext>
              </a:extLst>
            </p:cNvPr>
            <p:cNvSpPr txBox="1"/>
            <p:nvPr/>
          </p:nvSpPr>
          <p:spPr>
            <a:xfrm rot="10800000">
              <a:off x="5028036" y="-1025829"/>
              <a:ext cx="390376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Шаг 5. Распределения </a:t>
              </a:r>
            </a:p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категор. атрибутов </a:t>
              </a:r>
            </a:p>
          </p:txBody>
        </p:sp>
      </p:grp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0B2416FF-70B8-3C77-F9CE-AAC6DCC2A005}"/>
              </a:ext>
            </a:extLst>
          </p:cNvPr>
          <p:cNvGrpSpPr/>
          <p:nvPr/>
        </p:nvGrpSpPr>
        <p:grpSpPr>
          <a:xfrm>
            <a:off x="1150960" y="-1343198"/>
            <a:ext cx="3903766" cy="3903766"/>
            <a:chOff x="1208423" y="-1343198"/>
            <a:chExt cx="3903766" cy="3903766"/>
          </a:xfrm>
        </p:grpSpPr>
        <p:grpSp>
          <p:nvGrpSpPr>
            <p:cNvPr id="54" name="Группа 53">
              <a:extLst>
                <a:ext uri="{FF2B5EF4-FFF2-40B4-BE49-F238E27FC236}">
                  <a16:creationId xmlns:a16="http://schemas.microsoft.com/office/drawing/2014/main" id="{CEF8457B-5AB3-2D10-16C9-35A2E9A79DBC}"/>
                </a:ext>
              </a:extLst>
            </p:cNvPr>
            <p:cNvGrpSpPr/>
            <p:nvPr/>
          </p:nvGrpSpPr>
          <p:grpSpPr>
            <a:xfrm>
              <a:off x="1208423" y="-1343198"/>
              <a:ext cx="3903766" cy="3903766"/>
              <a:chOff x="152400" y="1057655"/>
              <a:chExt cx="3903766" cy="3903766"/>
            </a:xfrm>
          </p:grpSpPr>
          <p:sp>
            <p:nvSpPr>
              <p:cNvPr id="9" name="Полилиния: фигура 8">
                <a:extLst>
                  <a:ext uri="{FF2B5EF4-FFF2-40B4-BE49-F238E27FC236}">
                    <a16:creationId xmlns:a16="http://schemas.microsoft.com/office/drawing/2014/main" id="{541972C5-A7F9-61E0-FE86-F2F12953E133}"/>
                  </a:ext>
                </a:extLst>
              </p:cNvPr>
              <p:cNvSpPr/>
              <p:nvPr/>
            </p:nvSpPr>
            <p:spPr>
              <a:xfrm>
                <a:off x="152400" y="1057655"/>
                <a:ext cx="3903766" cy="3903766"/>
              </a:xfrm>
              <a:custGeom>
                <a:avLst/>
                <a:gdLst>
                  <a:gd name="csX0" fmla="*/ 2492829 w 4985658"/>
                  <a:gd name="csY0" fmla="*/ 1240972 h 4985658"/>
                  <a:gd name="csX1" fmla="*/ 1240972 w 4985658"/>
                  <a:gd name="csY1" fmla="*/ 2492829 h 4985658"/>
                  <a:gd name="csX2" fmla="*/ 2492829 w 4985658"/>
                  <a:gd name="csY2" fmla="*/ 3744686 h 4985658"/>
                  <a:gd name="csX3" fmla="*/ 3744686 w 4985658"/>
                  <a:gd name="csY3" fmla="*/ 2492829 h 4985658"/>
                  <a:gd name="csX4" fmla="*/ 2492829 w 4985658"/>
                  <a:gd name="csY4" fmla="*/ 1240972 h 4985658"/>
                  <a:gd name="csX5" fmla="*/ 2492829 w 4985658"/>
                  <a:gd name="csY5" fmla="*/ 0 h 4985658"/>
                  <a:gd name="csX6" fmla="*/ 4985658 w 4985658"/>
                  <a:gd name="csY6" fmla="*/ 2492829 h 4985658"/>
                  <a:gd name="csX7" fmla="*/ 2492829 w 4985658"/>
                  <a:gd name="csY7" fmla="*/ 4985658 h 4985658"/>
                  <a:gd name="csX8" fmla="*/ 0 w 4985658"/>
                  <a:gd name="csY8" fmla="*/ 2492829 h 4985658"/>
                  <a:gd name="csX9" fmla="*/ 2492829 w 4985658"/>
                  <a:gd name="csY9" fmla="*/ 0 h 4985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4985658" h="4985658">
                    <a:moveTo>
                      <a:pt x="2492829" y="1240972"/>
                    </a:moveTo>
                    <a:cubicBezTo>
                      <a:pt x="1801447" y="1240972"/>
                      <a:pt x="1240972" y="1801447"/>
                      <a:pt x="1240972" y="2492829"/>
                    </a:cubicBezTo>
                    <a:cubicBezTo>
                      <a:pt x="1240972" y="3184211"/>
                      <a:pt x="1801447" y="3744686"/>
                      <a:pt x="2492829" y="3744686"/>
                    </a:cubicBezTo>
                    <a:cubicBezTo>
                      <a:pt x="3184211" y="3744686"/>
                      <a:pt x="3744686" y="3184211"/>
                      <a:pt x="3744686" y="2492829"/>
                    </a:cubicBezTo>
                    <a:cubicBezTo>
                      <a:pt x="3744686" y="1801447"/>
                      <a:pt x="3184211" y="1240972"/>
                      <a:pt x="2492829" y="1240972"/>
                    </a:cubicBezTo>
                    <a:close/>
                    <a:moveTo>
                      <a:pt x="2492829" y="0"/>
                    </a:moveTo>
                    <a:cubicBezTo>
                      <a:pt x="3869580" y="0"/>
                      <a:pt x="4985658" y="1116078"/>
                      <a:pt x="4985658" y="2492829"/>
                    </a:cubicBezTo>
                    <a:cubicBezTo>
                      <a:pt x="4985658" y="3869580"/>
                      <a:pt x="3869580" y="4985658"/>
                      <a:pt x="2492829" y="4985658"/>
                    </a:cubicBezTo>
                    <a:cubicBezTo>
                      <a:pt x="1116078" y="4985658"/>
                      <a:pt x="0" y="3869580"/>
                      <a:pt x="0" y="2492829"/>
                    </a:cubicBezTo>
                    <a:cubicBezTo>
                      <a:pt x="0" y="1116078"/>
                      <a:pt x="1116078" y="0"/>
                      <a:pt x="24928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75000">
                    <a:srgbClr val="122639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  <a:gs pos="44000">
                    <a:schemeClr val="tx2">
                      <a:lumMod val="90000"/>
                      <a:lumOff val="10000"/>
                    </a:schemeClr>
                  </a:gs>
                </a:gsLst>
                <a:lin ang="12600000" scaled="0"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 dirty="0"/>
              </a:p>
            </p:txBody>
          </p:sp>
          <p:grpSp>
            <p:nvGrpSpPr>
              <p:cNvPr id="50" name="Группа 49">
                <a:extLst>
                  <a:ext uri="{FF2B5EF4-FFF2-40B4-BE49-F238E27FC236}">
                    <a16:creationId xmlns:a16="http://schemas.microsoft.com/office/drawing/2014/main" id="{F27818A6-A26E-8255-B649-D06153D89CBD}"/>
                  </a:ext>
                </a:extLst>
              </p:cNvPr>
              <p:cNvGrpSpPr/>
              <p:nvPr/>
            </p:nvGrpSpPr>
            <p:grpSpPr>
              <a:xfrm>
                <a:off x="3084486" y="2719153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15" name="Прямая соединительная линия 14">
                  <a:extLst>
                    <a:ext uri="{FF2B5EF4-FFF2-40B4-BE49-F238E27FC236}">
                      <a16:creationId xmlns:a16="http://schemas.microsoft.com/office/drawing/2014/main" id="{4F561166-E8D0-B188-6BC4-1C9C9F8C0E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Прямая соединительная линия 16">
                  <a:extLst>
                    <a:ext uri="{FF2B5EF4-FFF2-40B4-BE49-F238E27FC236}">
                      <a16:creationId xmlns:a16="http://schemas.microsoft.com/office/drawing/2014/main" id="{B1FFA3E6-84F5-6593-E42D-A296325179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Группа 50">
                <a:extLst>
                  <a:ext uri="{FF2B5EF4-FFF2-40B4-BE49-F238E27FC236}">
                    <a16:creationId xmlns:a16="http://schemas.microsoft.com/office/drawing/2014/main" id="{2F7153F3-6318-909C-B8ED-A4F5A56348B1}"/>
                  </a:ext>
                </a:extLst>
              </p:cNvPr>
              <p:cNvGrpSpPr/>
              <p:nvPr/>
            </p:nvGrpSpPr>
            <p:grpSpPr>
              <a:xfrm rot="10800000">
                <a:off x="152400" y="3035177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52" name="Прямая соединительная линия 51">
                  <a:extLst>
                    <a:ext uri="{FF2B5EF4-FFF2-40B4-BE49-F238E27FC236}">
                      <a16:creationId xmlns:a16="http://schemas.microsoft.com/office/drawing/2014/main" id="{FEBF21B7-87E7-97B7-8147-A1B3CD97F4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Прямая соединительная линия 52">
                  <a:extLst>
                    <a:ext uri="{FF2B5EF4-FFF2-40B4-BE49-F238E27FC236}">
                      <a16:creationId xmlns:a16="http://schemas.microsoft.com/office/drawing/2014/main" id="{75E4BB71-E799-A94D-5D52-A82A7575A1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5" name="Группа 84">
              <a:extLst>
                <a:ext uri="{FF2B5EF4-FFF2-40B4-BE49-F238E27FC236}">
                  <a16:creationId xmlns:a16="http://schemas.microsoft.com/office/drawing/2014/main" id="{9442E7E5-D3A8-5400-3E7C-40321074B8A7}"/>
                </a:ext>
              </a:extLst>
            </p:cNvPr>
            <p:cNvGrpSpPr/>
            <p:nvPr/>
          </p:nvGrpSpPr>
          <p:grpSpPr>
            <a:xfrm rot="10800000">
              <a:off x="1757182" y="-1002650"/>
              <a:ext cx="2806248" cy="3224868"/>
              <a:chOff x="1757182" y="-971872"/>
              <a:chExt cx="2806248" cy="3224868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1C7BE51-FDB6-4291-9250-372B51F3C308}"/>
                  </a:ext>
                </a:extLst>
              </p:cNvPr>
              <p:cNvSpPr txBox="1"/>
              <p:nvPr/>
            </p:nvSpPr>
            <p:spPr>
              <a:xfrm rot="10800000">
                <a:off x="1889778" y="-971872"/>
                <a:ext cx="254105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1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Качество данных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1E79584-717E-F56F-1390-3051E6D19F96}"/>
                  </a:ext>
                </a:extLst>
              </p:cNvPr>
              <p:cNvSpPr txBox="1"/>
              <p:nvPr/>
            </p:nvSpPr>
            <p:spPr>
              <a:xfrm>
                <a:off x="1757182" y="1668221"/>
                <a:ext cx="280624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4. Распределения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числовых атрибутов</a:t>
                </a:r>
              </a:p>
            </p:txBody>
          </p:sp>
        </p:grp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EF8591C-7D0D-224F-F91F-1E961117BDFC}"/>
              </a:ext>
            </a:extLst>
          </p:cNvPr>
          <p:cNvSpPr/>
          <p:nvPr/>
        </p:nvSpPr>
        <p:spPr>
          <a:xfrm>
            <a:off x="-246746" y="-220648"/>
            <a:ext cx="12685487" cy="131284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44000">
                <a:schemeClr val="tx2">
                  <a:lumMod val="90000"/>
                  <a:lumOff val="10000"/>
                </a:schemeClr>
              </a:gs>
            </a:gsLst>
            <a:lin ang="126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500865-2FF3-09FF-4C76-D60CCCE702BF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Табличные данные: анализ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1C82F713-7E84-9A0D-FDF3-10E8D6FB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6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20D4D2-5063-51E5-35F9-772B9A938C9B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D228E16B-E6CF-49CC-EEDB-50F6BA16A486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793772B4-2630-BEA0-7B7E-60FF4FDADC4E}"/>
              </a:ext>
            </a:extLst>
          </p:cNvPr>
          <p:cNvCxnSpPr>
            <a:cxnSpLocks/>
          </p:cNvCxnSpPr>
          <p:nvPr/>
        </p:nvCxnSpPr>
        <p:spPr>
          <a:xfrm flipH="1">
            <a:off x="-495312" y="2705100"/>
            <a:ext cx="13163562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0334041E-2E47-0C64-4403-45D9FF521C7E}"/>
              </a:ext>
            </a:extLst>
          </p:cNvPr>
          <p:cNvGrpSpPr/>
          <p:nvPr/>
        </p:nvGrpSpPr>
        <p:grpSpPr>
          <a:xfrm>
            <a:off x="-495312" y="2705100"/>
            <a:ext cx="13163562" cy="3607987"/>
            <a:chOff x="-495312" y="2705100"/>
            <a:chExt cx="13163562" cy="3607987"/>
          </a:xfrm>
        </p:grpSpPr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FF44F429-82E8-6408-448C-925568E95698}"/>
                </a:ext>
              </a:extLst>
            </p:cNvPr>
            <p:cNvCxnSpPr>
              <a:cxnSpLocks/>
            </p:cNvCxnSpPr>
            <p:nvPr/>
          </p:nvCxnSpPr>
          <p:spPr>
            <a:xfrm>
              <a:off x="1226176" y="2705100"/>
              <a:ext cx="0" cy="343445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F61BEA13-260F-35DC-AD14-B1A7CE326D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5312" y="4670426"/>
              <a:ext cx="13163562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17BC482-5520-55C5-E2D0-F7578AB2E3C0}"/>
                </a:ext>
              </a:extLst>
            </p:cNvPr>
            <p:cNvSpPr txBox="1"/>
            <p:nvPr/>
          </p:nvSpPr>
          <p:spPr>
            <a:xfrm rot="3847950">
              <a:off x="-121036" y="3625376"/>
              <a:ext cx="1597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Результаты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E201F20-523C-4470-4C15-BE9738276D96}"/>
                </a:ext>
              </a:extLst>
            </p:cNvPr>
            <p:cNvSpPr txBox="1"/>
            <p:nvPr/>
          </p:nvSpPr>
          <p:spPr>
            <a:xfrm rot="3847950">
              <a:off x="-49012" y="5368638"/>
              <a:ext cx="15195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Действия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F94A634-6078-8739-56CE-F60B84A3C6DE}"/>
                </a:ext>
              </a:extLst>
            </p:cNvPr>
            <p:cNvSpPr txBox="1"/>
            <p:nvPr/>
          </p:nvSpPr>
          <p:spPr>
            <a:xfrm>
              <a:off x="1396280" y="2738923"/>
              <a:ext cx="3098519" cy="1434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Отсутствие п</a:t>
              </a: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ропусков и дубликатов;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Выбросы только в признаке качество сна (9 шт., 0.06%).</a:t>
              </a:r>
              <a:endParaRPr lang="ru-RU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466787DB-CE39-505C-2544-7E645FBB72C0}"/>
                </a:ext>
              </a:extLst>
            </p:cNvPr>
            <p:cNvSpPr txBox="1"/>
            <p:nvPr/>
          </p:nvSpPr>
          <p:spPr>
            <a:xfrm>
              <a:off x="4564085" y="2743199"/>
              <a:ext cx="4278218" cy="17808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Сильные: стресс и умственная усталость (+0.95), стресс и качество сна (-0.86), Стресс и экранное время: (+0.88);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 err="1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Мультиколлинеарности</a:t>
              </a: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входных признаков нет (&lt; 0.75).</a:t>
              </a:r>
              <a:endParaRPr lang="ru-RU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8291DB68-CFB5-0FA1-E4FC-29EE08E89111}"/>
                </a:ext>
              </a:extLst>
            </p:cNvPr>
            <p:cNvSpPr txBox="1"/>
            <p:nvPr/>
          </p:nvSpPr>
          <p:spPr>
            <a:xfrm>
              <a:off x="8586491" y="2743199"/>
              <a:ext cx="3442447" cy="17808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>
                <a:lnSpc>
                  <a:spcPct val="150000"/>
                </a:lnSpc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Значительное различие в </a:t>
              </a:r>
            </a:p>
            <a:p>
              <a:pPr marL="285750">
                <a:lnSpc>
                  <a:spcPct val="150000"/>
                </a:lnSpc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масштабах признаков:</a:t>
              </a:r>
            </a:p>
            <a:p>
              <a:pPr marL="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en-CA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CA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CA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≤ </a:t>
              </a:r>
              <a:r>
                <a:rPr lang="ru-RU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возраст</a:t>
              </a:r>
              <a:r>
                <a:rPr lang="en-CA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≤ </a:t>
              </a:r>
              <a:r>
                <a:rPr lang="en-CA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59;</a:t>
              </a:r>
              <a:endParaRPr lang="ru-RU" sz="15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en-CA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0 ≤ </a:t>
              </a:r>
              <a:r>
                <a:rPr lang="ru-RU" sz="1500" b="0" i="0" dirty="0" err="1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чашки_кофе</a:t>
              </a: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CA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≤</a:t>
              </a:r>
              <a:r>
                <a:rPr lang="ru-RU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4;</a:t>
              </a:r>
              <a:endParaRPr lang="ru-RU" sz="15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20 </a:t>
              </a:r>
              <a:r>
                <a:rPr lang="en-CA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≤</a:t>
              </a:r>
              <a:r>
                <a:rPr lang="ru-RU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уведомления </a:t>
              </a:r>
              <a:r>
                <a:rPr lang="en-CA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≤ </a:t>
              </a:r>
              <a:r>
                <a:rPr lang="ru-RU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299.</a:t>
              </a:r>
              <a:endParaRPr lang="ru-RU" sz="15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C164128F-D0F6-4155-2A37-B4642C0B867F}"/>
                </a:ext>
              </a:extLst>
            </p:cNvPr>
            <p:cNvSpPr txBox="1"/>
            <p:nvPr/>
          </p:nvSpPr>
          <p:spPr>
            <a:xfrm>
              <a:off x="1406586" y="4788442"/>
              <a:ext cx="2977089" cy="6987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Оставить выбросы как экстремальные случаи</a:t>
              </a:r>
              <a:endParaRPr lang="ru-RU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0F9DB9E-98CB-1A93-42EA-2FABFB6B61F4}"/>
                </a:ext>
              </a:extLst>
            </p:cNvPr>
            <p:cNvSpPr txBox="1"/>
            <p:nvPr/>
          </p:nvSpPr>
          <p:spPr>
            <a:xfrm>
              <a:off x="4564086" y="4848782"/>
              <a:ext cx="3549400" cy="7420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Использовать все признаки для</a:t>
              </a:r>
            </a:p>
            <a:p>
              <a:pPr>
                <a:lnSpc>
                  <a:spcPct val="150000"/>
                </a:lnSpc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построения ИИ-модели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3D88ABD5-10DF-CB2C-0B91-4C8E01ADF079}"/>
                </a:ext>
              </a:extLst>
            </p:cNvPr>
            <p:cNvSpPr txBox="1"/>
            <p:nvPr/>
          </p:nvSpPr>
          <p:spPr>
            <a:xfrm>
              <a:off x="8876295" y="4789078"/>
              <a:ext cx="2989310" cy="1088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Применить </a:t>
              </a:r>
              <a:r>
                <a:rPr lang="ru-RU" sz="15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StandardScaler</a:t>
              </a:r>
              <a:r>
                <a:rPr lang="ru-RU" sz="1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для приведения всех числовых признаков к единому масштабу</a:t>
              </a:r>
            </a:p>
          </p:txBody>
        </p:sp>
      </p:grp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15AF9514-5A42-5ACD-242A-D5394C9BC005}"/>
              </a:ext>
            </a:extLst>
          </p:cNvPr>
          <p:cNvGrpSpPr/>
          <p:nvPr/>
        </p:nvGrpSpPr>
        <p:grpSpPr>
          <a:xfrm>
            <a:off x="-13320841" y="2705100"/>
            <a:ext cx="13163562" cy="3607987"/>
            <a:chOff x="12275671" y="2705100"/>
            <a:chExt cx="13163562" cy="3607987"/>
          </a:xfrm>
        </p:grpSpPr>
        <p:cxnSp>
          <p:nvCxnSpPr>
            <p:cNvPr id="111" name="Прямая соединительная линия 110">
              <a:extLst>
                <a:ext uri="{FF2B5EF4-FFF2-40B4-BE49-F238E27FC236}">
                  <a16:creationId xmlns:a16="http://schemas.microsoft.com/office/drawing/2014/main" id="{89E56FB7-E1C5-2185-C6CE-53BA9777D7A1}"/>
                </a:ext>
              </a:extLst>
            </p:cNvPr>
            <p:cNvCxnSpPr>
              <a:cxnSpLocks/>
            </p:cNvCxnSpPr>
            <p:nvPr/>
          </p:nvCxnSpPr>
          <p:spPr>
            <a:xfrm>
              <a:off x="13997159" y="2705100"/>
              <a:ext cx="0" cy="343445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Группа 120">
              <a:extLst>
                <a:ext uri="{FF2B5EF4-FFF2-40B4-BE49-F238E27FC236}">
                  <a16:creationId xmlns:a16="http://schemas.microsoft.com/office/drawing/2014/main" id="{2435279A-BCC6-3275-DA86-94B9ED86FBD4}"/>
                </a:ext>
              </a:extLst>
            </p:cNvPr>
            <p:cNvGrpSpPr/>
            <p:nvPr/>
          </p:nvGrpSpPr>
          <p:grpSpPr>
            <a:xfrm>
              <a:off x="12275671" y="2705100"/>
              <a:ext cx="13163562" cy="3607987"/>
              <a:chOff x="12275671" y="2705100"/>
              <a:chExt cx="13163562" cy="3607987"/>
            </a:xfrm>
          </p:grpSpPr>
          <p:cxnSp>
            <p:nvCxnSpPr>
              <p:cNvPr id="112" name="Прямая соединительная линия 111">
                <a:extLst>
                  <a:ext uri="{FF2B5EF4-FFF2-40B4-BE49-F238E27FC236}">
                    <a16:creationId xmlns:a16="http://schemas.microsoft.com/office/drawing/2014/main" id="{E5F17D2B-CE90-14B8-2919-28389BAA0D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275671" y="4670426"/>
                <a:ext cx="13163562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A11E4FC6-DF7F-FF24-6C02-A61363361194}"/>
                  </a:ext>
                </a:extLst>
              </p:cNvPr>
              <p:cNvSpPr txBox="1"/>
              <p:nvPr/>
            </p:nvSpPr>
            <p:spPr>
              <a:xfrm rot="3847950">
                <a:off x="12649947" y="3625376"/>
                <a:ext cx="1597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Результаты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37A3884-63A9-0331-F761-F6C8EDBA7B66}"/>
                  </a:ext>
                </a:extLst>
              </p:cNvPr>
              <p:cNvSpPr txBox="1"/>
              <p:nvPr/>
            </p:nvSpPr>
            <p:spPr>
              <a:xfrm rot="3847950">
                <a:off x="12721971" y="5368638"/>
                <a:ext cx="15195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Действия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CAD58872-5730-1928-37DF-D673E4BB1CB7}"/>
                  </a:ext>
                </a:extLst>
              </p:cNvPr>
              <p:cNvSpPr txBox="1"/>
              <p:nvPr/>
            </p:nvSpPr>
            <p:spPr>
              <a:xfrm>
                <a:off x="14074343" y="2743199"/>
                <a:ext cx="3863630" cy="1780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Качество сна: Близко к нормальному;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Уровень стресса и умственная усталость: Левосторонняя асимметрия;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Кофеин: Дискретное;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Остальные признаки: Равномерное.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716A7E44-E7F1-7D5A-1702-F7F7D2908B31}"/>
                  </a:ext>
                </a:extLst>
              </p:cNvPr>
              <p:cNvSpPr txBox="1"/>
              <p:nvPr/>
            </p:nvSpPr>
            <p:spPr>
              <a:xfrm>
                <a:off x="18012063" y="2739324"/>
                <a:ext cx="3190587" cy="7420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Пол: Дисбаланс;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Профессия: равномерное.</a:t>
                </a:r>
                <a:endParaRPr lang="ru-RU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066D1632-60F6-6A88-B0D9-798AFA7B0CE3}"/>
                  </a:ext>
                </a:extLst>
              </p:cNvPr>
              <p:cNvSpPr txBox="1"/>
              <p:nvPr/>
            </p:nvSpPr>
            <p:spPr>
              <a:xfrm>
                <a:off x="21647278" y="2705100"/>
                <a:ext cx="3442447" cy="1088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440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Пол: </a:t>
                </a:r>
                <a:r>
                  <a:rPr lang="ru-RU" sz="1500" b="0" i="0" dirty="0" err="1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Female</a:t>
                </a: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1500" b="0" i="0" dirty="0" err="1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Male</a:t>
                </a: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1500" b="0" i="0" dirty="0" err="1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Other</a:t>
                </a: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indent="-284400">
                  <a:lnSpc>
                    <a:spcPct val="150000"/>
                  </a:lnSpc>
                </a:pPr>
                <a:r>
                  <a:rPr lang="en-CA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{</a:t>
                </a: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0, 2</a:t>
                </a:r>
                <a:r>
                  <a:rPr lang="en-CA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  <a:endPara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indent="-28440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Профессия: 8 категорий </a:t>
                </a:r>
                <a:r>
                  <a:rPr lang="en-CA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{</a:t>
                </a: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0, 7</a:t>
                </a:r>
                <a:r>
                  <a:rPr lang="en-CA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  <a:endPara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4139227-7D48-62F6-87F3-697AA012DADC}"/>
                  </a:ext>
                </a:extLst>
              </p:cNvPr>
              <p:cNvSpPr txBox="1"/>
              <p:nvPr/>
            </p:nvSpPr>
            <p:spPr>
              <a:xfrm>
                <a:off x="14106584" y="4735799"/>
                <a:ext cx="3735376" cy="1021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Уровень стресса и умственная усталость: </a:t>
                </a:r>
                <a:r>
                  <a:rPr lang="ru-RU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Группировка редких</a:t>
                </a:r>
              </a:p>
              <a:p>
                <a:pPr>
                  <a:lnSpc>
                    <a:spcPct val="150000"/>
                  </a:lnSpc>
                </a:pPr>
                <a:r>
                  <a:rPr lang="ru-RU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значений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B05CCDDC-9A9F-5092-9980-9CB89776E376}"/>
                  </a:ext>
                </a:extLst>
              </p:cNvPr>
              <p:cNvSpPr txBox="1"/>
              <p:nvPr/>
            </p:nvSpPr>
            <p:spPr>
              <a:xfrm>
                <a:off x="18012063" y="4788442"/>
                <a:ext cx="297708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Пол: </a:t>
                </a: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Учет дисбаланса</a:t>
                </a:r>
              </a:p>
              <a:p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при обучении модели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A9412D9-38C4-5115-A778-FF6FA671783C}"/>
                  </a:ext>
                </a:extLst>
              </p:cNvPr>
              <p:cNvSpPr txBox="1"/>
              <p:nvPr/>
            </p:nvSpPr>
            <p:spPr>
              <a:xfrm>
                <a:off x="21647278" y="4696367"/>
                <a:ext cx="2989310" cy="395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en-US" sz="1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Label Encoding</a:t>
                </a:r>
                <a:endParaRPr lang="ru-RU" sz="1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7728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FA7FA-214D-8881-E634-C048A1B2A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DEEC0E5-6096-2B71-9850-EEF34A443CA5}"/>
              </a:ext>
            </a:extLst>
          </p:cNvPr>
          <p:cNvSpPr/>
          <p:nvPr/>
        </p:nvSpPr>
        <p:spPr>
          <a:xfrm>
            <a:off x="-22769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6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3A1E6AAE-7DD7-1BBD-074B-07FC4BF5B653}"/>
              </a:ext>
            </a:extLst>
          </p:cNvPr>
          <p:cNvGrpSpPr/>
          <p:nvPr/>
        </p:nvGrpSpPr>
        <p:grpSpPr>
          <a:xfrm rot="10800000">
            <a:off x="8597992" y="-1343198"/>
            <a:ext cx="4125183" cy="3903766"/>
            <a:chOff x="8597992" y="-1343198"/>
            <a:chExt cx="4125183" cy="3903766"/>
          </a:xfrm>
        </p:grpSpPr>
        <p:grpSp>
          <p:nvGrpSpPr>
            <p:cNvPr id="95" name="Группа 94">
              <a:extLst>
                <a:ext uri="{FF2B5EF4-FFF2-40B4-BE49-F238E27FC236}">
                  <a16:creationId xmlns:a16="http://schemas.microsoft.com/office/drawing/2014/main" id="{207F0012-3F3F-0AC5-EC8F-A4575FF05ABE}"/>
                </a:ext>
              </a:extLst>
            </p:cNvPr>
            <p:cNvGrpSpPr/>
            <p:nvPr/>
          </p:nvGrpSpPr>
          <p:grpSpPr>
            <a:xfrm>
              <a:off x="8670670" y="-1343198"/>
              <a:ext cx="3903766" cy="3903766"/>
              <a:chOff x="8746731" y="-1343198"/>
              <a:chExt cx="3903766" cy="3903766"/>
            </a:xfrm>
          </p:grpSpPr>
          <p:grpSp>
            <p:nvGrpSpPr>
              <p:cNvPr id="63" name="Группа 62">
                <a:extLst>
                  <a:ext uri="{FF2B5EF4-FFF2-40B4-BE49-F238E27FC236}">
                    <a16:creationId xmlns:a16="http://schemas.microsoft.com/office/drawing/2014/main" id="{5954B2AC-80E5-174E-DE4E-0920BA45B2FD}"/>
                  </a:ext>
                </a:extLst>
              </p:cNvPr>
              <p:cNvGrpSpPr/>
              <p:nvPr/>
            </p:nvGrpSpPr>
            <p:grpSpPr>
              <a:xfrm>
                <a:off x="8746731" y="-1343198"/>
                <a:ext cx="3903766" cy="3903766"/>
                <a:chOff x="152400" y="1057655"/>
                <a:chExt cx="3903766" cy="3903766"/>
              </a:xfrm>
            </p:grpSpPr>
            <p:sp>
              <p:nvSpPr>
                <p:cNvPr id="64" name="Полилиния: фигура 63">
                  <a:extLst>
                    <a:ext uri="{FF2B5EF4-FFF2-40B4-BE49-F238E27FC236}">
                      <a16:creationId xmlns:a16="http://schemas.microsoft.com/office/drawing/2014/main" id="{4DC59E8B-F5A9-C937-4623-2D8ED4D7FD3B}"/>
                    </a:ext>
                  </a:extLst>
                </p:cNvPr>
                <p:cNvSpPr/>
                <p:nvPr/>
              </p:nvSpPr>
              <p:spPr>
                <a:xfrm>
                  <a:off x="152400" y="1057655"/>
                  <a:ext cx="3903766" cy="3903766"/>
                </a:xfrm>
                <a:custGeom>
                  <a:avLst/>
                  <a:gdLst>
                    <a:gd name="csX0" fmla="*/ 2492829 w 4985658"/>
                    <a:gd name="csY0" fmla="*/ 1240972 h 4985658"/>
                    <a:gd name="csX1" fmla="*/ 1240972 w 4985658"/>
                    <a:gd name="csY1" fmla="*/ 2492829 h 4985658"/>
                    <a:gd name="csX2" fmla="*/ 2492829 w 4985658"/>
                    <a:gd name="csY2" fmla="*/ 3744686 h 4985658"/>
                    <a:gd name="csX3" fmla="*/ 3744686 w 4985658"/>
                    <a:gd name="csY3" fmla="*/ 2492829 h 4985658"/>
                    <a:gd name="csX4" fmla="*/ 2492829 w 4985658"/>
                    <a:gd name="csY4" fmla="*/ 1240972 h 4985658"/>
                    <a:gd name="csX5" fmla="*/ 2492829 w 4985658"/>
                    <a:gd name="csY5" fmla="*/ 0 h 4985658"/>
                    <a:gd name="csX6" fmla="*/ 4985658 w 4985658"/>
                    <a:gd name="csY6" fmla="*/ 2492829 h 4985658"/>
                    <a:gd name="csX7" fmla="*/ 2492829 w 4985658"/>
                    <a:gd name="csY7" fmla="*/ 4985658 h 4985658"/>
                    <a:gd name="csX8" fmla="*/ 0 w 4985658"/>
                    <a:gd name="csY8" fmla="*/ 2492829 h 4985658"/>
                    <a:gd name="csX9" fmla="*/ 2492829 w 4985658"/>
                    <a:gd name="csY9" fmla="*/ 0 h 4985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4985658" h="4985658">
                      <a:moveTo>
                        <a:pt x="2492829" y="1240972"/>
                      </a:moveTo>
                      <a:cubicBezTo>
                        <a:pt x="1801447" y="1240972"/>
                        <a:pt x="1240972" y="1801447"/>
                        <a:pt x="1240972" y="2492829"/>
                      </a:cubicBezTo>
                      <a:cubicBezTo>
                        <a:pt x="1240972" y="3184211"/>
                        <a:pt x="1801447" y="3744686"/>
                        <a:pt x="2492829" y="3744686"/>
                      </a:cubicBezTo>
                      <a:cubicBezTo>
                        <a:pt x="3184211" y="3744686"/>
                        <a:pt x="3744686" y="3184211"/>
                        <a:pt x="3744686" y="2492829"/>
                      </a:cubicBezTo>
                      <a:cubicBezTo>
                        <a:pt x="3744686" y="1801447"/>
                        <a:pt x="3184211" y="1240972"/>
                        <a:pt x="2492829" y="1240972"/>
                      </a:cubicBezTo>
                      <a:close/>
                      <a:moveTo>
                        <a:pt x="2492829" y="0"/>
                      </a:moveTo>
                      <a:cubicBezTo>
                        <a:pt x="3869580" y="0"/>
                        <a:pt x="4985658" y="1116078"/>
                        <a:pt x="4985658" y="2492829"/>
                      </a:cubicBezTo>
                      <a:cubicBezTo>
                        <a:pt x="4985658" y="3869580"/>
                        <a:pt x="3869580" y="4985658"/>
                        <a:pt x="2492829" y="4985658"/>
                      </a:cubicBezTo>
                      <a:cubicBezTo>
                        <a:pt x="1116078" y="4985658"/>
                        <a:pt x="0" y="3869580"/>
                        <a:pt x="0" y="2492829"/>
                      </a:cubicBezTo>
                      <a:cubicBezTo>
                        <a:pt x="0" y="1116078"/>
                        <a:pt x="1116078" y="0"/>
                        <a:pt x="2492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75000">
                      <a:srgbClr val="122639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44000">
                      <a:schemeClr val="tx2">
                        <a:lumMod val="90000"/>
                        <a:lumOff val="10000"/>
                      </a:schemeClr>
                    </a:gs>
                  </a:gsLst>
                  <a:lin ang="12600000" scaled="0"/>
                </a:gra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ru-RU" dirty="0"/>
                </a:p>
              </p:txBody>
            </p:sp>
            <p:grpSp>
              <p:nvGrpSpPr>
                <p:cNvPr id="65" name="Группа 64">
                  <a:extLst>
                    <a:ext uri="{FF2B5EF4-FFF2-40B4-BE49-F238E27FC236}">
                      <a16:creationId xmlns:a16="http://schemas.microsoft.com/office/drawing/2014/main" id="{4021A0C6-7653-AEBA-6DCE-A5A244A1D77E}"/>
                    </a:ext>
                  </a:extLst>
                </p:cNvPr>
                <p:cNvGrpSpPr/>
                <p:nvPr/>
              </p:nvGrpSpPr>
              <p:grpSpPr>
                <a:xfrm>
                  <a:off x="3084486" y="2719153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9" name="Прямая соединительная линия 68">
                    <a:extLst>
                      <a:ext uri="{FF2B5EF4-FFF2-40B4-BE49-F238E27FC236}">
                        <a16:creationId xmlns:a16="http://schemas.microsoft.com/office/drawing/2014/main" id="{76B8D27B-1780-7152-51F9-DA3E233E02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Прямая соединительная линия 69">
                    <a:extLst>
                      <a:ext uri="{FF2B5EF4-FFF2-40B4-BE49-F238E27FC236}">
                        <a16:creationId xmlns:a16="http://schemas.microsoft.com/office/drawing/2014/main" id="{C8309756-C2FD-8DE2-11E1-6D754B4FEE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6" name="Группа 65">
                  <a:extLst>
                    <a:ext uri="{FF2B5EF4-FFF2-40B4-BE49-F238E27FC236}">
                      <a16:creationId xmlns:a16="http://schemas.microsoft.com/office/drawing/2014/main" id="{DE033ED8-A85F-E36D-678D-2AF50A369E9F}"/>
                    </a:ext>
                  </a:extLst>
                </p:cNvPr>
                <p:cNvGrpSpPr/>
                <p:nvPr/>
              </p:nvGrpSpPr>
              <p:grpSpPr>
                <a:xfrm rot="10800000">
                  <a:off x="152400" y="3035177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7" name="Прямая соединительная линия 66">
                    <a:extLst>
                      <a:ext uri="{FF2B5EF4-FFF2-40B4-BE49-F238E27FC236}">
                        <a16:creationId xmlns:a16="http://schemas.microsoft.com/office/drawing/2014/main" id="{B699E14E-6DDD-3478-D950-90B04DE1FA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Прямая соединительная линия 67">
                    <a:extLst>
                      <a:ext uri="{FF2B5EF4-FFF2-40B4-BE49-F238E27FC236}">
                        <a16:creationId xmlns:a16="http://schemas.microsoft.com/office/drawing/2014/main" id="{D4C633D4-8656-E34B-CB41-C1FB014339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303F3D8-B125-F9D3-EBF6-6D01386BFE8A}"/>
                  </a:ext>
                </a:extLst>
              </p:cNvPr>
              <p:cNvSpPr txBox="1"/>
              <p:nvPr/>
            </p:nvSpPr>
            <p:spPr>
              <a:xfrm>
                <a:off x="9256187" y="1628588"/>
                <a:ext cx="29609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3. Проверка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на диапазоны 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значений</a:t>
                </a:r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C8AB7C3-2F38-4C4B-63A7-68ACDCB651C4}"/>
                </a:ext>
              </a:extLst>
            </p:cNvPr>
            <p:cNvSpPr txBox="1"/>
            <p:nvPr/>
          </p:nvSpPr>
          <p:spPr>
            <a:xfrm rot="10800000">
              <a:off x="8597992" y="-1050811"/>
              <a:ext cx="412518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Шаг 6. Кодирование </a:t>
              </a:r>
            </a:p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категор. атрибутов</a:t>
              </a:r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DD5BFCA4-3C17-7211-C713-64656C2D70A4}"/>
              </a:ext>
            </a:extLst>
          </p:cNvPr>
          <p:cNvGrpSpPr/>
          <p:nvPr/>
        </p:nvGrpSpPr>
        <p:grpSpPr>
          <a:xfrm rot="10800000">
            <a:off x="5028036" y="-1343198"/>
            <a:ext cx="3922816" cy="3903766"/>
            <a:chOff x="5028036" y="-1343198"/>
            <a:chExt cx="3922816" cy="3903766"/>
          </a:xfrm>
        </p:grpSpPr>
        <p:grpSp>
          <p:nvGrpSpPr>
            <p:cNvPr id="89" name="Группа 88">
              <a:extLst>
                <a:ext uri="{FF2B5EF4-FFF2-40B4-BE49-F238E27FC236}">
                  <a16:creationId xmlns:a16="http://schemas.microsoft.com/office/drawing/2014/main" id="{400547EF-3C8E-8852-E718-313C5991B837}"/>
                </a:ext>
              </a:extLst>
            </p:cNvPr>
            <p:cNvGrpSpPr/>
            <p:nvPr/>
          </p:nvGrpSpPr>
          <p:grpSpPr>
            <a:xfrm>
              <a:off x="5047086" y="-1343198"/>
              <a:ext cx="3903766" cy="3903766"/>
              <a:chOff x="5013346" y="-1343198"/>
              <a:chExt cx="3903766" cy="3903766"/>
            </a:xfrm>
          </p:grpSpPr>
          <p:grpSp>
            <p:nvGrpSpPr>
              <p:cNvPr id="55" name="Группа 54">
                <a:extLst>
                  <a:ext uri="{FF2B5EF4-FFF2-40B4-BE49-F238E27FC236}">
                    <a16:creationId xmlns:a16="http://schemas.microsoft.com/office/drawing/2014/main" id="{409CE46D-442A-6F27-62F2-298F906B0C19}"/>
                  </a:ext>
                </a:extLst>
              </p:cNvPr>
              <p:cNvGrpSpPr/>
              <p:nvPr/>
            </p:nvGrpSpPr>
            <p:grpSpPr>
              <a:xfrm>
                <a:off x="5013346" y="-1343198"/>
                <a:ext cx="3903766" cy="3903766"/>
                <a:chOff x="152400" y="1057655"/>
                <a:chExt cx="3903766" cy="3903766"/>
              </a:xfrm>
            </p:grpSpPr>
            <p:sp>
              <p:nvSpPr>
                <p:cNvPr id="56" name="Полилиния: фигура 55">
                  <a:extLst>
                    <a:ext uri="{FF2B5EF4-FFF2-40B4-BE49-F238E27FC236}">
                      <a16:creationId xmlns:a16="http://schemas.microsoft.com/office/drawing/2014/main" id="{23DA5B20-6E55-126B-6D53-FB3DC0D866E8}"/>
                    </a:ext>
                  </a:extLst>
                </p:cNvPr>
                <p:cNvSpPr/>
                <p:nvPr/>
              </p:nvSpPr>
              <p:spPr>
                <a:xfrm>
                  <a:off x="152400" y="1057655"/>
                  <a:ext cx="3903766" cy="3903766"/>
                </a:xfrm>
                <a:custGeom>
                  <a:avLst/>
                  <a:gdLst>
                    <a:gd name="csX0" fmla="*/ 2492829 w 4985658"/>
                    <a:gd name="csY0" fmla="*/ 1240972 h 4985658"/>
                    <a:gd name="csX1" fmla="*/ 1240972 w 4985658"/>
                    <a:gd name="csY1" fmla="*/ 2492829 h 4985658"/>
                    <a:gd name="csX2" fmla="*/ 2492829 w 4985658"/>
                    <a:gd name="csY2" fmla="*/ 3744686 h 4985658"/>
                    <a:gd name="csX3" fmla="*/ 3744686 w 4985658"/>
                    <a:gd name="csY3" fmla="*/ 2492829 h 4985658"/>
                    <a:gd name="csX4" fmla="*/ 2492829 w 4985658"/>
                    <a:gd name="csY4" fmla="*/ 1240972 h 4985658"/>
                    <a:gd name="csX5" fmla="*/ 2492829 w 4985658"/>
                    <a:gd name="csY5" fmla="*/ 0 h 4985658"/>
                    <a:gd name="csX6" fmla="*/ 4985658 w 4985658"/>
                    <a:gd name="csY6" fmla="*/ 2492829 h 4985658"/>
                    <a:gd name="csX7" fmla="*/ 2492829 w 4985658"/>
                    <a:gd name="csY7" fmla="*/ 4985658 h 4985658"/>
                    <a:gd name="csX8" fmla="*/ 0 w 4985658"/>
                    <a:gd name="csY8" fmla="*/ 2492829 h 4985658"/>
                    <a:gd name="csX9" fmla="*/ 2492829 w 4985658"/>
                    <a:gd name="csY9" fmla="*/ 0 h 4985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4985658" h="4985658">
                      <a:moveTo>
                        <a:pt x="2492829" y="1240972"/>
                      </a:moveTo>
                      <a:cubicBezTo>
                        <a:pt x="1801447" y="1240972"/>
                        <a:pt x="1240972" y="1801447"/>
                        <a:pt x="1240972" y="2492829"/>
                      </a:cubicBezTo>
                      <a:cubicBezTo>
                        <a:pt x="1240972" y="3184211"/>
                        <a:pt x="1801447" y="3744686"/>
                        <a:pt x="2492829" y="3744686"/>
                      </a:cubicBezTo>
                      <a:cubicBezTo>
                        <a:pt x="3184211" y="3744686"/>
                        <a:pt x="3744686" y="3184211"/>
                        <a:pt x="3744686" y="2492829"/>
                      </a:cubicBezTo>
                      <a:cubicBezTo>
                        <a:pt x="3744686" y="1801447"/>
                        <a:pt x="3184211" y="1240972"/>
                        <a:pt x="2492829" y="1240972"/>
                      </a:cubicBezTo>
                      <a:close/>
                      <a:moveTo>
                        <a:pt x="2492829" y="0"/>
                      </a:moveTo>
                      <a:cubicBezTo>
                        <a:pt x="3869580" y="0"/>
                        <a:pt x="4985658" y="1116078"/>
                        <a:pt x="4985658" y="2492829"/>
                      </a:cubicBezTo>
                      <a:cubicBezTo>
                        <a:pt x="4985658" y="3869580"/>
                        <a:pt x="3869580" y="4985658"/>
                        <a:pt x="2492829" y="4985658"/>
                      </a:cubicBezTo>
                      <a:cubicBezTo>
                        <a:pt x="1116078" y="4985658"/>
                        <a:pt x="0" y="3869580"/>
                        <a:pt x="0" y="2492829"/>
                      </a:cubicBezTo>
                      <a:cubicBezTo>
                        <a:pt x="0" y="1116078"/>
                        <a:pt x="1116078" y="0"/>
                        <a:pt x="2492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75000">
                      <a:srgbClr val="122639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44000">
                      <a:schemeClr val="tx2">
                        <a:lumMod val="90000"/>
                        <a:lumOff val="10000"/>
                      </a:schemeClr>
                    </a:gs>
                  </a:gsLst>
                  <a:lin ang="12600000" scaled="0"/>
                </a:gra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ru-RU" dirty="0"/>
                </a:p>
              </p:txBody>
            </p:sp>
            <p:grpSp>
              <p:nvGrpSpPr>
                <p:cNvPr id="57" name="Группа 56">
                  <a:extLst>
                    <a:ext uri="{FF2B5EF4-FFF2-40B4-BE49-F238E27FC236}">
                      <a16:creationId xmlns:a16="http://schemas.microsoft.com/office/drawing/2014/main" id="{2C7B74DE-C102-C1C4-89BA-1C6FE920978B}"/>
                    </a:ext>
                  </a:extLst>
                </p:cNvPr>
                <p:cNvGrpSpPr/>
                <p:nvPr/>
              </p:nvGrpSpPr>
              <p:grpSpPr>
                <a:xfrm>
                  <a:off x="3084486" y="2719153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1" name="Прямая соединительная линия 60">
                    <a:extLst>
                      <a:ext uri="{FF2B5EF4-FFF2-40B4-BE49-F238E27FC236}">
                        <a16:creationId xmlns:a16="http://schemas.microsoft.com/office/drawing/2014/main" id="{999ADB26-FE16-DE24-CDB5-AFBFC22DE9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Прямая соединительная линия 61">
                    <a:extLst>
                      <a:ext uri="{FF2B5EF4-FFF2-40B4-BE49-F238E27FC236}">
                        <a16:creationId xmlns:a16="http://schemas.microsoft.com/office/drawing/2014/main" id="{3AF336E2-2F13-82AC-63E1-B6B63A23AF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" name="Группа 57">
                  <a:extLst>
                    <a:ext uri="{FF2B5EF4-FFF2-40B4-BE49-F238E27FC236}">
                      <a16:creationId xmlns:a16="http://schemas.microsoft.com/office/drawing/2014/main" id="{EF406837-34C7-045C-9D29-5F92399D5D40}"/>
                    </a:ext>
                  </a:extLst>
                </p:cNvPr>
                <p:cNvGrpSpPr/>
                <p:nvPr/>
              </p:nvGrpSpPr>
              <p:grpSpPr>
                <a:xfrm rot="10800000">
                  <a:off x="152400" y="3035177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59" name="Прямая соединительная линия 58">
                    <a:extLst>
                      <a:ext uri="{FF2B5EF4-FFF2-40B4-BE49-F238E27FC236}">
                        <a16:creationId xmlns:a16="http://schemas.microsoft.com/office/drawing/2014/main" id="{994DC523-F71E-036D-69EF-D795856BF2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Прямая соединительная линия 59">
                    <a:extLst>
                      <a:ext uri="{FF2B5EF4-FFF2-40B4-BE49-F238E27FC236}">
                        <a16:creationId xmlns:a16="http://schemas.microsoft.com/office/drawing/2014/main" id="{9106442C-AF32-8BC1-BC41-FE90104213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79C2B43-5461-B1AE-F870-AB6ECEE7E07C}"/>
                  </a:ext>
                </a:extLst>
              </p:cNvPr>
              <p:cNvSpPr txBox="1"/>
              <p:nvPr/>
            </p:nvSpPr>
            <p:spPr>
              <a:xfrm>
                <a:off x="5013346" y="1623950"/>
                <a:ext cx="390376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2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Корреляционный 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анализ</a:t>
                </a: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8670ABB-00FF-A4BB-5D49-76065F5EB226}"/>
                </a:ext>
              </a:extLst>
            </p:cNvPr>
            <p:cNvSpPr txBox="1"/>
            <p:nvPr/>
          </p:nvSpPr>
          <p:spPr>
            <a:xfrm rot="10800000">
              <a:off x="5028036" y="-1025829"/>
              <a:ext cx="390376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Шаг 5. Распределения </a:t>
              </a:r>
            </a:p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категор. атрибутов </a:t>
              </a:r>
            </a:p>
          </p:txBody>
        </p:sp>
      </p:grp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2A4542F6-EA46-2733-F19E-6227EF2DF04E}"/>
              </a:ext>
            </a:extLst>
          </p:cNvPr>
          <p:cNvGrpSpPr/>
          <p:nvPr/>
        </p:nvGrpSpPr>
        <p:grpSpPr>
          <a:xfrm rot="10800000">
            <a:off x="1369150" y="-1343198"/>
            <a:ext cx="3903766" cy="3903766"/>
            <a:chOff x="1208423" y="-1343198"/>
            <a:chExt cx="3903766" cy="3903766"/>
          </a:xfrm>
        </p:grpSpPr>
        <p:grpSp>
          <p:nvGrpSpPr>
            <p:cNvPr id="54" name="Группа 53">
              <a:extLst>
                <a:ext uri="{FF2B5EF4-FFF2-40B4-BE49-F238E27FC236}">
                  <a16:creationId xmlns:a16="http://schemas.microsoft.com/office/drawing/2014/main" id="{59FFC496-9FBB-A300-2A08-B353ABC2A6C5}"/>
                </a:ext>
              </a:extLst>
            </p:cNvPr>
            <p:cNvGrpSpPr/>
            <p:nvPr/>
          </p:nvGrpSpPr>
          <p:grpSpPr>
            <a:xfrm>
              <a:off x="1208423" y="-1343198"/>
              <a:ext cx="3903766" cy="3903766"/>
              <a:chOff x="152400" y="1057655"/>
              <a:chExt cx="3903766" cy="3903766"/>
            </a:xfrm>
          </p:grpSpPr>
          <p:sp>
            <p:nvSpPr>
              <p:cNvPr id="9" name="Полилиния: фигура 8">
                <a:extLst>
                  <a:ext uri="{FF2B5EF4-FFF2-40B4-BE49-F238E27FC236}">
                    <a16:creationId xmlns:a16="http://schemas.microsoft.com/office/drawing/2014/main" id="{07C90456-130D-5DCD-7C2B-F0F93042DE4A}"/>
                  </a:ext>
                </a:extLst>
              </p:cNvPr>
              <p:cNvSpPr/>
              <p:nvPr/>
            </p:nvSpPr>
            <p:spPr>
              <a:xfrm>
                <a:off x="152400" y="1057655"/>
                <a:ext cx="3903766" cy="3903766"/>
              </a:xfrm>
              <a:custGeom>
                <a:avLst/>
                <a:gdLst>
                  <a:gd name="csX0" fmla="*/ 2492829 w 4985658"/>
                  <a:gd name="csY0" fmla="*/ 1240972 h 4985658"/>
                  <a:gd name="csX1" fmla="*/ 1240972 w 4985658"/>
                  <a:gd name="csY1" fmla="*/ 2492829 h 4985658"/>
                  <a:gd name="csX2" fmla="*/ 2492829 w 4985658"/>
                  <a:gd name="csY2" fmla="*/ 3744686 h 4985658"/>
                  <a:gd name="csX3" fmla="*/ 3744686 w 4985658"/>
                  <a:gd name="csY3" fmla="*/ 2492829 h 4985658"/>
                  <a:gd name="csX4" fmla="*/ 2492829 w 4985658"/>
                  <a:gd name="csY4" fmla="*/ 1240972 h 4985658"/>
                  <a:gd name="csX5" fmla="*/ 2492829 w 4985658"/>
                  <a:gd name="csY5" fmla="*/ 0 h 4985658"/>
                  <a:gd name="csX6" fmla="*/ 4985658 w 4985658"/>
                  <a:gd name="csY6" fmla="*/ 2492829 h 4985658"/>
                  <a:gd name="csX7" fmla="*/ 2492829 w 4985658"/>
                  <a:gd name="csY7" fmla="*/ 4985658 h 4985658"/>
                  <a:gd name="csX8" fmla="*/ 0 w 4985658"/>
                  <a:gd name="csY8" fmla="*/ 2492829 h 4985658"/>
                  <a:gd name="csX9" fmla="*/ 2492829 w 4985658"/>
                  <a:gd name="csY9" fmla="*/ 0 h 4985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4985658" h="4985658">
                    <a:moveTo>
                      <a:pt x="2492829" y="1240972"/>
                    </a:moveTo>
                    <a:cubicBezTo>
                      <a:pt x="1801447" y="1240972"/>
                      <a:pt x="1240972" y="1801447"/>
                      <a:pt x="1240972" y="2492829"/>
                    </a:cubicBezTo>
                    <a:cubicBezTo>
                      <a:pt x="1240972" y="3184211"/>
                      <a:pt x="1801447" y="3744686"/>
                      <a:pt x="2492829" y="3744686"/>
                    </a:cubicBezTo>
                    <a:cubicBezTo>
                      <a:pt x="3184211" y="3744686"/>
                      <a:pt x="3744686" y="3184211"/>
                      <a:pt x="3744686" y="2492829"/>
                    </a:cubicBezTo>
                    <a:cubicBezTo>
                      <a:pt x="3744686" y="1801447"/>
                      <a:pt x="3184211" y="1240972"/>
                      <a:pt x="2492829" y="1240972"/>
                    </a:cubicBezTo>
                    <a:close/>
                    <a:moveTo>
                      <a:pt x="2492829" y="0"/>
                    </a:moveTo>
                    <a:cubicBezTo>
                      <a:pt x="3869580" y="0"/>
                      <a:pt x="4985658" y="1116078"/>
                      <a:pt x="4985658" y="2492829"/>
                    </a:cubicBezTo>
                    <a:cubicBezTo>
                      <a:pt x="4985658" y="3869580"/>
                      <a:pt x="3869580" y="4985658"/>
                      <a:pt x="2492829" y="4985658"/>
                    </a:cubicBezTo>
                    <a:cubicBezTo>
                      <a:pt x="1116078" y="4985658"/>
                      <a:pt x="0" y="3869580"/>
                      <a:pt x="0" y="2492829"/>
                    </a:cubicBezTo>
                    <a:cubicBezTo>
                      <a:pt x="0" y="1116078"/>
                      <a:pt x="1116078" y="0"/>
                      <a:pt x="24928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75000">
                    <a:srgbClr val="122639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  <a:gs pos="44000">
                    <a:schemeClr val="tx2">
                      <a:lumMod val="90000"/>
                      <a:lumOff val="10000"/>
                    </a:schemeClr>
                  </a:gs>
                </a:gsLst>
                <a:lin ang="12600000" scaled="0"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 dirty="0"/>
              </a:p>
            </p:txBody>
          </p:sp>
          <p:grpSp>
            <p:nvGrpSpPr>
              <p:cNvPr id="50" name="Группа 49">
                <a:extLst>
                  <a:ext uri="{FF2B5EF4-FFF2-40B4-BE49-F238E27FC236}">
                    <a16:creationId xmlns:a16="http://schemas.microsoft.com/office/drawing/2014/main" id="{CCF3BDC1-57BF-41AC-5F13-A94D8DAE77D8}"/>
                  </a:ext>
                </a:extLst>
              </p:cNvPr>
              <p:cNvGrpSpPr/>
              <p:nvPr/>
            </p:nvGrpSpPr>
            <p:grpSpPr>
              <a:xfrm>
                <a:off x="3084486" y="2719153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15" name="Прямая соединительная линия 14">
                  <a:extLst>
                    <a:ext uri="{FF2B5EF4-FFF2-40B4-BE49-F238E27FC236}">
                      <a16:creationId xmlns:a16="http://schemas.microsoft.com/office/drawing/2014/main" id="{D9A824B6-9AD6-4725-9743-F967D58E24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Прямая соединительная линия 16">
                  <a:extLst>
                    <a:ext uri="{FF2B5EF4-FFF2-40B4-BE49-F238E27FC236}">
                      <a16:creationId xmlns:a16="http://schemas.microsoft.com/office/drawing/2014/main" id="{88FF6CC5-BDEC-BF20-8947-9D76238EB7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Группа 50">
                <a:extLst>
                  <a:ext uri="{FF2B5EF4-FFF2-40B4-BE49-F238E27FC236}">
                    <a16:creationId xmlns:a16="http://schemas.microsoft.com/office/drawing/2014/main" id="{D1220037-756A-C313-09D7-9A6F87A34869}"/>
                  </a:ext>
                </a:extLst>
              </p:cNvPr>
              <p:cNvGrpSpPr/>
              <p:nvPr/>
            </p:nvGrpSpPr>
            <p:grpSpPr>
              <a:xfrm rot="10800000">
                <a:off x="152400" y="3035177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52" name="Прямая соединительная линия 51">
                  <a:extLst>
                    <a:ext uri="{FF2B5EF4-FFF2-40B4-BE49-F238E27FC236}">
                      <a16:creationId xmlns:a16="http://schemas.microsoft.com/office/drawing/2014/main" id="{D0D7432D-2E62-971A-4DA0-1475940907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Прямая соединительная линия 52">
                  <a:extLst>
                    <a:ext uri="{FF2B5EF4-FFF2-40B4-BE49-F238E27FC236}">
                      <a16:creationId xmlns:a16="http://schemas.microsoft.com/office/drawing/2014/main" id="{4ECA9038-DD72-AC6F-7F8E-AB0998F110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5" name="Группа 84">
              <a:extLst>
                <a:ext uri="{FF2B5EF4-FFF2-40B4-BE49-F238E27FC236}">
                  <a16:creationId xmlns:a16="http://schemas.microsoft.com/office/drawing/2014/main" id="{3575FC3F-49EC-EAC9-3852-8C89C29A8FB0}"/>
                </a:ext>
              </a:extLst>
            </p:cNvPr>
            <p:cNvGrpSpPr/>
            <p:nvPr/>
          </p:nvGrpSpPr>
          <p:grpSpPr>
            <a:xfrm rot="10800000">
              <a:off x="1757182" y="-1002650"/>
              <a:ext cx="2806248" cy="3224868"/>
              <a:chOff x="1757182" y="-971872"/>
              <a:chExt cx="2806248" cy="3224868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FCC5A61-CACF-FA37-FC7C-7991A00BAB4B}"/>
                  </a:ext>
                </a:extLst>
              </p:cNvPr>
              <p:cNvSpPr txBox="1"/>
              <p:nvPr/>
            </p:nvSpPr>
            <p:spPr>
              <a:xfrm rot="10800000">
                <a:off x="1889778" y="-971872"/>
                <a:ext cx="254105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1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Качество данных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7860428-792C-11C2-F174-EE2707543937}"/>
                  </a:ext>
                </a:extLst>
              </p:cNvPr>
              <p:cNvSpPr txBox="1"/>
              <p:nvPr/>
            </p:nvSpPr>
            <p:spPr>
              <a:xfrm>
                <a:off x="1757182" y="1668221"/>
                <a:ext cx="280624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4. Распределения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числовых атрибутов</a:t>
                </a:r>
              </a:p>
            </p:txBody>
          </p:sp>
        </p:grp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DDB1BEA-923D-5C60-3D27-CDF14FE850D8}"/>
              </a:ext>
            </a:extLst>
          </p:cNvPr>
          <p:cNvSpPr/>
          <p:nvPr/>
        </p:nvSpPr>
        <p:spPr>
          <a:xfrm>
            <a:off x="-246746" y="-220648"/>
            <a:ext cx="12685487" cy="131284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44000">
                <a:schemeClr val="tx2">
                  <a:lumMod val="90000"/>
                  <a:lumOff val="10000"/>
                </a:schemeClr>
              </a:gs>
            </a:gsLst>
            <a:lin ang="126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82B0E0-C9C4-8A82-7230-27A42EB43CB8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Табличные данные: анализ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F2345C47-9216-DFFE-2B05-0241551E56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7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CF50D3C-0997-BB7C-2C91-837C3C83D2E9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B07057E8-0EDF-47E6-8D98-258BDB93415D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C9AAC1ED-F09A-65AB-A15B-8DB60D1E2C4F}"/>
              </a:ext>
            </a:extLst>
          </p:cNvPr>
          <p:cNvCxnSpPr>
            <a:cxnSpLocks/>
          </p:cNvCxnSpPr>
          <p:nvPr/>
        </p:nvCxnSpPr>
        <p:spPr>
          <a:xfrm flipH="1">
            <a:off x="-476262" y="2683744"/>
            <a:ext cx="13163562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2062E42D-9184-D0E8-0E09-967D0A74801E}"/>
              </a:ext>
            </a:extLst>
          </p:cNvPr>
          <p:cNvGrpSpPr/>
          <p:nvPr/>
        </p:nvGrpSpPr>
        <p:grpSpPr>
          <a:xfrm>
            <a:off x="-499372" y="2689395"/>
            <a:ext cx="13163562" cy="3607987"/>
            <a:chOff x="12275671" y="2705100"/>
            <a:chExt cx="13163562" cy="3607987"/>
          </a:xfrm>
        </p:grpSpPr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C507999D-51B9-0ED8-9631-0E0F3A503043}"/>
                </a:ext>
              </a:extLst>
            </p:cNvPr>
            <p:cNvCxnSpPr>
              <a:cxnSpLocks/>
            </p:cNvCxnSpPr>
            <p:nvPr/>
          </p:nvCxnSpPr>
          <p:spPr>
            <a:xfrm>
              <a:off x="13997159" y="2705100"/>
              <a:ext cx="0" cy="343445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Группа 35">
              <a:extLst>
                <a:ext uri="{FF2B5EF4-FFF2-40B4-BE49-F238E27FC236}">
                  <a16:creationId xmlns:a16="http://schemas.microsoft.com/office/drawing/2014/main" id="{B3751987-34A6-3E47-4D2F-D730DA464B01}"/>
                </a:ext>
              </a:extLst>
            </p:cNvPr>
            <p:cNvGrpSpPr/>
            <p:nvPr/>
          </p:nvGrpSpPr>
          <p:grpSpPr>
            <a:xfrm>
              <a:off x="12275671" y="2705100"/>
              <a:ext cx="13163562" cy="3607987"/>
              <a:chOff x="12275671" y="2705100"/>
              <a:chExt cx="13163562" cy="3607987"/>
            </a:xfrm>
          </p:grpSpPr>
          <p:cxnSp>
            <p:nvCxnSpPr>
              <p:cNvPr id="37" name="Прямая соединительная линия 36">
                <a:extLst>
                  <a:ext uri="{FF2B5EF4-FFF2-40B4-BE49-F238E27FC236}">
                    <a16:creationId xmlns:a16="http://schemas.microsoft.com/office/drawing/2014/main" id="{1ECA6573-20A0-55B9-0B6E-26DD99CC79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275671" y="4670426"/>
                <a:ext cx="13163562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8B4CDCC-B8DA-4AE8-1A34-E337AFD73CE4}"/>
                  </a:ext>
                </a:extLst>
              </p:cNvPr>
              <p:cNvSpPr txBox="1"/>
              <p:nvPr/>
            </p:nvSpPr>
            <p:spPr>
              <a:xfrm rot="3847950">
                <a:off x="12649947" y="3625376"/>
                <a:ext cx="1597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Результаты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12A24D2-28E0-6E35-E2B8-EE954903EF54}"/>
                  </a:ext>
                </a:extLst>
              </p:cNvPr>
              <p:cNvSpPr txBox="1"/>
              <p:nvPr/>
            </p:nvSpPr>
            <p:spPr>
              <a:xfrm rot="3847950">
                <a:off x="12721971" y="5368638"/>
                <a:ext cx="15195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Действия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71BEBFF-E1EC-A294-87F8-C638C38F09FC}"/>
                  </a:ext>
                </a:extLst>
              </p:cNvPr>
              <p:cNvSpPr txBox="1"/>
              <p:nvPr/>
            </p:nvSpPr>
            <p:spPr>
              <a:xfrm>
                <a:off x="14074343" y="2743199"/>
                <a:ext cx="3863630" cy="1780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Качество сна: Близко к нормальному;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Уровень стресса и умственная усталость: Левосторонняя асимметрия;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Кофеин: Дискретное;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Остальные признаки: Равномерное.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965EBC2-4471-5C8E-FAE9-9AED6932EA27}"/>
                  </a:ext>
                </a:extLst>
              </p:cNvPr>
              <p:cNvSpPr txBox="1"/>
              <p:nvPr/>
            </p:nvSpPr>
            <p:spPr>
              <a:xfrm>
                <a:off x="18012063" y="2739324"/>
                <a:ext cx="3190587" cy="7420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Пол: Дисбаланс;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Профессия: равномерное.</a:t>
                </a:r>
                <a:endParaRPr lang="ru-RU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E6E138D-3A82-21BA-B432-49EAFF7CEEB3}"/>
                  </a:ext>
                </a:extLst>
              </p:cNvPr>
              <p:cNvSpPr txBox="1"/>
              <p:nvPr/>
            </p:nvSpPr>
            <p:spPr>
              <a:xfrm>
                <a:off x="21647278" y="2705100"/>
                <a:ext cx="3442447" cy="1088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440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Пол: </a:t>
                </a:r>
                <a:r>
                  <a:rPr lang="ru-RU" sz="1500" b="0" i="0" dirty="0" err="1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Female</a:t>
                </a: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1500" b="0" i="0" dirty="0" err="1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Male</a:t>
                </a: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sz="1500" b="0" i="0" dirty="0" err="1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Other</a:t>
                </a: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indent="-284400">
                  <a:lnSpc>
                    <a:spcPct val="150000"/>
                  </a:lnSpc>
                </a:pPr>
                <a:r>
                  <a:rPr lang="en-CA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{</a:t>
                </a: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0, 2</a:t>
                </a:r>
                <a:r>
                  <a:rPr lang="en-CA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  <a:endPara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indent="-28440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Профессия: 8 категорий </a:t>
                </a:r>
                <a:r>
                  <a:rPr lang="en-CA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{</a:t>
                </a: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0, 7</a:t>
                </a:r>
                <a:r>
                  <a:rPr lang="en-CA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  <a:endPara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01EF442-A2C2-27C1-B8CF-B723987270AA}"/>
                  </a:ext>
                </a:extLst>
              </p:cNvPr>
              <p:cNvSpPr txBox="1"/>
              <p:nvPr/>
            </p:nvSpPr>
            <p:spPr>
              <a:xfrm>
                <a:off x="14106584" y="4735799"/>
                <a:ext cx="3735376" cy="1088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Уровень стресса и умственная усталость: </a:t>
                </a:r>
                <a:r>
                  <a:rPr lang="ru-RU" sz="1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Группировка редких</a:t>
                </a:r>
              </a:p>
              <a:p>
                <a:pPr>
                  <a:lnSpc>
                    <a:spcPct val="150000"/>
                  </a:lnSpc>
                </a:pPr>
                <a:r>
                  <a:rPr lang="ru-RU" sz="1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значений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B0200BD-2636-60B0-ABDA-E077C5AF5A1B}"/>
                  </a:ext>
                </a:extLst>
              </p:cNvPr>
              <p:cNvSpPr txBox="1"/>
              <p:nvPr/>
            </p:nvSpPr>
            <p:spPr>
              <a:xfrm>
                <a:off x="18012063" y="4788442"/>
                <a:ext cx="2977089" cy="7420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Пол: </a:t>
                </a: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Учет дисбаланса</a:t>
                </a:r>
              </a:p>
              <a:p>
                <a:pPr>
                  <a:lnSpc>
                    <a:spcPct val="150000"/>
                  </a:lnSpc>
                </a:pP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при обучении модели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E138E37-F2EA-EFED-52F3-78E8FDA6F667}"/>
                  </a:ext>
                </a:extLst>
              </p:cNvPr>
              <p:cNvSpPr txBox="1"/>
              <p:nvPr/>
            </p:nvSpPr>
            <p:spPr>
              <a:xfrm>
                <a:off x="21647278" y="4696367"/>
                <a:ext cx="2989310" cy="395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en-US" sz="15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Label Encoding</a:t>
                </a:r>
                <a:endParaRPr lang="ru-RU" sz="1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5721CF86-51F8-E451-B8EC-46D7111D8868}"/>
              </a:ext>
            </a:extLst>
          </p:cNvPr>
          <p:cNvGrpSpPr/>
          <p:nvPr/>
        </p:nvGrpSpPr>
        <p:grpSpPr>
          <a:xfrm>
            <a:off x="12405176" y="2687217"/>
            <a:ext cx="13163562" cy="3607987"/>
            <a:chOff x="-495312" y="2705100"/>
            <a:chExt cx="13163562" cy="3607987"/>
          </a:xfrm>
        </p:grpSpPr>
        <p:cxnSp>
          <p:nvCxnSpPr>
            <p:cNvPr id="109" name="Прямая соединительная линия 108">
              <a:extLst>
                <a:ext uri="{FF2B5EF4-FFF2-40B4-BE49-F238E27FC236}">
                  <a16:creationId xmlns:a16="http://schemas.microsoft.com/office/drawing/2014/main" id="{A000D1CA-0209-AF1A-287A-DA49DEF900E3}"/>
                </a:ext>
              </a:extLst>
            </p:cNvPr>
            <p:cNvCxnSpPr>
              <a:cxnSpLocks/>
            </p:cNvCxnSpPr>
            <p:nvPr/>
          </p:nvCxnSpPr>
          <p:spPr>
            <a:xfrm>
              <a:off x="1226176" y="2705100"/>
              <a:ext cx="0" cy="343445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Прямая соединительная линия 109">
              <a:extLst>
                <a:ext uri="{FF2B5EF4-FFF2-40B4-BE49-F238E27FC236}">
                  <a16:creationId xmlns:a16="http://schemas.microsoft.com/office/drawing/2014/main" id="{AC762F15-51EC-DC60-E2D5-5A6294B110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5312" y="4670426"/>
              <a:ext cx="13163562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A489DA-CCB6-2864-8F62-A911A5782657}"/>
                </a:ext>
              </a:extLst>
            </p:cNvPr>
            <p:cNvSpPr txBox="1"/>
            <p:nvPr/>
          </p:nvSpPr>
          <p:spPr>
            <a:xfrm rot="3847950">
              <a:off x="-121036" y="3625376"/>
              <a:ext cx="1597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Результаты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1930735-E1AB-E788-F442-2EF2C62E65DC}"/>
                </a:ext>
              </a:extLst>
            </p:cNvPr>
            <p:cNvSpPr txBox="1"/>
            <p:nvPr/>
          </p:nvSpPr>
          <p:spPr>
            <a:xfrm rot="3847950">
              <a:off x="-49012" y="5368638"/>
              <a:ext cx="15195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Действия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59B8918-057A-CE69-42D1-D98C3BB05668}"/>
                </a:ext>
              </a:extLst>
            </p:cNvPr>
            <p:cNvSpPr txBox="1"/>
            <p:nvPr/>
          </p:nvSpPr>
          <p:spPr>
            <a:xfrm>
              <a:off x="1396280" y="2738923"/>
              <a:ext cx="3098519" cy="1434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Отсутствие п</a:t>
              </a: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ропусков и дубликатов;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Выбросы только в признаке качество сна (9 шт., 0.06%).</a:t>
              </a:r>
              <a:endParaRPr lang="ru-RU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CB0D4A0-952B-7BF5-E18A-E07609250ACA}"/>
                </a:ext>
              </a:extLst>
            </p:cNvPr>
            <p:cNvSpPr txBox="1"/>
            <p:nvPr/>
          </p:nvSpPr>
          <p:spPr>
            <a:xfrm>
              <a:off x="4564085" y="2743199"/>
              <a:ext cx="4278218" cy="17808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Сильные: стресс и умственная усталость (+0.95), стресс и качество сна (-0.86), Стресс и экранное время: (+0.88);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 err="1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Мультиколлинеарности</a:t>
              </a: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входных признаков нет (&lt; 0.75).</a:t>
              </a:r>
              <a:endParaRPr lang="ru-RU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DF67795-0722-3262-E709-91E45048F951}"/>
                </a:ext>
              </a:extLst>
            </p:cNvPr>
            <p:cNvSpPr txBox="1"/>
            <p:nvPr/>
          </p:nvSpPr>
          <p:spPr>
            <a:xfrm>
              <a:off x="8586491" y="2743199"/>
              <a:ext cx="3442447" cy="17808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>
                <a:lnSpc>
                  <a:spcPct val="150000"/>
                </a:lnSpc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Значительное различие в </a:t>
              </a:r>
            </a:p>
            <a:p>
              <a:pPr marL="285750">
                <a:lnSpc>
                  <a:spcPct val="150000"/>
                </a:lnSpc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масштабах признаков:</a:t>
              </a:r>
            </a:p>
            <a:p>
              <a:pPr marL="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en-CA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CA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CA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≤ </a:t>
              </a:r>
              <a:r>
                <a:rPr lang="ru-RU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возраст</a:t>
              </a:r>
              <a:r>
                <a:rPr lang="en-CA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≤ </a:t>
              </a:r>
              <a:r>
                <a:rPr lang="en-CA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59;</a:t>
              </a:r>
              <a:endParaRPr lang="ru-RU" sz="15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en-CA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0 ≤ </a:t>
              </a:r>
              <a:r>
                <a:rPr lang="ru-RU" sz="1500" b="0" i="0" dirty="0" err="1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чашки_кофе</a:t>
              </a: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CA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≤</a:t>
              </a:r>
              <a:r>
                <a:rPr lang="ru-RU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4;</a:t>
              </a:r>
              <a:endParaRPr lang="ru-RU" sz="15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20 </a:t>
              </a:r>
              <a:r>
                <a:rPr lang="en-CA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≤</a:t>
              </a:r>
              <a:r>
                <a:rPr lang="ru-RU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уведомления </a:t>
              </a:r>
              <a:r>
                <a:rPr lang="en-CA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≤ </a:t>
              </a:r>
              <a:r>
                <a:rPr lang="ru-RU" sz="15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299.</a:t>
              </a:r>
              <a:endParaRPr lang="ru-RU" sz="15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B185DED-EB1F-9469-1119-C580697FC1EE}"/>
                </a:ext>
              </a:extLst>
            </p:cNvPr>
            <p:cNvSpPr txBox="1"/>
            <p:nvPr/>
          </p:nvSpPr>
          <p:spPr>
            <a:xfrm>
              <a:off x="1406586" y="4788442"/>
              <a:ext cx="2977089" cy="6987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Оставить выбросы как экстремальные случаи</a:t>
              </a:r>
              <a:endParaRPr lang="ru-RU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E4881A6-33E1-29A3-B7CD-B3FE6226344B}"/>
                </a:ext>
              </a:extLst>
            </p:cNvPr>
            <p:cNvSpPr txBox="1"/>
            <p:nvPr/>
          </p:nvSpPr>
          <p:spPr>
            <a:xfrm>
              <a:off x="4564086" y="4848782"/>
              <a:ext cx="354940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–"/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Использовать все признаки для</a:t>
              </a:r>
            </a:p>
            <a:p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построения ИИ-модели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BFFD94BA-2E13-ED49-65BF-3E3E5DFCB295}"/>
                </a:ext>
              </a:extLst>
            </p:cNvPr>
            <p:cNvSpPr txBox="1"/>
            <p:nvPr/>
          </p:nvSpPr>
          <p:spPr>
            <a:xfrm>
              <a:off x="8876295" y="4789078"/>
              <a:ext cx="2989310" cy="1088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Применить </a:t>
              </a:r>
              <a:r>
                <a:rPr lang="ru-RU" sz="15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StandardScaler</a:t>
              </a:r>
              <a:r>
                <a:rPr lang="ru-RU" sz="1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для приведения всех числовых признаков к единому масштабу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891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8D1B4-355F-7C0C-FAFD-A8AE81602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BCBDEAA-5C40-3A14-9CB2-545F42FBC9E6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24277-DB8D-5265-DE81-443799EFA9AC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Табличные данные: выводы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267CFD4A-F375-B4A5-3D8D-70A749DD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8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641506-8005-1CC4-A406-75442B966B27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E536413B-A8A1-0B0D-C9BB-1FBD335FFF1E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5ADBD-A777-55B9-B566-1651CE69CBDA}"/>
              </a:ext>
            </a:extLst>
          </p:cNvPr>
          <p:cNvSpPr txBox="1"/>
          <p:nvPr/>
        </p:nvSpPr>
        <p:spPr>
          <a:xfrm>
            <a:off x="420915" y="1350346"/>
            <a:ext cx="11437256" cy="4109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Пригодность:</a:t>
            </a:r>
            <a:r>
              <a:rPr lang="ru-RU" sz="16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Набор данных полностью пригоден для прогнозирования уровня стресса, качества сна и умственной усталости. Пропуски и дубликаты отсутствуют, выбросы единичны, категории почти сбалансированы, нужно учесть дисбаланс пола</a:t>
            </a:r>
            <a:r>
              <a:rPr lang="en-CA" sz="1600" dirty="0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 обучении. Данные не требуют трудоёмкой предварительной очистки. Единственное ограничение синтетическая природа данных, которая может затруднить перенос результатов на реальные данные.</a:t>
            </a:r>
          </a:p>
          <a:p>
            <a:pPr algn="l">
              <a:lnSpc>
                <a:spcPct val="150000"/>
              </a:lnSpc>
              <a:buNone/>
            </a:pPr>
            <a:endParaRPr lang="ru-RU" sz="1600" b="0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Рекомендации по предварительной обработке перед построением модели:</a:t>
            </a:r>
            <a:endParaRPr lang="ru-RU" sz="1600" dirty="0">
              <a:solidFill>
                <a:srgbClr val="F9FA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85750" algn="l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Применить стандартизацию (</a:t>
            </a:r>
            <a:r>
              <a:rPr lang="ru-RU" sz="1600" b="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StandardScaler</a:t>
            </a:r>
            <a:r>
              <a:rPr lang="ru-RU" sz="16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для приведения всех числовых признаков к единому масштабу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Закодировать категориальные признаки: </a:t>
            </a:r>
            <a:r>
              <a:rPr lang="ru-RU" sz="1600" dirty="0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 – Label </a:t>
            </a:r>
            <a:r>
              <a:rPr lang="ru-RU" sz="1600" b="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Encoding</a:t>
            </a:r>
            <a:r>
              <a:rPr lang="ru-RU" sz="16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600" dirty="0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профессию – </a:t>
            </a:r>
            <a:r>
              <a:rPr lang="ru-RU" sz="16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One-Hot </a:t>
            </a:r>
            <a:r>
              <a:rPr lang="ru-RU" sz="1600" b="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Encoding</a:t>
            </a:r>
            <a:endParaRPr lang="ru-RU" sz="1600" dirty="0">
              <a:solidFill>
                <a:srgbClr val="F9FA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85750" algn="l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Разделить выборку: 70% обучение, 15% валидация, 15% тест</a:t>
            </a:r>
          </a:p>
          <a:p>
            <a:pPr indent="-285750" algn="l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Использовать наиболее значимые признаки: экранное время, физическая активность, кофеин, умственная усталость</a:t>
            </a:r>
          </a:p>
        </p:txBody>
      </p:sp>
    </p:spTree>
    <p:extLst>
      <p:ext uri="{BB962C8B-B14F-4D97-AF65-F5344CB8AC3E}">
        <p14:creationId xmlns:p14="http://schemas.microsoft.com/office/powerpoint/2010/main" val="2885278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D4EAE-A0C0-3B24-1DAE-A61C20125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5952CB0-3379-93F5-2A46-01D9DAFD553A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5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1B64C1-FCE7-C459-06BE-0463AA93B683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Временные ряды: задача и описание данных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D897D769-D1FF-83EA-44CE-47827BBEED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9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B52BDEA-5CBC-6E13-4C32-C1A9DB11BE1F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77CEDAA1-6CA7-5B77-997B-DC1DA7DBA1D3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62D16A-8050-CAB0-FE6F-B14D5F7DA86A}"/>
              </a:ext>
            </a:extLst>
          </p:cNvPr>
          <p:cNvSpPr txBox="1"/>
          <p:nvPr/>
        </p:nvSpPr>
        <p:spPr>
          <a:xfrm>
            <a:off x="445658" y="937951"/>
            <a:ext cx="11300668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Задача: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Обнаружение аномалий (точечных выбросов </a:t>
            </a:r>
          </a:p>
          <a:p>
            <a:pPr algn="just">
              <a:lnSpc>
                <a:spcPct val="150000"/>
              </a:lnSpc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 коллективных изменений режима) в работе насосной </a:t>
            </a:r>
          </a:p>
          <a:p>
            <a:pPr algn="just">
              <a:lnSpc>
                <a:spcPct val="150000"/>
              </a:lnSpc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системы по показаниям датчиков</a:t>
            </a:r>
          </a:p>
          <a:p>
            <a:pPr algn="just">
              <a:lnSpc>
                <a:spcPct val="150000"/>
              </a:lnSpc>
            </a:pP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Набор данных:</a:t>
            </a:r>
            <a:endParaRPr lang="ru-RU" sz="2000" b="0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2" indent="-28575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Название, источник: SKAB (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Skoltech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Anomaly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2" algn="just">
              <a:lnSpc>
                <a:spcPct val="150000"/>
              </a:lnSpc>
            </a:pPr>
            <a:r>
              <a:rPr lang="ru-RU" sz="2000" b="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Benchmark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v0.9,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Kaggle</a:t>
            </a:r>
            <a:endParaRPr lang="ru-RU" sz="2000" b="0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2" indent="-28575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URL: </a:t>
            </a:r>
            <a:r>
              <a:rPr lang="ru-RU" sz="2000" b="0" i="0" u="none" strike="noStrike" dirty="0">
                <a:solidFill>
                  <a:srgbClr val="679E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https://www.kaggle.com/datasets/yuriykatser/skoltech-anomaly-benchmark-skab</a:t>
            </a:r>
            <a:endParaRPr lang="ru-RU" sz="2000" b="0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2" indent="-28575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Авторы: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Iurii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D.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Katser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Vyacheslav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O.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Kozitsin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Сколтех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2020 г.</a:t>
            </a:r>
          </a:p>
          <a:p>
            <a:pPr marL="742950" lvl="2" indent="-28575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Описание: показания 8 датчиков с испытательного стенда насоса</a:t>
            </a:r>
          </a:p>
          <a:p>
            <a:pPr marL="742950" lvl="2" indent="-28575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Размерность: 46 860 строк, 8 каналов, 35 экспериментов</a:t>
            </a:r>
          </a:p>
          <a:p>
            <a:pPr marL="742950" lvl="2" indent="-28575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Целевые признаки: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anomaly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(точечная аномалия),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changepoint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(смена режима)</a:t>
            </a:r>
            <a:endParaRPr lang="ru-RU" b="0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 descr="Насосы">
            <a:extLst>
              <a:ext uri="{FF2B5EF4-FFF2-40B4-BE49-F238E27FC236}">
                <a16:creationId xmlns:a16="http://schemas.microsoft.com/office/drawing/2014/main" id="{F6C4B987-2D6D-F036-5106-E0CDD1D42A2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rcRect l="40074" t="-2356" r="14944" b="2356"/>
          <a:stretch>
            <a:fillRect/>
          </a:stretch>
        </p:blipFill>
        <p:spPr>
          <a:xfrm>
            <a:off x="8147693" y="937951"/>
            <a:ext cx="3598633" cy="2444865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4007069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29133-783F-9A26-6D8A-18151A770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F1D1E22-6382-1334-8904-94506F4CD378}"/>
              </a:ext>
            </a:extLst>
          </p:cNvPr>
          <p:cNvSpPr/>
          <p:nvPr/>
        </p:nvSpPr>
        <p:spPr>
          <a:xfrm>
            <a:off x="-24674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44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746001-2B14-330C-C584-F43E1AADC59F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Временные ряды: атрибуты</a:t>
            </a: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4A25CE2F-3BAE-0BF8-0949-697A13ECC5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10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5E5147A-E287-F316-5172-C42E88A58647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190E522F-D9CE-63B0-A522-626F24B90BB6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8F84A75A-F935-3312-4FB0-7CEC40560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043216"/>
              </p:ext>
            </p:extLst>
          </p:nvPr>
        </p:nvGraphicFramePr>
        <p:xfrm>
          <a:off x="331379" y="957943"/>
          <a:ext cx="5585899" cy="52016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0756">
                  <a:extLst>
                    <a:ext uri="{9D8B030D-6E8A-4147-A177-3AD203B41FA5}">
                      <a16:colId xmlns:a16="http://schemas.microsoft.com/office/drawing/2014/main" val="1015900073"/>
                    </a:ext>
                  </a:extLst>
                </a:gridCol>
                <a:gridCol w="1379131">
                  <a:extLst>
                    <a:ext uri="{9D8B030D-6E8A-4147-A177-3AD203B41FA5}">
                      <a16:colId xmlns:a16="http://schemas.microsoft.com/office/drawing/2014/main" val="452573460"/>
                    </a:ext>
                  </a:extLst>
                </a:gridCol>
                <a:gridCol w="1915886">
                  <a:extLst>
                    <a:ext uri="{9D8B030D-6E8A-4147-A177-3AD203B41FA5}">
                      <a16:colId xmlns:a16="http://schemas.microsoft.com/office/drawing/2014/main" val="2242938945"/>
                    </a:ext>
                  </a:extLst>
                </a:gridCol>
                <a:gridCol w="1121877">
                  <a:extLst>
                    <a:ext uri="{9D8B030D-6E8A-4147-A177-3AD203B41FA5}">
                      <a16:colId xmlns:a16="http://schemas.microsoft.com/office/drawing/2014/main" val="3697788141"/>
                    </a:ext>
                  </a:extLst>
                </a:gridCol>
                <a:gridCol w="808249">
                  <a:extLst>
                    <a:ext uri="{9D8B030D-6E8A-4147-A177-3AD203B41FA5}">
                      <a16:colId xmlns:a16="http://schemas.microsoft.com/office/drawing/2014/main" val="138882774"/>
                    </a:ext>
                  </a:extLst>
                </a:gridCol>
              </a:tblGrid>
              <a:tr h="64785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</a:p>
                  </a:txBody>
                  <a:tcPr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Название</a:t>
                      </a: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Семантика</a:t>
                      </a: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</a:t>
                      </a: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Ед. изм.</a:t>
                      </a: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554565"/>
                  </a:ext>
                </a:extLst>
              </a:tr>
              <a:tr h="8871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Accelero</a:t>
                      </a:r>
                      <a:endParaRPr lang="ru-RU" sz="14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meter1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RMS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Виброускорение, 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датчик 1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числовой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marL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226786"/>
                  </a:ext>
                </a:extLst>
              </a:tr>
              <a:tr h="8871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Accelero</a:t>
                      </a:r>
                      <a:endParaRPr lang="ru-RU" sz="14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meter2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RMS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Виброускорение, 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датчик 2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числовой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68196"/>
                  </a:ext>
                </a:extLst>
              </a:tr>
              <a:tr h="100380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Ток электродвигателя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числовой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573889"/>
                  </a:ext>
                </a:extLst>
              </a:tr>
              <a:tr h="93507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Pressure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Давление после насоса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числовой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бар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517128"/>
                  </a:ext>
                </a:extLst>
              </a:tr>
              <a:tr h="82051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Temperature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Температура корпуса двигателя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числовой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°C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698193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D560D116-FFBB-CA2F-2281-AAD72B925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724204"/>
              </p:ext>
            </p:extLst>
          </p:nvPr>
        </p:nvGraphicFramePr>
        <p:xfrm>
          <a:off x="6209121" y="957943"/>
          <a:ext cx="5651500" cy="519611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5508">
                  <a:extLst>
                    <a:ext uri="{9D8B030D-6E8A-4147-A177-3AD203B41FA5}">
                      <a16:colId xmlns:a16="http://schemas.microsoft.com/office/drawing/2014/main" val="586533814"/>
                    </a:ext>
                  </a:extLst>
                </a:gridCol>
                <a:gridCol w="1204685">
                  <a:extLst>
                    <a:ext uri="{9D8B030D-6E8A-4147-A177-3AD203B41FA5}">
                      <a16:colId xmlns:a16="http://schemas.microsoft.com/office/drawing/2014/main" val="3895204415"/>
                    </a:ext>
                  </a:extLst>
                </a:gridCol>
                <a:gridCol w="1654629">
                  <a:extLst>
                    <a:ext uri="{9D8B030D-6E8A-4147-A177-3AD203B41FA5}">
                      <a16:colId xmlns:a16="http://schemas.microsoft.com/office/drawing/2014/main" val="4246933073"/>
                    </a:ext>
                  </a:extLst>
                </a:gridCol>
                <a:gridCol w="1314178">
                  <a:extLst>
                    <a:ext uri="{9D8B030D-6E8A-4147-A177-3AD203B41FA5}">
                      <a16:colId xmlns:a16="http://schemas.microsoft.com/office/drawing/2014/main" val="411755616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035850811"/>
                    </a:ext>
                  </a:extLst>
                </a:gridCol>
              </a:tblGrid>
              <a:tr h="15385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Thermocouple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Температура жидкости в контуре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числовой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°C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802282"/>
                  </a:ext>
                </a:extLst>
              </a:tr>
              <a:tr h="89988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R="152400" marT="95250" marB="9525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Voltage</a:t>
                      </a:r>
                      <a:endParaRPr lang="ru-RU" sz="16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Напряжение на двигателе</a:t>
                      </a:r>
                    </a:p>
                  </a:txBody>
                  <a:tcPr marL="152400" marR="152400" marT="95250" marB="9525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числовой</a:t>
                      </a:r>
                    </a:p>
                  </a:txBody>
                  <a:tcPr marL="152400" marR="152400" marT="95250" marB="9525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</a:t>
                      </a:r>
                    </a:p>
                  </a:txBody>
                  <a:tcPr marL="152400" marT="95250" marB="9525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519303"/>
                  </a:ext>
                </a:extLst>
              </a:tr>
              <a:tr h="100148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Volume Flow RateRMS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Скорость потока жидкости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числовой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л/мин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397231"/>
                  </a:ext>
                </a:extLst>
              </a:tr>
              <a:tr h="9579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anomaly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Метка точечной аномалии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целевой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0/1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077848"/>
                  </a:ext>
                </a:extLst>
              </a:tr>
              <a:tr h="79828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ru-RU" sz="16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hange</a:t>
                      </a:r>
                      <a:endParaRPr lang="ru-RU" sz="16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point</a:t>
                      </a:r>
                      <a:endParaRPr lang="ru-RU" sz="16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Метка смены режима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целевой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0/1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439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408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614AA-496E-8CB3-E09B-C24519CDB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9CBDC89-5566-62E1-9681-907E3B8407A0}"/>
              </a:ext>
            </a:extLst>
          </p:cNvPr>
          <p:cNvSpPr/>
          <p:nvPr/>
        </p:nvSpPr>
        <p:spPr>
          <a:xfrm>
            <a:off x="-246750" y="-137886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38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81D85D7-059A-938D-5E0E-10728AA71FAC}"/>
              </a:ext>
            </a:extLst>
          </p:cNvPr>
          <p:cNvSpPr/>
          <p:nvPr/>
        </p:nvSpPr>
        <p:spPr>
          <a:xfrm>
            <a:off x="-246746" y="-220648"/>
            <a:ext cx="12685487" cy="131284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43000">
                <a:schemeClr val="tx2">
                  <a:lumMod val="90000"/>
                  <a:lumOff val="10000"/>
                </a:schemeClr>
              </a:gs>
            </a:gsLst>
            <a:lin ang="138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D4F702-1C42-01C1-AA63-812A2ABB2857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Временные ряды: визуализация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419F66F1-1409-14F0-CBC1-8743771D8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11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30D15FA-EC8F-D860-1001-F1B2AC31F8D9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F1B43CAD-0BAD-7352-4CE7-24A13EF83A1F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32584099-FDCA-B7D5-6D54-793C3AA6E56F}"/>
              </a:ext>
            </a:extLst>
          </p:cNvPr>
          <p:cNvGrpSpPr/>
          <p:nvPr/>
        </p:nvGrpSpPr>
        <p:grpSpPr>
          <a:xfrm>
            <a:off x="651247" y="895020"/>
            <a:ext cx="5203453" cy="4616100"/>
            <a:chOff x="828968" y="1125306"/>
            <a:chExt cx="5434711" cy="4821254"/>
          </a:xfrm>
        </p:grpSpPr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FC5F482F-2DFB-7AF4-229E-698C1404D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730" t="-5" r="-35" b="-5"/>
            <a:stretch>
              <a:fillRect/>
            </a:stretch>
          </p:blipFill>
          <p:spPr>
            <a:xfrm>
              <a:off x="3449894" y="1139550"/>
              <a:ext cx="2813785" cy="4807010"/>
            </a:xfrm>
            <a:prstGeom prst="rect">
              <a:avLst/>
            </a:prstGeom>
            <a:effectLst>
              <a:softEdge rad="63500"/>
            </a:effectLst>
          </p:spPr>
        </p:pic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8CA50DC4-E1D1-38C4-27F8-1C4416D7A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02" t="-356" r="77897" b="347"/>
            <a:stretch>
              <a:fillRect/>
            </a:stretch>
          </p:blipFill>
          <p:spPr>
            <a:xfrm>
              <a:off x="828968" y="1125306"/>
              <a:ext cx="2813785" cy="4807010"/>
            </a:xfrm>
            <a:prstGeom prst="rect">
              <a:avLst/>
            </a:prstGeom>
            <a:effectLst>
              <a:softEdge rad="63500"/>
            </a:effectLst>
          </p:spPr>
        </p:pic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5E7BE31E-A7DE-3764-2E7E-BB98AF98B066}"/>
                </a:ext>
              </a:extLst>
            </p:cNvPr>
            <p:cNvCxnSpPr>
              <a:cxnSpLocks/>
            </p:cNvCxnSpPr>
            <p:nvPr/>
          </p:nvCxnSpPr>
          <p:spPr>
            <a:xfrm>
              <a:off x="3582874" y="1182786"/>
              <a:ext cx="0" cy="4737263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Левая фигурная скобка 28">
            <a:extLst>
              <a:ext uri="{FF2B5EF4-FFF2-40B4-BE49-F238E27FC236}">
                <a16:creationId xmlns:a16="http://schemas.microsoft.com/office/drawing/2014/main" id="{91C659CE-94DA-D4A3-A952-BB16791ADCAB}"/>
              </a:ext>
            </a:extLst>
          </p:cNvPr>
          <p:cNvSpPr/>
          <p:nvPr/>
        </p:nvSpPr>
        <p:spPr>
          <a:xfrm rot="16200000">
            <a:off x="3347575" y="3334795"/>
            <a:ext cx="370150" cy="4571306"/>
          </a:xfrm>
          <a:prstGeom prst="leftBrac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Левая фигурная скобка 30">
            <a:extLst>
              <a:ext uri="{FF2B5EF4-FFF2-40B4-BE49-F238E27FC236}">
                <a16:creationId xmlns:a16="http://schemas.microsoft.com/office/drawing/2014/main" id="{905B876B-01A7-118A-C613-CCD069E29EED}"/>
              </a:ext>
            </a:extLst>
          </p:cNvPr>
          <p:cNvSpPr/>
          <p:nvPr/>
        </p:nvSpPr>
        <p:spPr>
          <a:xfrm>
            <a:off x="421734" y="1037251"/>
            <a:ext cx="346769" cy="4207850"/>
          </a:xfrm>
          <a:prstGeom prst="leftBrac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7EB4F3-EA2C-4E99-25B7-7391CE062E23}"/>
              </a:ext>
            </a:extLst>
          </p:cNvPr>
          <p:cNvSpPr txBox="1"/>
          <p:nvPr/>
        </p:nvSpPr>
        <p:spPr>
          <a:xfrm rot="16200000">
            <a:off x="-1103307" y="3017839"/>
            <a:ext cx="2611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измерений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8B681B-7D17-703E-86D6-04C38A5D3718}"/>
              </a:ext>
            </a:extLst>
          </p:cNvPr>
          <p:cNvSpPr txBox="1"/>
          <p:nvPr/>
        </p:nvSpPr>
        <p:spPr>
          <a:xfrm>
            <a:off x="2227094" y="5739442"/>
            <a:ext cx="2611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2 208 значений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655BBA-9AF4-FD6F-0657-B44D4B28ABB5}"/>
              </a:ext>
            </a:extLst>
          </p:cNvPr>
          <p:cNvSpPr txBox="1"/>
          <p:nvPr/>
        </p:nvSpPr>
        <p:spPr>
          <a:xfrm>
            <a:off x="5856013" y="1037250"/>
            <a:ext cx="5981378" cy="4490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2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Accelerometer1RMS, Accelerometer2RMS: резкие скачки при включении насоса – нормальная реакция на запуск двигателя</a:t>
            </a:r>
          </a:p>
          <a:p>
            <a:pPr algn="just">
              <a:lnSpc>
                <a:spcPct val="150000"/>
              </a:lnSpc>
            </a:pPr>
            <a:endParaRPr lang="ru-RU" sz="1200" b="1" dirty="0">
              <a:solidFill>
                <a:srgbClr val="F9FA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ru-RU" sz="1200" b="1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2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Ток: рост тока при включении (до 243 А) – пусковые токи электродвигателя, закономерное явление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2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Давление: скачки давления при запуске, отрицательные </a:t>
            </a:r>
            <a:r>
              <a:rPr lang="ru-RU" sz="1200" b="1" dirty="0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значения – </a:t>
            </a:r>
            <a:r>
              <a:rPr lang="ru-RU" sz="12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кавитация при закрытии клапанов (целевая аномалия)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2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Температура двигателя: падение температуры за 6 часов – остывание двигателя;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2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температура жидкости</a:t>
            </a:r>
            <a:r>
              <a:rPr lang="ru-RU" sz="1200" b="1" dirty="0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падение температуры – </a:t>
            </a:r>
            <a:r>
              <a:rPr lang="ru-RU" sz="12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остывание жидкости в контуре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2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Напряжение: просадки при росте тока – реакция на нагрузку; стабильно при выключенном насосе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2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Скорость потока: не стабилен при включении </a:t>
            </a:r>
            <a:r>
              <a:rPr lang="ru-RU" sz="1200" b="1" dirty="0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выключении насоса; </a:t>
            </a:r>
            <a:r>
              <a:rPr lang="ru-RU" sz="12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работе </a:t>
            </a:r>
            <a:r>
              <a:rPr lang="ru-RU" sz="1200" b="1" dirty="0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стабилен – циклический </a:t>
            </a:r>
            <a:r>
              <a:rPr lang="ru-RU" sz="12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режим работы насоса</a:t>
            </a:r>
            <a:endParaRPr lang="ru-RU" sz="1200" b="0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101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E50B5-CD56-45FF-6B6E-A9956607F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85C89A8-068A-DC9E-5D82-A9BB72BDD2D0}"/>
              </a:ext>
            </a:extLst>
          </p:cNvPr>
          <p:cNvSpPr/>
          <p:nvPr/>
        </p:nvSpPr>
        <p:spPr>
          <a:xfrm>
            <a:off x="-22769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32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4E17A369-1C48-6ED4-4A56-293EEED1444A}"/>
              </a:ext>
            </a:extLst>
          </p:cNvPr>
          <p:cNvGrpSpPr/>
          <p:nvPr/>
        </p:nvGrpSpPr>
        <p:grpSpPr>
          <a:xfrm>
            <a:off x="8379802" y="-1343198"/>
            <a:ext cx="4125183" cy="3903766"/>
            <a:chOff x="8597992" y="-1343198"/>
            <a:chExt cx="4125183" cy="3903766"/>
          </a:xfrm>
        </p:grpSpPr>
        <p:grpSp>
          <p:nvGrpSpPr>
            <p:cNvPr id="95" name="Группа 94">
              <a:extLst>
                <a:ext uri="{FF2B5EF4-FFF2-40B4-BE49-F238E27FC236}">
                  <a16:creationId xmlns:a16="http://schemas.microsoft.com/office/drawing/2014/main" id="{CCFC28BF-B64D-7F6A-D5EE-C3D1F979ED39}"/>
                </a:ext>
              </a:extLst>
            </p:cNvPr>
            <p:cNvGrpSpPr/>
            <p:nvPr/>
          </p:nvGrpSpPr>
          <p:grpSpPr>
            <a:xfrm>
              <a:off x="8670670" y="-1343198"/>
              <a:ext cx="3903766" cy="3903766"/>
              <a:chOff x="8746731" y="-1343198"/>
              <a:chExt cx="3903766" cy="3903766"/>
            </a:xfrm>
          </p:grpSpPr>
          <p:grpSp>
            <p:nvGrpSpPr>
              <p:cNvPr id="63" name="Группа 62">
                <a:extLst>
                  <a:ext uri="{FF2B5EF4-FFF2-40B4-BE49-F238E27FC236}">
                    <a16:creationId xmlns:a16="http://schemas.microsoft.com/office/drawing/2014/main" id="{07CA9651-DCE3-D798-E840-AF4198D18FD2}"/>
                  </a:ext>
                </a:extLst>
              </p:cNvPr>
              <p:cNvGrpSpPr/>
              <p:nvPr/>
            </p:nvGrpSpPr>
            <p:grpSpPr>
              <a:xfrm>
                <a:off x="8746731" y="-1343198"/>
                <a:ext cx="3903766" cy="3903766"/>
                <a:chOff x="152400" y="1057655"/>
                <a:chExt cx="3903766" cy="3903766"/>
              </a:xfrm>
            </p:grpSpPr>
            <p:sp>
              <p:nvSpPr>
                <p:cNvPr id="64" name="Полилиния: фигура 63">
                  <a:extLst>
                    <a:ext uri="{FF2B5EF4-FFF2-40B4-BE49-F238E27FC236}">
                      <a16:creationId xmlns:a16="http://schemas.microsoft.com/office/drawing/2014/main" id="{2657C56A-991A-25D7-16B5-C6236BE4D588}"/>
                    </a:ext>
                  </a:extLst>
                </p:cNvPr>
                <p:cNvSpPr/>
                <p:nvPr/>
              </p:nvSpPr>
              <p:spPr>
                <a:xfrm>
                  <a:off x="152400" y="1057655"/>
                  <a:ext cx="3903766" cy="3903766"/>
                </a:xfrm>
                <a:custGeom>
                  <a:avLst/>
                  <a:gdLst>
                    <a:gd name="csX0" fmla="*/ 2492829 w 4985658"/>
                    <a:gd name="csY0" fmla="*/ 1240972 h 4985658"/>
                    <a:gd name="csX1" fmla="*/ 1240972 w 4985658"/>
                    <a:gd name="csY1" fmla="*/ 2492829 h 4985658"/>
                    <a:gd name="csX2" fmla="*/ 2492829 w 4985658"/>
                    <a:gd name="csY2" fmla="*/ 3744686 h 4985658"/>
                    <a:gd name="csX3" fmla="*/ 3744686 w 4985658"/>
                    <a:gd name="csY3" fmla="*/ 2492829 h 4985658"/>
                    <a:gd name="csX4" fmla="*/ 2492829 w 4985658"/>
                    <a:gd name="csY4" fmla="*/ 1240972 h 4985658"/>
                    <a:gd name="csX5" fmla="*/ 2492829 w 4985658"/>
                    <a:gd name="csY5" fmla="*/ 0 h 4985658"/>
                    <a:gd name="csX6" fmla="*/ 4985658 w 4985658"/>
                    <a:gd name="csY6" fmla="*/ 2492829 h 4985658"/>
                    <a:gd name="csX7" fmla="*/ 2492829 w 4985658"/>
                    <a:gd name="csY7" fmla="*/ 4985658 h 4985658"/>
                    <a:gd name="csX8" fmla="*/ 0 w 4985658"/>
                    <a:gd name="csY8" fmla="*/ 2492829 h 4985658"/>
                    <a:gd name="csX9" fmla="*/ 2492829 w 4985658"/>
                    <a:gd name="csY9" fmla="*/ 0 h 4985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4985658" h="4985658">
                      <a:moveTo>
                        <a:pt x="2492829" y="1240972"/>
                      </a:moveTo>
                      <a:cubicBezTo>
                        <a:pt x="1801447" y="1240972"/>
                        <a:pt x="1240972" y="1801447"/>
                        <a:pt x="1240972" y="2492829"/>
                      </a:cubicBezTo>
                      <a:cubicBezTo>
                        <a:pt x="1240972" y="3184211"/>
                        <a:pt x="1801447" y="3744686"/>
                        <a:pt x="2492829" y="3744686"/>
                      </a:cubicBezTo>
                      <a:cubicBezTo>
                        <a:pt x="3184211" y="3744686"/>
                        <a:pt x="3744686" y="3184211"/>
                        <a:pt x="3744686" y="2492829"/>
                      </a:cubicBezTo>
                      <a:cubicBezTo>
                        <a:pt x="3744686" y="1801447"/>
                        <a:pt x="3184211" y="1240972"/>
                        <a:pt x="2492829" y="1240972"/>
                      </a:cubicBezTo>
                      <a:close/>
                      <a:moveTo>
                        <a:pt x="2492829" y="0"/>
                      </a:moveTo>
                      <a:cubicBezTo>
                        <a:pt x="3869580" y="0"/>
                        <a:pt x="4985658" y="1116078"/>
                        <a:pt x="4985658" y="2492829"/>
                      </a:cubicBezTo>
                      <a:cubicBezTo>
                        <a:pt x="4985658" y="3869580"/>
                        <a:pt x="3869580" y="4985658"/>
                        <a:pt x="2492829" y="4985658"/>
                      </a:cubicBezTo>
                      <a:cubicBezTo>
                        <a:pt x="1116078" y="4985658"/>
                        <a:pt x="0" y="3869580"/>
                        <a:pt x="0" y="2492829"/>
                      </a:cubicBezTo>
                      <a:cubicBezTo>
                        <a:pt x="0" y="1116078"/>
                        <a:pt x="1116078" y="0"/>
                        <a:pt x="2492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75000">
                      <a:srgbClr val="122639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44000">
                      <a:schemeClr val="tx2">
                        <a:lumMod val="90000"/>
                        <a:lumOff val="10000"/>
                      </a:schemeClr>
                    </a:gs>
                  </a:gsLst>
                  <a:lin ang="12600000" scaled="0"/>
                </a:gra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ru-RU" dirty="0"/>
                </a:p>
              </p:txBody>
            </p:sp>
            <p:grpSp>
              <p:nvGrpSpPr>
                <p:cNvPr id="65" name="Группа 64">
                  <a:extLst>
                    <a:ext uri="{FF2B5EF4-FFF2-40B4-BE49-F238E27FC236}">
                      <a16:creationId xmlns:a16="http://schemas.microsoft.com/office/drawing/2014/main" id="{DD713662-6D05-3DF9-9289-5155D712F08A}"/>
                    </a:ext>
                  </a:extLst>
                </p:cNvPr>
                <p:cNvGrpSpPr/>
                <p:nvPr/>
              </p:nvGrpSpPr>
              <p:grpSpPr>
                <a:xfrm>
                  <a:off x="3084486" y="2719153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9" name="Прямая соединительная линия 68">
                    <a:extLst>
                      <a:ext uri="{FF2B5EF4-FFF2-40B4-BE49-F238E27FC236}">
                        <a16:creationId xmlns:a16="http://schemas.microsoft.com/office/drawing/2014/main" id="{AF526F84-6B26-891C-83C8-25F1F71178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Прямая соединительная линия 69">
                    <a:extLst>
                      <a:ext uri="{FF2B5EF4-FFF2-40B4-BE49-F238E27FC236}">
                        <a16:creationId xmlns:a16="http://schemas.microsoft.com/office/drawing/2014/main" id="{DD1049F7-692F-D076-F165-758967DFE8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6" name="Группа 65">
                  <a:extLst>
                    <a:ext uri="{FF2B5EF4-FFF2-40B4-BE49-F238E27FC236}">
                      <a16:creationId xmlns:a16="http://schemas.microsoft.com/office/drawing/2014/main" id="{EB9F9B15-84EA-46A0-2296-A1B5AC65610D}"/>
                    </a:ext>
                  </a:extLst>
                </p:cNvPr>
                <p:cNvGrpSpPr/>
                <p:nvPr/>
              </p:nvGrpSpPr>
              <p:grpSpPr>
                <a:xfrm rot="10800000">
                  <a:off x="152400" y="3035177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7" name="Прямая соединительная линия 66">
                    <a:extLst>
                      <a:ext uri="{FF2B5EF4-FFF2-40B4-BE49-F238E27FC236}">
                        <a16:creationId xmlns:a16="http://schemas.microsoft.com/office/drawing/2014/main" id="{0CE104F7-35FB-CEAF-AE36-BC1ADAB493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Прямая соединительная линия 67">
                    <a:extLst>
                      <a:ext uri="{FF2B5EF4-FFF2-40B4-BE49-F238E27FC236}">
                        <a16:creationId xmlns:a16="http://schemas.microsoft.com/office/drawing/2014/main" id="{DF98E6E3-C521-C574-32A1-BDB84A2CAD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78677D2-039C-15EA-1E9C-E9CEC232D410}"/>
                  </a:ext>
                </a:extLst>
              </p:cNvPr>
              <p:cNvSpPr txBox="1"/>
              <p:nvPr/>
            </p:nvSpPr>
            <p:spPr>
              <a:xfrm>
                <a:off x="9256187" y="1628588"/>
                <a:ext cx="29609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3. Проверка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на диапазоны 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значений</a:t>
                </a:r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8065BAD-E35E-1C4B-951B-A7DB5A42BB02}"/>
                </a:ext>
              </a:extLst>
            </p:cNvPr>
            <p:cNvSpPr txBox="1"/>
            <p:nvPr/>
          </p:nvSpPr>
          <p:spPr>
            <a:xfrm rot="10800000">
              <a:off x="8597992" y="-1050811"/>
              <a:ext cx="412518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Шаг 6. Поиск </a:t>
              </a:r>
            </a:p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 анализ шумов</a:t>
              </a:r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79E57268-A296-55FF-E1A4-54D9C6C207A6}"/>
              </a:ext>
            </a:extLst>
          </p:cNvPr>
          <p:cNvGrpSpPr/>
          <p:nvPr/>
        </p:nvGrpSpPr>
        <p:grpSpPr>
          <a:xfrm>
            <a:off x="4809846" y="-1343198"/>
            <a:ext cx="3922816" cy="3903766"/>
            <a:chOff x="5028036" y="-1343198"/>
            <a:chExt cx="3922816" cy="3903766"/>
          </a:xfrm>
        </p:grpSpPr>
        <p:grpSp>
          <p:nvGrpSpPr>
            <p:cNvPr id="89" name="Группа 88">
              <a:extLst>
                <a:ext uri="{FF2B5EF4-FFF2-40B4-BE49-F238E27FC236}">
                  <a16:creationId xmlns:a16="http://schemas.microsoft.com/office/drawing/2014/main" id="{BA731743-DA1E-DCD7-18F1-375CC8AA0897}"/>
                </a:ext>
              </a:extLst>
            </p:cNvPr>
            <p:cNvGrpSpPr/>
            <p:nvPr/>
          </p:nvGrpSpPr>
          <p:grpSpPr>
            <a:xfrm>
              <a:off x="5047086" y="-1343198"/>
              <a:ext cx="3903766" cy="3903766"/>
              <a:chOff x="5013346" y="-1343198"/>
              <a:chExt cx="3903766" cy="3903766"/>
            </a:xfrm>
          </p:grpSpPr>
          <p:grpSp>
            <p:nvGrpSpPr>
              <p:cNvPr id="55" name="Группа 54">
                <a:extLst>
                  <a:ext uri="{FF2B5EF4-FFF2-40B4-BE49-F238E27FC236}">
                    <a16:creationId xmlns:a16="http://schemas.microsoft.com/office/drawing/2014/main" id="{451DC59B-B372-6EAB-A4FA-4F748016D795}"/>
                  </a:ext>
                </a:extLst>
              </p:cNvPr>
              <p:cNvGrpSpPr/>
              <p:nvPr/>
            </p:nvGrpSpPr>
            <p:grpSpPr>
              <a:xfrm>
                <a:off x="5013346" y="-1343198"/>
                <a:ext cx="3903766" cy="3903766"/>
                <a:chOff x="152400" y="1057655"/>
                <a:chExt cx="3903766" cy="3903766"/>
              </a:xfrm>
            </p:grpSpPr>
            <p:sp>
              <p:nvSpPr>
                <p:cNvPr id="56" name="Полилиния: фигура 55">
                  <a:extLst>
                    <a:ext uri="{FF2B5EF4-FFF2-40B4-BE49-F238E27FC236}">
                      <a16:creationId xmlns:a16="http://schemas.microsoft.com/office/drawing/2014/main" id="{6273E29A-A8B9-810C-5950-B5CF3703DDB1}"/>
                    </a:ext>
                  </a:extLst>
                </p:cNvPr>
                <p:cNvSpPr/>
                <p:nvPr/>
              </p:nvSpPr>
              <p:spPr>
                <a:xfrm>
                  <a:off x="152400" y="1057655"/>
                  <a:ext cx="3903766" cy="3903766"/>
                </a:xfrm>
                <a:custGeom>
                  <a:avLst/>
                  <a:gdLst>
                    <a:gd name="csX0" fmla="*/ 2492829 w 4985658"/>
                    <a:gd name="csY0" fmla="*/ 1240972 h 4985658"/>
                    <a:gd name="csX1" fmla="*/ 1240972 w 4985658"/>
                    <a:gd name="csY1" fmla="*/ 2492829 h 4985658"/>
                    <a:gd name="csX2" fmla="*/ 2492829 w 4985658"/>
                    <a:gd name="csY2" fmla="*/ 3744686 h 4985658"/>
                    <a:gd name="csX3" fmla="*/ 3744686 w 4985658"/>
                    <a:gd name="csY3" fmla="*/ 2492829 h 4985658"/>
                    <a:gd name="csX4" fmla="*/ 2492829 w 4985658"/>
                    <a:gd name="csY4" fmla="*/ 1240972 h 4985658"/>
                    <a:gd name="csX5" fmla="*/ 2492829 w 4985658"/>
                    <a:gd name="csY5" fmla="*/ 0 h 4985658"/>
                    <a:gd name="csX6" fmla="*/ 4985658 w 4985658"/>
                    <a:gd name="csY6" fmla="*/ 2492829 h 4985658"/>
                    <a:gd name="csX7" fmla="*/ 2492829 w 4985658"/>
                    <a:gd name="csY7" fmla="*/ 4985658 h 4985658"/>
                    <a:gd name="csX8" fmla="*/ 0 w 4985658"/>
                    <a:gd name="csY8" fmla="*/ 2492829 h 4985658"/>
                    <a:gd name="csX9" fmla="*/ 2492829 w 4985658"/>
                    <a:gd name="csY9" fmla="*/ 0 h 4985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4985658" h="4985658">
                      <a:moveTo>
                        <a:pt x="2492829" y="1240972"/>
                      </a:moveTo>
                      <a:cubicBezTo>
                        <a:pt x="1801447" y="1240972"/>
                        <a:pt x="1240972" y="1801447"/>
                        <a:pt x="1240972" y="2492829"/>
                      </a:cubicBezTo>
                      <a:cubicBezTo>
                        <a:pt x="1240972" y="3184211"/>
                        <a:pt x="1801447" y="3744686"/>
                        <a:pt x="2492829" y="3744686"/>
                      </a:cubicBezTo>
                      <a:cubicBezTo>
                        <a:pt x="3184211" y="3744686"/>
                        <a:pt x="3744686" y="3184211"/>
                        <a:pt x="3744686" y="2492829"/>
                      </a:cubicBezTo>
                      <a:cubicBezTo>
                        <a:pt x="3744686" y="1801447"/>
                        <a:pt x="3184211" y="1240972"/>
                        <a:pt x="2492829" y="1240972"/>
                      </a:cubicBezTo>
                      <a:close/>
                      <a:moveTo>
                        <a:pt x="2492829" y="0"/>
                      </a:moveTo>
                      <a:cubicBezTo>
                        <a:pt x="3869580" y="0"/>
                        <a:pt x="4985658" y="1116078"/>
                        <a:pt x="4985658" y="2492829"/>
                      </a:cubicBezTo>
                      <a:cubicBezTo>
                        <a:pt x="4985658" y="3869580"/>
                        <a:pt x="3869580" y="4985658"/>
                        <a:pt x="2492829" y="4985658"/>
                      </a:cubicBezTo>
                      <a:cubicBezTo>
                        <a:pt x="1116078" y="4985658"/>
                        <a:pt x="0" y="3869580"/>
                        <a:pt x="0" y="2492829"/>
                      </a:cubicBezTo>
                      <a:cubicBezTo>
                        <a:pt x="0" y="1116078"/>
                        <a:pt x="1116078" y="0"/>
                        <a:pt x="2492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75000">
                      <a:srgbClr val="122639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44000">
                      <a:schemeClr val="tx2">
                        <a:lumMod val="90000"/>
                        <a:lumOff val="10000"/>
                      </a:schemeClr>
                    </a:gs>
                  </a:gsLst>
                  <a:lin ang="12600000" scaled="0"/>
                </a:gra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ru-RU" dirty="0"/>
                </a:p>
              </p:txBody>
            </p:sp>
            <p:grpSp>
              <p:nvGrpSpPr>
                <p:cNvPr id="57" name="Группа 56">
                  <a:extLst>
                    <a:ext uri="{FF2B5EF4-FFF2-40B4-BE49-F238E27FC236}">
                      <a16:creationId xmlns:a16="http://schemas.microsoft.com/office/drawing/2014/main" id="{70425E43-EDB3-7272-99BF-85755CD3C24B}"/>
                    </a:ext>
                  </a:extLst>
                </p:cNvPr>
                <p:cNvGrpSpPr/>
                <p:nvPr/>
              </p:nvGrpSpPr>
              <p:grpSpPr>
                <a:xfrm>
                  <a:off x="3084486" y="2719153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1" name="Прямая соединительная линия 60">
                    <a:extLst>
                      <a:ext uri="{FF2B5EF4-FFF2-40B4-BE49-F238E27FC236}">
                        <a16:creationId xmlns:a16="http://schemas.microsoft.com/office/drawing/2014/main" id="{10F24095-2639-DB0A-34E5-317D00664F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Прямая соединительная линия 61">
                    <a:extLst>
                      <a:ext uri="{FF2B5EF4-FFF2-40B4-BE49-F238E27FC236}">
                        <a16:creationId xmlns:a16="http://schemas.microsoft.com/office/drawing/2014/main" id="{DDAF6E12-78E7-E47E-E4AF-8AD78DF2A0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" name="Группа 57">
                  <a:extLst>
                    <a:ext uri="{FF2B5EF4-FFF2-40B4-BE49-F238E27FC236}">
                      <a16:creationId xmlns:a16="http://schemas.microsoft.com/office/drawing/2014/main" id="{DCD6676E-BE6A-33B1-2F31-32D2329B216F}"/>
                    </a:ext>
                  </a:extLst>
                </p:cNvPr>
                <p:cNvGrpSpPr/>
                <p:nvPr/>
              </p:nvGrpSpPr>
              <p:grpSpPr>
                <a:xfrm rot="10800000">
                  <a:off x="152400" y="3035177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59" name="Прямая соединительная линия 58">
                    <a:extLst>
                      <a:ext uri="{FF2B5EF4-FFF2-40B4-BE49-F238E27FC236}">
                        <a16:creationId xmlns:a16="http://schemas.microsoft.com/office/drawing/2014/main" id="{547ADF5E-09E3-2D46-4FFF-309AB44491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Прямая соединительная линия 59">
                    <a:extLst>
                      <a:ext uri="{FF2B5EF4-FFF2-40B4-BE49-F238E27FC236}">
                        <a16:creationId xmlns:a16="http://schemas.microsoft.com/office/drawing/2014/main" id="{291208F5-0C14-E469-E677-4A51F17442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4F7D342-92D8-AF36-47F3-B417EB77A1BA}"/>
                  </a:ext>
                </a:extLst>
              </p:cNvPr>
              <p:cNvSpPr txBox="1"/>
              <p:nvPr/>
            </p:nvSpPr>
            <p:spPr>
              <a:xfrm>
                <a:off x="5013346" y="1623950"/>
                <a:ext cx="390376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2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Корреляционный 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анализ</a:t>
                </a: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C894E1A-BDCA-E9BD-4658-615212DBF98F}"/>
                </a:ext>
              </a:extLst>
            </p:cNvPr>
            <p:cNvSpPr txBox="1"/>
            <p:nvPr/>
          </p:nvSpPr>
          <p:spPr>
            <a:xfrm rot="10800000">
              <a:off x="5028036" y="-1148940"/>
              <a:ext cx="390376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Шаг 5. Разложение на </a:t>
              </a:r>
            </a:p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компоненты</a:t>
              </a:r>
            </a:p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(декомпозиция)</a:t>
              </a:r>
            </a:p>
          </p:txBody>
        </p:sp>
      </p:grp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FED42F7D-80EF-35C7-9557-2B6F53CCF696}"/>
              </a:ext>
            </a:extLst>
          </p:cNvPr>
          <p:cNvGrpSpPr/>
          <p:nvPr/>
        </p:nvGrpSpPr>
        <p:grpSpPr>
          <a:xfrm>
            <a:off x="1150960" y="-1343198"/>
            <a:ext cx="3903766" cy="3903766"/>
            <a:chOff x="1208423" y="-1343198"/>
            <a:chExt cx="3903766" cy="3903766"/>
          </a:xfrm>
        </p:grpSpPr>
        <p:grpSp>
          <p:nvGrpSpPr>
            <p:cNvPr id="54" name="Группа 53">
              <a:extLst>
                <a:ext uri="{FF2B5EF4-FFF2-40B4-BE49-F238E27FC236}">
                  <a16:creationId xmlns:a16="http://schemas.microsoft.com/office/drawing/2014/main" id="{11454DB1-DF12-2163-AFC6-252194E0EC38}"/>
                </a:ext>
              </a:extLst>
            </p:cNvPr>
            <p:cNvGrpSpPr/>
            <p:nvPr/>
          </p:nvGrpSpPr>
          <p:grpSpPr>
            <a:xfrm>
              <a:off x="1208423" y="-1343198"/>
              <a:ext cx="3903766" cy="3903766"/>
              <a:chOff x="152400" y="1057655"/>
              <a:chExt cx="3903766" cy="3903766"/>
            </a:xfrm>
          </p:grpSpPr>
          <p:sp>
            <p:nvSpPr>
              <p:cNvPr id="9" name="Полилиния: фигура 8">
                <a:extLst>
                  <a:ext uri="{FF2B5EF4-FFF2-40B4-BE49-F238E27FC236}">
                    <a16:creationId xmlns:a16="http://schemas.microsoft.com/office/drawing/2014/main" id="{2D280C92-3CE5-51A2-C260-07C22F7B1FBF}"/>
                  </a:ext>
                </a:extLst>
              </p:cNvPr>
              <p:cNvSpPr/>
              <p:nvPr/>
            </p:nvSpPr>
            <p:spPr>
              <a:xfrm>
                <a:off x="152400" y="1057655"/>
                <a:ext cx="3903766" cy="3903766"/>
              </a:xfrm>
              <a:custGeom>
                <a:avLst/>
                <a:gdLst>
                  <a:gd name="csX0" fmla="*/ 2492829 w 4985658"/>
                  <a:gd name="csY0" fmla="*/ 1240972 h 4985658"/>
                  <a:gd name="csX1" fmla="*/ 1240972 w 4985658"/>
                  <a:gd name="csY1" fmla="*/ 2492829 h 4985658"/>
                  <a:gd name="csX2" fmla="*/ 2492829 w 4985658"/>
                  <a:gd name="csY2" fmla="*/ 3744686 h 4985658"/>
                  <a:gd name="csX3" fmla="*/ 3744686 w 4985658"/>
                  <a:gd name="csY3" fmla="*/ 2492829 h 4985658"/>
                  <a:gd name="csX4" fmla="*/ 2492829 w 4985658"/>
                  <a:gd name="csY4" fmla="*/ 1240972 h 4985658"/>
                  <a:gd name="csX5" fmla="*/ 2492829 w 4985658"/>
                  <a:gd name="csY5" fmla="*/ 0 h 4985658"/>
                  <a:gd name="csX6" fmla="*/ 4985658 w 4985658"/>
                  <a:gd name="csY6" fmla="*/ 2492829 h 4985658"/>
                  <a:gd name="csX7" fmla="*/ 2492829 w 4985658"/>
                  <a:gd name="csY7" fmla="*/ 4985658 h 4985658"/>
                  <a:gd name="csX8" fmla="*/ 0 w 4985658"/>
                  <a:gd name="csY8" fmla="*/ 2492829 h 4985658"/>
                  <a:gd name="csX9" fmla="*/ 2492829 w 4985658"/>
                  <a:gd name="csY9" fmla="*/ 0 h 4985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4985658" h="4985658">
                    <a:moveTo>
                      <a:pt x="2492829" y="1240972"/>
                    </a:moveTo>
                    <a:cubicBezTo>
                      <a:pt x="1801447" y="1240972"/>
                      <a:pt x="1240972" y="1801447"/>
                      <a:pt x="1240972" y="2492829"/>
                    </a:cubicBezTo>
                    <a:cubicBezTo>
                      <a:pt x="1240972" y="3184211"/>
                      <a:pt x="1801447" y="3744686"/>
                      <a:pt x="2492829" y="3744686"/>
                    </a:cubicBezTo>
                    <a:cubicBezTo>
                      <a:pt x="3184211" y="3744686"/>
                      <a:pt x="3744686" y="3184211"/>
                      <a:pt x="3744686" y="2492829"/>
                    </a:cubicBezTo>
                    <a:cubicBezTo>
                      <a:pt x="3744686" y="1801447"/>
                      <a:pt x="3184211" y="1240972"/>
                      <a:pt x="2492829" y="1240972"/>
                    </a:cubicBezTo>
                    <a:close/>
                    <a:moveTo>
                      <a:pt x="2492829" y="0"/>
                    </a:moveTo>
                    <a:cubicBezTo>
                      <a:pt x="3869580" y="0"/>
                      <a:pt x="4985658" y="1116078"/>
                      <a:pt x="4985658" y="2492829"/>
                    </a:cubicBezTo>
                    <a:cubicBezTo>
                      <a:pt x="4985658" y="3869580"/>
                      <a:pt x="3869580" y="4985658"/>
                      <a:pt x="2492829" y="4985658"/>
                    </a:cubicBezTo>
                    <a:cubicBezTo>
                      <a:pt x="1116078" y="4985658"/>
                      <a:pt x="0" y="3869580"/>
                      <a:pt x="0" y="2492829"/>
                    </a:cubicBezTo>
                    <a:cubicBezTo>
                      <a:pt x="0" y="1116078"/>
                      <a:pt x="1116078" y="0"/>
                      <a:pt x="24928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75000">
                    <a:srgbClr val="122639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  <a:gs pos="44000">
                    <a:schemeClr val="tx2">
                      <a:lumMod val="90000"/>
                      <a:lumOff val="10000"/>
                    </a:schemeClr>
                  </a:gs>
                </a:gsLst>
                <a:lin ang="12600000" scaled="0"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 dirty="0"/>
              </a:p>
            </p:txBody>
          </p:sp>
          <p:grpSp>
            <p:nvGrpSpPr>
              <p:cNvPr id="50" name="Группа 49">
                <a:extLst>
                  <a:ext uri="{FF2B5EF4-FFF2-40B4-BE49-F238E27FC236}">
                    <a16:creationId xmlns:a16="http://schemas.microsoft.com/office/drawing/2014/main" id="{2FD7B99F-36C5-1B8C-0C50-AE6820CC7706}"/>
                  </a:ext>
                </a:extLst>
              </p:cNvPr>
              <p:cNvGrpSpPr/>
              <p:nvPr/>
            </p:nvGrpSpPr>
            <p:grpSpPr>
              <a:xfrm>
                <a:off x="3084486" y="2719153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15" name="Прямая соединительная линия 14">
                  <a:extLst>
                    <a:ext uri="{FF2B5EF4-FFF2-40B4-BE49-F238E27FC236}">
                      <a16:creationId xmlns:a16="http://schemas.microsoft.com/office/drawing/2014/main" id="{C68D736A-14E1-CCED-3970-0E6B735361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Прямая соединительная линия 16">
                  <a:extLst>
                    <a:ext uri="{FF2B5EF4-FFF2-40B4-BE49-F238E27FC236}">
                      <a16:creationId xmlns:a16="http://schemas.microsoft.com/office/drawing/2014/main" id="{39AAAD8C-AF02-23EB-606F-276D90CDBD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Группа 50">
                <a:extLst>
                  <a:ext uri="{FF2B5EF4-FFF2-40B4-BE49-F238E27FC236}">
                    <a16:creationId xmlns:a16="http://schemas.microsoft.com/office/drawing/2014/main" id="{27B5FE17-953F-B72E-3789-BA24C05BF352}"/>
                  </a:ext>
                </a:extLst>
              </p:cNvPr>
              <p:cNvGrpSpPr/>
              <p:nvPr/>
            </p:nvGrpSpPr>
            <p:grpSpPr>
              <a:xfrm rot="10800000">
                <a:off x="152400" y="3035177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52" name="Прямая соединительная линия 51">
                  <a:extLst>
                    <a:ext uri="{FF2B5EF4-FFF2-40B4-BE49-F238E27FC236}">
                      <a16:creationId xmlns:a16="http://schemas.microsoft.com/office/drawing/2014/main" id="{82216D32-DB5C-6217-B1F2-DCBDC9F9E4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Прямая соединительная линия 52">
                  <a:extLst>
                    <a:ext uri="{FF2B5EF4-FFF2-40B4-BE49-F238E27FC236}">
                      <a16:creationId xmlns:a16="http://schemas.microsoft.com/office/drawing/2014/main" id="{6D05B761-7C28-C9AB-0A82-53FD649C78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5" name="Группа 84">
              <a:extLst>
                <a:ext uri="{FF2B5EF4-FFF2-40B4-BE49-F238E27FC236}">
                  <a16:creationId xmlns:a16="http://schemas.microsoft.com/office/drawing/2014/main" id="{D26C1D25-10ED-FE08-1280-33C2FE3AE1A3}"/>
                </a:ext>
              </a:extLst>
            </p:cNvPr>
            <p:cNvGrpSpPr/>
            <p:nvPr/>
          </p:nvGrpSpPr>
          <p:grpSpPr>
            <a:xfrm rot="10800000">
              <a:off x="1757182" y="-1002650"/>
              <a:ext cx="2806248" cy="3224868"/>
              <a:chOff x="1757182" y="-971872"/>
              <a:chExt cx="2806248" cy="3224868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C2F8C50-45E0-689E-CD54-01C648EADDAA}"/>
                  </a:ext>
                </a:extLst>
              </p:cNvPr>
              <p:cNvSpPr txBox="1"/>
              <p:nvPr/>
            </p:nvSpPr>
            <p:spPr>
              <a:xfrm rot="10800000">
                <a:off x="1889778" y="-971872"/>
                <a:ext cx="254105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1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Качество данных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779929D-389E-7DE7-0EEE-BA46052624C3}"/>
                  </a:ext>
                </a:extLst>
              </p:cNvPr>
              <p:cNvSpPr txBox="1"/>
              <p:nvPr/>
            </p:nvSpPr>
            <p:spPr>
              <a:xfrm>
                <a:off x="1757182" y="1668221"/>
                <a:ext cx="280624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4. Распределения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измерений</a:t>
                </a:r>
              </a:p>
            </p:txBody>
          </p:sp>
        </p:grp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FCE2B0B-7BA3-DB19-6837-3171056B91D4}"/>
              </a:ext>
            </a:extLst>
          </p:cNvPr>
          <p:cNvSpPr/>
          <p:nvPr/>
        </p:nvSpPr>
        <p:spPr>
          <a:xfrm>
            <a:off x="-246746" y="-220648"/>
            <a:ext cx="12685487" cy="131284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44000">
                <a:schemeClr val="tx2">
                  <a:lumMod val="90000"/>
                  <a:lumOff val="10000"/>
                </a:schemeClr>
              </a:gs>
            </a:gsLst>
            <a:lin ang="126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916976-B477-F769-2B48-5C4DF43EF47F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Временные ряды: анализ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0F084CF0-529D-6B0E-BA39-210D61C114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12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C673C4A-27B0-4EF5-8BAF-5F7D79FEA62C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DEA20186-E3A3-6FC8-6BB2-6C12F373BAC5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2DCDDC54-12FF-5379-5528-2AA4B0104F9A}"/>
              </a:ext>
            </a:extLst>
          </p:cNvPr>
          <p:cNvCxnSpPr>
            <a:cxnSpLocks/>
          </p:cNvCxnSpPr>
          <p:nvPr/>
        </p:nvCxnSpPr>
        <p:spPr>
          <a:xfrm flipH="1">
            <a:off x="-495312" y="2705100"/>
            <a:ext cx="13163562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B46E56F1-9B2F-4417-FA9E-A24E9C7E8066}"/>
              </a:ext>
            </a:extLst>
          </p:cNvPr>
          <p:cNvGrpSpPr/>
          <p:nvPr/>
        </p:nvGrpSpPr>
        <p:grpSpPr>
          <a:xfrm>
            <a:off x="-495312" y="2705100"/>
            <a:ext cx="13163562" cy="3607987"/>
            <a:chOff x="-495312" y="2705100"/>
            <a:chExt cx="13163562" cy="3607987"/>
          </a:xfrm>
        </p:grpSpPr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5BDE3124-BDBD-8E22-77D6-B2BC5F5D7EB3}"/>
                </a:ext>
              </a:extLst>
            </p:cNvPr>
            <p:cNvCxnSpPr>
              <a:cxnSpLocks/>
            </p:cNvCxnSpPr>
            <p:nvPr/>
          </p:nvCxnSpPr>
          <p:spPr>
            <a:xfrm>
              <a:off x="1226176" y="2705100"/>
              <a:ext cx="0" cy="343445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43013E70-A863-2CA3-8B5E-D69E48A168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5312" y="4670426"/>
              <a:ext cx="13163562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57E4A81-3673-9F3D-3AE1-4E3BE77EDE14}"/>
                </a:ext>
              </a:extLst>
            </p:cNvPr>
            <p:cNvSpPr txBox="1"/>
            <p:nvPr/>
          </p:nvSpPr>
          <p:spPr>
            <a:xfrm rot="3847950">
              <a:off x="-121036" y="3625376"/>
              <a:ext cx="1597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Результаты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F586B32-A535-D7DB-707A-8C547CF65ADF}"/>
                </a:ext>
              </a:extLst>
            </p:cNvPr>
            <p:cNvSpPr txBox="1"/>
            <p:nvPr/>
          </p:nvSpPr>
          <p:spPr>
            <a:xfrm rot="3847950">
              <a:off x="-49012" y="5368638"/>
              <a:ext cx="15195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Действия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AA654214-E329-79A1-3FD6-891BE6EC64C4}"/>
                </a:ext>
              </a:extLst>
            </p:cNvPr>
            <p:cNvSpPr txBox="1"/>
            <p:nvPr/>
          </p:nvSpPr>
          <p:spPr>
            <a:xfrm>
              <a:off x="1396280" y="2738923"/>
              <a:ext cx="3167803" cy="17201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Пропуски отсутствуют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Выбросы есть в </a:t>
              </a:r>
              <a:r>
                <a:rPr lang="en-US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Accelerometer1RMS </a:t>
              </a: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2.67%</a:t>
              </a: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и</a:t>
              </a:r>
              <a:r>
                <a:rPr lang="en-US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Accelerometer2RMS</a:t>
              </a: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2.62%</a:t>
              </a: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Выбросы отсутствуют в </a:t>
              </a:r>
              <a:r>
                <a:rPr lang="en-US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Temperature, Thermocouple, Volume Flow Rate</a:t>
              </a:r>
              <a:endParaRPr lang="ru-RU" sz="1200" dirty="0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 остальных</a:t>
              </a:r>
              <a:r>
                <a:rPr lang="en-CA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каналах (</a:t>
              </a:r>
              <a:r>
                <a:rPr lang="en-CA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&lt; </a:t>
              </a: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0.2%)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D96D630-07DC-3611-4BF8-A610A6B38B58}"/>
                </a:ext>
              </a:extLst>
            </p:cNvPr>
            <p:cNvSpPr txBox="1"/>
            <p:nvPr/>
          </p:nvSpPr>
          <p:spPr>
            <a:xfrm>
              <a:off x="4564085" y="2743199"/>
              <a:ext cx="4278218" cy="11661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9 пар с </a:t>
              </a:r>
              <a:r>
                <a:rPr lang="en-US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 &gt; 0.7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en-US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Accelerometer1RMS </a:t>
              </a:r>
              <a:r>
                <a:rPr lang="ru-RU" sz="1200" b="1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– </a:t>
              </a:r>
              <a:r>
                <a:rPr lang="en-US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Accelerometer2RMS: 0.996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en-US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Temperature </a:t>
              </a:r>
              <a:r>
                <a:rPr lang="ru-RU" sz="1200" b="1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–</a:t>
              </a:r>
              <a:r>
                <a:rPr lang="en-US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Volume Flow </a:t>
              </a:r>
              <a:r>
                <a:rPr lang="en-US" sz="1200" b="0" i="0" dirty="0" err="1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RateRMS</a:t>
              </a:r>
              <a:r>
                <a:rPr lang="en-US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: 0.902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Давление не зависит от других (</a:t>
              </a:r>
              <a:r>
                <a:rPr lang="en-US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 &lt; 0.11)</a:t>
              </a:r>
              <a:endParaRPr lang="ru-RU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F847727-D20D-B338-E413-1429E4B865E1}"/>
                </a:ext>
              </a:extLst>
            </p:cNvPr>
            <p:cNvSpPr txBox="1"/>
            <p:nvPr/>
          </p:nvSpPr>
          <p:spPr>
            <a:xfrm>
              <a:off x="8586491" y="2743199"/>
              <a:ext cx="3442447" cy="14431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>
                <a:lnSpc>
                  <a:spcPct val="150000"/>
                </a:lnSpc>
              </a:pP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Значительное различие в масштабах</a:t>
              </a:r>
            </a:p>
            <a:p>
              <a:pPr marL="285750">
                <a:lnSpc>
                  <a:spcPct val="150000"/>
                </a:lnSpc>
              </a:pP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измерений: от 0.026 (Accelerometer1RMS) до 254.74 (</a:t>
              </a:r>
              <a:r>
                <a:rPr lang="ru-RU" sz="1200" b="0" i="0" dirty="0" err="1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Voltage</a:t>
              </a: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Различие в 352 раза</a:t>
              </a:r>
            </a:p>
            <a:p>
              <a:pPr marL="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Разные единицы: g, А, бар, °C, В, л/мин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EA98C7C-4FE2-8546-0C93-E3AB3CB421AF}"/>
                </a:ext>
              </a:extLst>
            </p:cNvPr>
            <p:cNvSpPr txBox="1"/>
            <p:nvPr/>
          </p:nvSpPr>
          <p:spPr>
            <a:xfrm>
              <a:off x="1406586" y="4788442"/>
              <a:ext cx="3088211" cy="10218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Выбросы сохранить </a:t>
              </a:r>
              <a:r>
                <a:rPr lang="ru-RU" sz="1400" b="1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–</a:t>
              </a: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это пиковые вибрации при включении, </a:t>
              </a:r>
              <a:r>
                <a:rPr lang="ru-RU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нормальное поведение системы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B0B4012-EF05-B3F4-EFAF-C00FFF45A1BC}"/>
                </a:ext>
              </a:extLst>
            </p:cNvPr>
            <p:cNvSpPr txBox="1"/>
            <p:nvPr/>
          </p:nvSpPr>
          <p:spPr>
            <a:xfrm>
              <a:off x="4574691" y="4784658"/>
              <a:ext cx="4168573" cy="10218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Сократить дублирующие каналы (</a:t>
              </a:r>
              <a:r>
                <a:rPr lang="en-CA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 &gt; 0.9</a:t>
              </a: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Давление сохранить как</a:t>
              </a:r>
              <a:r>
                <a:rPr lang="en-CA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уникальный</a:t>
              </a:r>
              <a:endParaRPr lang="en-CA" sz="1400" dirty="0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признак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DC46B541-D40A-4934-0E11-47792DB510D1}"/>
                </a:ext>
              </a:extLst>
            </p:cNvPr>
            <p:cNvSpPr txBox="1"/>
            <p:nvPr/>
          </p:nvSpPr>
          <p:spPr>
            <a:xfrm>
              <a:off x="8876295" y="4731523"/>
              <a:ext cx="2989310" cy="10218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Применить </a:t>
              </a:r>
              <a:r>
                <a:rPr lang="ru-RU" sz="14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StandardScaler</a:t>
              </a:r>
              <a:r>
                <a:rPr lang="ru-RU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для приведения всех числовых признаков к единому масштабу</a:t>
              </a:r>
            </a:p>
          </p:txBody>
        </p:sp>
      </p:grp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901EDEE5-D535-85DC-37A7-504C5CC31237}"/>
              </a:ext>
            </a:extLst>
          </p:cNvPr>
          <p:cNvGrpSpPr/>
          <p:nvPr/>
        </p:nvGrpSpPr>
        <p:grpSpPr>
          <a:xfrm>
            <a:off x="-13320841" y="2705100"/>
            <a:ext cx="13163562" cy="3607987"/>
            <a:chOff x="12275671" y="2705100"/>
            <a:chExt cx="13163562" cy="3607987"/>
          </a:xfrm>
        </p:grpSpPr>
        <p:cxnSp>
          <p:nvCxnSpPr>
            <p:cNvPr id="111" name="Прямая соединительная линия 110">
              <a:extLst>
                <a:ext uri="{FF2B5EF4-FFF2-40B4-BE49-F238E27FC236}">
                  <a16:creationId xmlns:a16="http://schemas.microsoft.com/office/drawing/2014/main" id="{CEB52586-BF97-AB27-D575-3FC64580DE4C}"/>
                </a:ext>
              </a:extLst>
            </p:cNvPr>
            <p:cNvCxnSpPr>
              <a:cxnSpLocks/>
            </p:cNvCxnSpPr>
            <p:nvPr/>
          </p:nvCxnSpPr>
          <p:spPr>
            <a:xfrm>
              <a:off x="13997159" y="2705100"/>
              <a:ext cx="0" cy="343445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Группа 120">
              <a:extLst>
                <a:ext uri="{FF2B5EF4-FFF2-40B4-BE49-F238E27FC236}">
                  <a16:creationId xmlns:a16="http://schemas.microsoft.com/office/drawing/2014/main" id="{5F024643-A199-A1DA-8F8A-BF653A16F88A}"/>
                </a:ext>
              </a:extLst>
            </p:cNvPr>
            <p:cNvGrpSpPr/>
            <p:nvPr/>
          </p:nvGrpSpPr>
          <p:grpSpPr>
            <a:xfrm>
              <a:off x="12275671" y="2705100"/>
              <a:ext cx="13163562" cy="3607987"/>
              <a:chOff x="12275671" y="2705100"/>
              <a:chExt cx="13163562" cy="3607987"/>
            </a:xfrm>
          </p:grpSpPr>
          <p:cxnSp>
            <p:nvCxnSpPr>
              <p:cNvPr id="112" name="Прямая соединительная линия 111">
                <a:extLst>
                  <a:ext uri="{FF2B5EF4-FFF2-40B4-BE49-F238E27FC236}">
                    <a16:creationId xmlns:a16="http://schemas.microsoft.com/office/drawing/2014/main" id="{016E75B8-3B9E-9B74-E737-8C2DFDBD12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275671" y="4670426"/>
                <a:ext cx="13163562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551158FA-C814-F515-1D48-0D7AB4020221}"/>
                  </a:ext>
                </a:extLst>
              </p:cNvPr>
              <p:cNvSpPr txBox="1"/>
              <p:nvPr/>
            </p:nvSpPr>
            <p:spPr>
              <a:xfrm rot="3847950">
                <a:off x="12649947" y="3625376"/>
                <a:ext cx="1597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Результаты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81F6BE48-D5D0-7F36-AEB2-D7E9552EDD32}"/>
                  </a:ext>
                </a:extLst>
              </p:cNvPr>
              <p:cNvSpPr txBox="1"/>
              <p:nvPr/>
            </p:nvSpPr>
            <p:spPr>
              <a:xfrm rot="3847950">
                <a:off x="12721971" y="5368638"/>
                <a:ext cx="15195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Действия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60F6D860-9C25-900E-3512-58B288ED6877}"/>
                  </a:ext>
                </a:extLst>
              </p:cNvPr>
              <p:cNvSpPr txBox="1"/>
              <p:nvPr/>
            </p:nvSpPr>
            <p:spPr>
              <a:xfrm>
                <a:off x="14074343" y="2743199"/>
                <a:ext cx="3863630" cy="17201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Accelerometer</a:t>
                </a: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Pressure</a:t>
                </a: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Voltage </a:t>
                </a:r>
                <a:r>
                  <a:rPr lang="ru-RU" sz="1200" b="1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–</a:t>
                </a: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мультимодальное распределение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Accelerometer</a:t>
                </a: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2, </a:t>
                </a: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Current, Volume Flow</a:t>
                </a: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ассиметричное распределение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Temperature</a:t>
                </a: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Thermocouple</a:t>
                </a: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200" b="1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–</a:t>
                </a: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мультимодальное (нагрев/остывание)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D42806DB-11F9-9B69-9CF2-4B10BB15F725}"/>
                  </a:ext>
                </a:extLst>
              </p:cNvPr>
              <p:cNvSpPr txBox="1"/>
              <p:nvPr/>
            </p:nvSpPr>
            <p:spPr>
              <a:xfrm>
                <a:off x="18012063" y="2739324"/>
                <a:ext cx="3190587" cy="17201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2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Тренд: падающий (−8.17°C за 6 часов)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2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Сезонность: ~60 сек (циклы насоса), амплитуда низкая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2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Нестационарный ряд (есть тренд и сезонность)</a:t>
                </a:r>
                <a:endParaRPr lang="ru-RU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AC115930-2157-86CA-DEDB-7ADDEE46C444}"/>
                  </a:ext>
                </a:extLst>
              </p:cNvPr>
              <p:cNvSpPr txBox="1"/>
              <p:nvPr/>
            </p:nvSpPr>
            <p:spPr>
              <a:xfrm>
                <a:off x="21647278" y="2705100"/>
                <a:ext cx="3442447" cy="11661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440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2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SNR = 21.11 дБ – Отлично</a:t>
                </a:r>
              </a:p>
              <a:p>
                <a:pPr indent="-28440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2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Распределение остатков близко к нормальному</a:t>
                </a:r>
              </a:p>
              <a:p>
                <a:pPr indent="-28440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2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Шум случаен, декомпозиция адекватна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0BBE264B-5970-2610-5D2C-38CF4F1FE8A6}"/>
                  </a:ext>
                </a:extLst>
              </p:cNvPr>
              <p:cNvSpPr txBox="1"/>
              <p:nvPr/>
            </p:nvSpPr>
            <p:spPr>
              <a:xfrm>
                <a:off x="14106584" y="4735799"/>
                <a:ext cx="3735376" cy="13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Учитывать асимметрию при выборе модели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Использование метрики </a:t>
                </a: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MAE</a:t>
                </a: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(средняя абсолютная ошибка)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668634A-C325-3BBB-8C29-18F77E370AB7}"/>
                  </a:ext>
                </a:extLst>
              </p:cNvPr>
              <p:cNvSpPr txBox="1"/>
              <p:nvPr/>
            </p:nvSpPr>
            <p:spPr>
              <a:xfrm>
                <a:off x="18012063" y="4788442"/>
                <a:ext cx="3263387" cy="889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Для ARIMA – берем разность, чтобы убрать общий спад или рост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Для нейросетей – разность не нужна</a:t>
                </a:r>
                <a:endPara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8BBE26B-FA38-A199-11BE-CBBAED5B5CEA}"/>
                  </a:ext>
                </a:extLst>
              </p:cNvPr>
              <p:cNvSpPr txBox="1"/>
              <p:nvPr/>
            </p:nvSpPr>
            <p:spPr>
              <a:xfrm>
                <a:off x="21647278" y="4696367"/>
                <a:ext cx="2989310" cy="889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Фильтрация не требуется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Данные чистые, модели будут хорошо работать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1530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D5DE6-911C-BE21-D90D-7C77DEA07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C50AC13-5D24-41C1-9583-65F7706BA842}"/>
              </a:ext>
            </a:extLst>
          </p:cNvPr>
          <p:cNvSpPr/>
          <p:nvPr/>
        </p:nvSpPr>
        <p:spPr>
          <a:xfrm>
            <a:off x="-22769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6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B22443BA-65A1-ECA0-5960-2C327D2208D6}"/>
              </a:ext>
            </a:extLst>
          </p:cNvPr>
          <p:cNvGrpSpPr/>
          <p:nvPr/>
        </p:nvGrpSpPr>
        <p:grpSpPr>
          <a:xfrm rot="10800000">
            <a:off x="8379802" y="-1343198"/>
            <a:ext cx="4125183" cy="3903766"/>
            <a:chOff x="8597992" y="-1343198"/>
            <a:chExt cx="4125183" cy="3903766"/>
          </a:xfrm>
        </p:grpSpPr>
        <p:grpSp>
          <p:nvGrpSpPr>
            <p:cNvPr id="95" name="Группа 94">
              <a:extLst>
                <a:ext uri="{FF2B5EF4-FFF2-40B4-BE49-F238E27FC236}">
                  <a16:creationId xmlns:a16="http://schemas.microsoft.com/office/drawing/2014/main" id="{B8FE75CF-18C9-7DB5-4757-90C59A3EE31C}"/>
                </a:ext>
              </a:extLst>
            </p:cNvPr>
            <p:cNvGrpSpPr/>
            <p:nvPr/>
          </p:nvGrpSpPr>
          <p:grpSpPr>
            <a:xfrm>
              <a:off x="8670670" y="-1343198"/>
              <a:ext cx="3903766" cy="3903766"/>
              <a:chOff x="8746731" y="-1343198"/>
              <a:chExt cx="3903766" cy="3903766"/>
            </a:xfrm>
          </p:grpSpPr>
          <p:grpSp>
            <p:nvGrpSpPr>
              <p:cNvPr id="63" name="Группа 62">
                <a:extLst>
                  <a:ext uri="{FF2B5EF4-FFF2-40B4-BE49-F238E27FC236}">
                    <a16:creationId xmlns:a16="http://schemas.microsoft.com/office/drawing/2014/main" id="{A00694E1-2B10-DC4E-16A2-2BCB9BFF799C}"/>
                  </a:ext>
                </a:extLst>
              </p:cNvPr>
              <p:cNvGrpSpPr/>
              <p:nvPr/>
            </p:nvGrpSpPr>
            <p:grpSpPr>
              <a:xfrm>
                <a:off x="8746731" y="-1343198"/>
                <a:ext cx="3903766" cy="3903766"/>
                <a:chOff x="152400" y="1057655"/>
                <a:chExt cx="3903766" cy="3903766"/>
              </a:xfrm>
            </p:grpSpPr>
            <p:sp>
              <p:nvSpPr>
                <p:cNvPr id="64" name="Полилиния: фигура 63">
                  <a:extLst>
                    <a:ext uri="{FF2B5EF4-FFF2-40B4-BE49-F238E27FC236}">
                      <a16:creationId xmlns:a16="http://schemas.microsoft.com/office/drawing/2014/main" id="{992D1357-4E21-C758-BED2-9EF93E0DDFD2}"/>
                    </a:ext>
                  </a:extLst>
                </p:cNvPr>
                <p:cNvSpPr/>
                <p:nvPr/>
              </p:nvSpPr>
              <p:spPr>
                <a:xfrm>
                  <a:off x="152400" y="1057655"/>
                  <a:ext cx="3903766" cy="3903766"/>
                </a:xfrm>
                <a:custGeom>
                  <a:avLst/>
                  <a:gdLst>
                    <a:gd name="csX0" fmla="*/ 2492829 w 4985658"/>
                    <a:gd name="csY0" fmla="*/ 1240972 h 4985658"/>
                    <a:gd name="csX1" fmla="*/ 1240972 w 4985658"/>
                    <a:gd name="csY1" fmla="*/ 2492829 h 4985658"/>
                    <a:gd name="csX2" fmla="*/ 2492829 w 4985658"/>
                    <a:gd name="csY2" fmla="*/ 3744686 h 4985658"/>
                    <a:gd name="csX3" fmla="*/ 3744686 w 4985658"/>
                    <a:gd name="csY3" fmla="*/ 2492829 h 4985658"/>
                    <a:gd name="csX4" fmla="*/ 2492829 w 4985658"/>
                    <a:gd name="csY4" fmla="*/ 1240972 h 4985658"/>
                    <a:gd name="csX5" fmla="*/ 2492829 w 4985658"/>
                    <a:gd name="csY5" fmla="*/ 0 h 4985658"/>
                    <a:gd name="csX6" fmla="*/ 4985658 w 4985658"/>
                    <a:gd name="csY6" fmla="*/ 2492829 h 4985658"/>
                    <a:gd name="csX7" fmla="*/ 2492829 w 4985658"/>
                    <a:gd name="csY7" fmla="*/ 4985658 h 4985658"/>
                    <a:gd name="csX8" fmla="*/ 0 w 4985658"/>
                    <a:gd name="csY8" fmla="*/ 2492829 h 4985658"/>
                    <a:gd name="csX9" fmla="*/ 2492829 w 4985658"/>
                    <a:gd name="csY9" fmla="*/ 0 h 4985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4985658" h="4985658">
                      <a:moveTo>
                        <a:pt x="2492829" y="1240972"/>
                      </a:moveTo>
                      <a:cubicBezTo>
                        <a:pt x="1801447" y="1240972"/>
                        <a:pt x="1240972" y="1801447"/>
                        <a:pt x="1240972" y="2492829"/>
                      </a:cubicBezTo>
                      <a:cubicBezTo>
                        <a:pt x="1240972" y="3184211"/>
                        <a:pt x="1801447" y="3744686"/>
                        <a:pt x="2492829" y="3744686"/>
                      </a:cubicBezTo>
                      <a:cubicBezTo>
                        <a:pt x="3184211" y="3744686"/>
                        <a:pt x="3744686" y="3184211"/>
                        <a:pt x="3744686" y="2492829"/>
                      </a:cubicBezTo>
                      <a:cubicBezTo>
                        <a:pt x="3744686" y="1801447"/>
                        <a:pt x="3184211" y="1240972"/>
                        <a:pt x="2492829" y="1240972"/>
                      </a:cubicBezTo>
                      <a:close/>
                      <a:moveTo>
                        <a:pt x="2492829" y="0"/>
                      </a:moveTo>
                      <a:cubicBezTo>
                        <a:pt x="3869580" y="0"/>
                        <a:pt x="4985658" y="1116078"/>
                        <a:pt x="4985658" y="2492829"/>
                      </a:cubicBezTo>
                      <a:cubicBezTo>
                        <a:pt x="4985658" y="3869580"/>
                        <a:pt x="3869580" y="4985658"/>
                        <a:pt x="2492829" y="4985658"/>
                      </a:cubicBezTo>
                      <a:cubicBezTo>
                        <a:pt x="1116078" y="4985658"/>
                        <a:pt x="0" y="3869580"/>
                        <a:pt x="0" y="2492829"/>
                      </a:cubicBezTo>
                      <a:cubicBezTo>
                        <a:pt x="0" y="1116078"/>
                        <a:pt x="1116078" y="0"/>
                        <a:pt x="2492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75000">
                      <a:srgbClr val="122639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44000">
                      <a:schemeClr val="tx2">
                        <a:lumMod val="90000"/>
                        <a:lumOff val="10000"/>
                      </a:schemeClr>
                    </a:gs>
                  </a:gsLst>
                  <a:lin ang="12600000" scaled="0"/>
                </a:gra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ru-RU" dirty="0"/>
                </a:p>
              </p:txBody>
            </p:sp>
            <p:grpSp>
              <p:nvGrpSpPr>
                <p:cNvPr id="65" name="Группа 64">
                  <a:extLst>
                    <a:ext uri="{FF2B5EF4-FFF2-40B4-BE49-F238E27FC236}">
                      <a16:creationId xmlns:a16="http://schemas.microsoft.com/office/drawing/2014/main" id="{A48FE483-8FFF-116C-94AB-88DF78B08FAF}"/>
                    </a:ext>
                  </a:extLst>
                </p:cNvPr>
                <p:cNvGrpSpPr/>
                <p:nvPr/>
              </p:nvGrpSpPr>
              <p:grpSpPr>
                <a:xfrm>
                  <a:off x="3084486" y="2719153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9" name="Прямая соединительная линия 68">
                    <a:extLst>
                      <a:ext uri="{FF2B5EF4-FFF2-40B4-BE49-F238E27FC236}">
                        <a16:creationId xmlns:a16="http://schemas.microsoft.com/office/drawing/2014/main" id="{EE8AA583-55AD-F1B6-7FE3-1F74664DD8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Прямая соединительная линия 69">
                    <a:extLst>
                      <a:ext uri="{FF2B5EF4-FFF2-40B4-BE49-F238E27FC236}">
                        <a16:creationId xmlns:a16="http://schemas.microsoft.com/office/drawing/2014/main" id="{75E2023B-FC65-9F75-128D-96A9B9117C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6" name="Группа 65">
                  <a:extLst>
                    <a:ext uri="{FF2B5EF4-FFF2-40B4-BE49-F238E27FC236}">
                      <a16:creationId xmlns:a16="http://schemas.microsoft.com/office/drawing/2014/main" id="{BB0C8516-FC80-A08E-E2BA-54F83D0433EF}"/>
                    </a:ext>
                  </a:extLst>
                </p:cNvPr>
                <p:cNvGrpSpPr/>
                <p:nvPr/>
              </p:nvGrpSpPr>
              <p:grpSpPr>
                <a:xfrm rot="10800000">
                  <a:off x="152400" y="3035177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7" name="Прямая соединительная линия 66">
                    <a:extLst>
                      <a:ext uri="{FF2B5EF4-FFF2-40B4-BE49-F238E27FC236}">
                        <a16:creationId xmlns:a16="http://schemas.microsoft.com/office/drawing/2014/main" id="{9E78BB8F-7847-993B-580C-347B3D077F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Прямая соединительная линия 67">
                    <a:extLst>
                      <a:ext uri="{FF2B5EF4-FFF2-40B4-BE49-F238E27FC236}">
                        <a16:creationId xmlns:a16="http://schemas.microsoft.com/office/drawing/2014/main" id="{FBC52776-103A-9BF0-0D31-4F3E9E5F73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6E09F09-F503-66BE-A5F0-BC88735CAA77}"/>
                  </a:ext>
                </a:extLst>
              </p:cNvPr>
              <p:cNvSpPr txBox="1"/>
              <p:nvPr/>
            </p:nvSpPr>
            <p:spPr>
              <a:xfrm>
                <a:off x="9256187" y="1628588"/>
                <a:ext cx="29609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3. Проверка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на диапазоны 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значений</a:t>
                </a:r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51DF2F8-0337-6E1E-7994-CFC1220CD127}"/>
                </a:ext>
              </a:extLst>
            </p:cNvPr>
            <p:cNvSpPr txBox="1"/>
            <p:nvPr/>
          </p:nvSpPr>
          <p:spPr>
            <a:xfrm rot="10800000">
              <a:off x="8597992" y="-1050811"/>
              <a:ext cx="412518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Шаг 6. Поиск </a:t>
              </a:r>
            </a:p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 анализ шумов</a:t>
              </a:r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8C6A96A1-BE10-0C40-EB27-6087AF96F288}"/>
              </a:ext>
            </a:extLst>
          </p:cNvPr>
          <p:cNvGrpSpPr/>
          <p:nvPr/>
        </p:nvGrpSpPr>
        <p:grpSpPr>
          <a:xfrm rot="10800000">
            <a:off x="4809846" y="-1343198"/>
            <a:ext cx="3922816" cy="3903766"/>
            <a:chOff x="5028036" y="-1343198"/>
            <a:chExt cx="3922816" cy="3903766"/>
          </a:xfrm>
        </p:grpSpPr>
        <p:grpSp>
          <p:nvGrpSpPr>
            <p:cNvPr id="89" name="Группа 88">
              <a:extLst>
                <a:ext uri="{FF2B5EF4-FFF2-40B4-BE49-F238E27FC236}">
                  <a16:creationId xmlns:a16="http://schemas.microsoft.com/office/drawing/2014/main" id="{F4733B4F-A694-9213-8CDC-953FD85F95BF}"/>
                </a:ext>
              </a:extLst>
            </p:cNvPr>
            <p:cNvGrpSpPr/>
            <p:nvPr/>
          </p:nvGrpSpPr>
          <p:grpSpPr>
            <a:xfrm>
              <a:off x="5047086" y="-1343198"/>
              <a:ext cx="3903766" cy="3903766"/>
              <a:chOff x="5013346" y="-1343198"/>
              <a:chExt cx="3903766" cy="3903766"/>
            </a:xfrm>
          </p:grpSpPr>
          <p:grpSp>
            <p:nvGrpSpPr>
              <p:cNvPr id="55" name="Группа 54">
                <a:extLst>
                  <a:ext uri="{FF2B5EF4-FFF2-40B4-BE49-F238E27FC236}">
                    <a16:creationId xmlns:a16="http://schemas.microsoft.com/office/drawing/2014/main" id="{67E6CA46-5651-8A2C-487F-69AD283EE2D4}"/>
                  </a:ext>
                </a:extLst>
              </p:cNvPr>
              <p:cNvGrpSpPr/>
              <p:nvPr/>
            </p:nvGrpSpPr>
            <p:grpSpPr>
              <a:xfrm>
                <a:off x="5013346" y="-1343198"/>
                <a:ext cx="3903766" cy="3903766"/>
                <a:chOff x="152400" y="1057655"/>
                <a:chExt cx="3903766" cy="3903766"/>
              </a:xfrm>
            </p:grpSpPr>
            <p:sp>
              <p:nvSpPr>
                <p:cNvPr id="56" name="Полилиния: фигура 55">
                  <a:extLst>
                    <a:ext uri="{FF2B5EF4-FFF2-40B4-BE49-F238E27FC236}">
                      <a16:creationId xmlns:a16="http://schemas.microsoft.com/office/drawing/2014/main" id="{982DA8E1-9300-5C94-324F-DAE23C7865E9}"/>
                    </a:ext>
                  </a:extLst>
                </p:cNvPr>
                <p:cNvSpPr/>
                <p:nvPr/>
              </p:nvSpPr>
              <p:spPr>
                <a:xfrm>
                  <a:off x="152400" y="1057655"/>
                  <a:ext cx="3903766" cy="3903766"/>
                </a:xfrm>
                <a:custGeom>
                  <a:avLst/>
                  <a:gdLst>
                    <a:gd name="csX0" fmla="*/ 2492829 w 4985658"/>
                    <a:gd name="csY0" fmla="*/ 1240972 h 4985658"/>
                    <a:gd name="csX1" fmla="*/ 1240972 w 4985658"/>
                    <a:gd name="csY1" fmla="*/ 2492829 h 4985658"/>
                    <a:gd name="csX2" fmla="*/ 2492829 w 4985658"/>
                    <a:gd name="csY2" fmla="*/ 3744686 h 4985658"/>
                    <a:gd name="csX3" fmla="*/ 3744686 w 4985658"/>
                    <a:gd name="csY3" fmla="*/ 2492829 h 4985658"/>
                    <a:gd name="csX4" fmla="*/ 2492829 w 4985658"/>
                    <a:gd name="csY4" fmla="*/ 1240972 h 4985658"/>
                    <a:gd name="csX5" fmla="*/ 2492829 w 4985658"/>
                    <a:gd name="csY5" fmla="*/ 0 h 4985658"/>
                    <a:gd name="csX6" fmla="*/ 4985658 w 4985658"/>
                    <a:gd name="csY6" fmla="*/ 2492829 h 4985658"/>
                    <a:gd name="csX7" fmla="*/ 2492829 w 4985658"/>
                    <a:gd name="csY7" fmla="*/ 4985658 h 4985658"/>
                    <a:gd name="csX8" fmla="*/ 0 w 4985658"/>
                    <a:gd name="csY8" fmla="*/ 2492829 h 4985658"/>
                    <a:gd name="csX9" fmla="*/ 2492829 w 4985658"/>
                    <a:gd name="csY9" fmla="*/ 0 h 4985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4985658" h="4985658">
                      <a:moveTo>
                        <a:pt x="2492829" y="1240972"/>
                      </a:moveTo>
                      <a:cubicBezTo>
                        <a:pt x="1801447" y="1240972"/>
                        <a:pt x="1240972" y="1801447"/>
                        <a:pt x="1240972" y="2492829"/>
                      </a:cubicBezTo>
                      <a:cubicBezTo>
                        <a:pt x="1240972" y="3184211"/>
                        <a:pt x="1801447" y="3744686"/>
                        <a:pt x="2492829" y="3744686"/>
                      </a:cubicBezTo>
                      <a:cubicBezTo>
                        <a:pt x="3184211" y="3744686"/>
                        <a:pt x="3744686" y="3184211"/>
                        <a:pt x="3744686" y="2492829"/>
                      </a:cubicBezTo>
                      <a:cubicBezTo>
                        <a:pt x="3744686" y="1801447"/>
                        <a:pt x="3184211" y="1240972"/>
                        <a:pt x="2492829" y="1240972"/>
                      </a:cubicBezTo>
                      <a:close/>
                      <a:moveTo>
                        <a:pt x="2492829" y="0"/>
                      </a:moveTo>
                      <a:cubicBezTo>
                        <a:pt x="3869580" y="0"/>
                        <a:pt x="4985658" y="1116078"/>
                        <a:pt x="4985658" y="2492829"/>
                      </a:cubicBezTo>
                      <a:cubicBezTo>
                        <a:pt x="4985658" y="3869580"/>
                        <a:pt x="3869580" y="4985658"/>
                        <a:pt x="2492829" y="4985658"/>
                      </a:cubicBezTo>
                      <a:cubicBezTo>
                        <a:pt x="1116078" y="4985658"/>
                        <a:pt x="0" y="3869580"/>
                        <a:pt x="0" y="2492829"/>
                      </a:cubicBezTo>
                      <a:cubicBezTo>
                        <a:pt x="0" y="1116078"/>
                        <a:pt x="1116078" y="0"/>
                        <a:pt x="2492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75000">
                      <a:srgbClr val="122639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44000">
                      <a:schemeClr val="tx2">
                        <a:lumMod val="90000"/>
                        <a:lumOff val="10000"/>
                      </a:schemeClr>
                    </a:gs>
                  </a:gsLst>
                  <a:lin ang="12600000" scaled="0"/>
                </a:gra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ru-RU" dirty="0"/>
                </a:p>
              </p:txBody>
            </p:sp>
            <p:grpSp>
              <p:nvGrpSpPr>
                <p:cNvPr id="57" name="Группа 56">
                  <a:extLst>
                    <a:ext uri="{FF2B5EF4-FFF2-40B4-BE49-F238E27FC236}">
                      <a16:creationId xmlns:a16="http://schemas.microsoft.com/office/drawing/2014/main" id="{98B55ECC-3BAF-2236-0B9D-194AE6E7FC54}"/>
                    </a:ext>
                  </a:extLst>
                </p:cNvPr>
                <p:cNvGrpSpPr/>
                <p:nvPr/>
              </p:nvGrpSpPr>
              <p:grpSpPr>
                <a:xfrm>
                  <a:off x="3084486" y="2719153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1" name="Прямая соединительная линия 60">
                    <a:extLst>
                      <a:ext uri="{FF2B5EF4-FFF2-40B4-BE49-F238E27FC236}">
                        <a16:creationId xmlns:a16="http://schemas.microsoft.com/office/drawing/2014/main" id="{FFFFC4F8-1976-4655-D4B7-CE9C37060B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Прямая соединительная линия 61">
                    <a:extLst>
                      <a:ext uri="{FF2B5EF4-FFF2-40B4-BE49-F238E27FC236}">
                        <a16:creationId xmlns:a16="http://schemas.microsoft.com/office/drawing/2014/main" id="{CDD7879E-8E43-6500-B30B-3455E83A9B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" name="Группа 57">
                  <a:extLst>
                    <a:ext uri="{FF2B5EF4-FFF2-40B4-BE49-F238E27FC236}">
                      <a16:creationId xmlns:a16="http://schemas.microsoft.com/office/drawing/2014/main" id="{A0B20BA6-B2B0-4306-53E7-52BB0237524D}"/>
                    </a:ext>
                  </a:extLst>
                </p:cNvPr>
                <p:cNvGrpSpPr/>
                <p:nvPr/>
              </p:nvGrpSpPr>
              <p:grpSpPr>
                <a:xfrm rot="10800000">
                  <a:off x="152400" y="3035177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59" name="Прямая соединительная линия 58">
                    <a:extLst>
                      <a:ext uri="{FF2B5EF4-FFF2-40B4-BE49-F238E27FC236}">
                        <a16:creationId xmlns:a16="http://schemas.microsoft.com/office/drawing/2014/main" id="{F7A0138C-EDC8-B6EC-27F8-81FBEEF150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Прямая соединительная линия 59">
                    <a:extLst>
                      <a:ext uri="{FF2B5EF4-FFF2-40B4-BE49-F238E27FC236}">
                        <a16:creationId xmlns:a16="http://schemas.microsoft.com/office/drawing/2014/main" id="{EE7691E4-CFA4-9F13-F7CC-11C1636984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EB21829-C556-0344-49D2-57D288AA0DBD}"/>
                  </a:ext>
                </a:extLst>
              </p:cNvPr>
              <p:cNvSpPr txBox="1"/>
              <p:nvPr/>
            </p:nvSpPr>
            <p:spPr>
              <a:xfrm>
                <a:off x="5013346" y="1623950"/>
                <a:ext cx="390376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2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Корреляционный 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анализ</a:t>
                </a: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4749FE0-9F58-1F3A-3FF2-9FFB7C52C52F}"/>
                </a:ext>
              </a:extLst>
            </p:cNvPr>
            <p:cNvSpPr txBox="1"/>
            <p:nvPr/>
          </p:nvSpPr>
          <p:spPr>
            <a:xfrm rot="10800000">
              <a:off x="5028036" y="-1148940"/>
              <a:ext cx="390376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Шаг 5. Разложение на </a:t>
              </a:r>
            </a:p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компоненты</a:t>
              </a:r>
            </a:p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(декомпозиция)</a:t>
              </a:r>
            </a:p>
          </p:txBody>
        </p:sp>
      </p:grp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13573D9A-2092-ED89-4658-E75140959A74}"/>
              </a:ext>
            </a:extLst>
          </p:cNvPr>
          <p:cNvGrpSpPr/>
          <p:nvPr/>
        </p:nvGrpSpPr>
        <p:grpSpPr>
          <a:xfrm rot="10800000">
            <a:off x="1150960" y="-1343198"/>
            <a:ext cx="3903766" cy="3903766"/>
            <a:chOff x="1208423" y="-1343198"/>
            <a:chExt cx="3903766" cy="3903766"/>
          </a:xfrm>
        </p:grpSpPr>
        <p:grpSp>
          <p:nvGrpSpPr>
            <p:cNvPr id="54" name="Группа 53">
              <a:extLst>
                <a:ext uri="{FF2B5EF4-FFF2-40B4-BE49-F238E27FC236}">
                  <a16:creationId xmlns:a16="http://schemas.microsoft.com/office/drawing/2014/main" id="{470EF6E8-CDC9-031C-3DC2-27285CD91BF3}"/>
                </a:ext>
              </a:extLst>
            </p:cNvPr>
            <p:cNvGrpSpPr/>
            <p:nvPr/>
          </p:nvGrpSpPr>
          <p:grpSpPr>
            <a:xfrm>
              <a:off x="1208423" y="-1343198"/>
              <a:ext cx="3903766" cy="3903766"/>
              <a:chOff x="152400" y="1057655"/>
              <a:chExt cx="3903766" cy="3903766"/>
            </a:xfrm>
          </p:grpSpPr>
          <p:sp>
            <p:nvSpPr>
              <p:cNvPr id="9" name="Полилиния: фигура 8">
                <a:extLst>
                  <a:ext uri="{FF2B5EF4-FFF2-40B4-BE49-F238E27FC236}">
                    <a16:creationId xmlns:a16="http://schemas.microsoft.com/office/drawing/2014/main" id="{19526487-9313-A03B-A0B2-839B9DF3E6DF}"/>
                  </a:ext>
                </a:extLst>
              </p:cNvPr>
              <p:cNvSpPr/>
              <p:nvPr/>
            </p:nvSpPr>
            <p:spPr>
              <a:xfrm>
                <a:off x="152400" y="1057655"/>
                <a:ext cx="3903766" cy="3903766"/>
              </a:xfrm>
              <a:custGeom>
                <a:avLst/>
                <a:gdLst>
                  <a:gd name="csX0" fmla="*/ 2492829 w 4985658"/>
                  <a:gd name="csY0" fmla="*/ 1240972 h 4985658"/>
                  <a:gd name="csX1" fmla="*/ 1240972 w 4985658"/>
                  <a:gd name="csY1" fmla="*/ 2492829 h 4985658"/>
                  <a:gd name="csX2" fmla="*/ 2492829 w 4985658"/>
                  <a:gd name="csY2" fmla="*/ 3744686 h 4985658"/>
                  <a:gd name="csX3" fmla="*/ 3744686 w 4985658"/>
                  <a:gd name="csY3" fmla="*/ 2492829 h 4985658"/>
                  <a:gd name="csX4" fmla="*/ 2492829 w 4985658"/>
                  <a:gd name="csY4" fmla="*/ 1240972 h 4985658"/>
                  <a:gd name="csX5" fmla="*/ 2492829 w 4985658"/>
                  <a:gd name="csY5" fmla="*/ 0 h 4985658"/>
                  <a:gd name="csX6" fmla="*/ 4985658 w 4985658"/>
                  <a:gd name="csY6" fmla="*/ 2492829 h 4985658"/>
                  <a:gd name="csX7" fmla="*/ 2492829 w 4985658"/>
                  <a:gd name="csY7" fmla="*/ 4985658 h 4985658"/>
                  <a:gd name="csX8" fmla="*/ 0 w 4985658"/>
                  <a:gd name="csY8" fmla="*/ 2492829 h 4985658"/>
                  <a:gd name="csX9" fmla="*/ 2492829 w 4985658"/>
                  <a:gd name="csY9" fmla="*/ 0 h 4985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4985658" h="4985658">
                    <a:moveTo>
                      <a:pt x="2492829" y="1240972"/>
                    </a:moveTo>
                    <a:cubicBezTo>
                      <a:pt x="1801447" y="1240972"/>
                      <a:pt x="1240972" y="1801447"/>
                      <a:pt x="1240972" y="2492829"/>
                    </a:cubicBezTo>
                    <a:cubicBezTo>
                      <a:pt x="1240972" y="3184211"/>
                      <a:pt x="1801447" y="3744686"/>
                      <a:pt x="2492829" y="3744686"/>
                    </a:cubicBezTo>
                    <a:cubicBezTo>
                      <a:pt x="3184211" y="3744686"/>
                      <a:pt x="3744686" y="3184211"/>
                      <a:pt x="3744686" y="2492829"/>
                    </a:cubicBezTo>
                    <a:cubicBezTo>
                      <a:pt x="3744686" y="1801447"/>
                      <a:pt x="3184211" y="1240972"/>
                      <a:pt x="2492829" y="1240972"/>
                    </a:cubicBezTo>
                    <a:close/>
                    <a:moveTo>
                      <a:pt x="2492829" y="0"/>
                    </a:moveTo>
                    <a:cubicBezTo>
                      <a:pt x="3869580" y="0"/>
                      <a:pt x="4985658" y="1116078"/>
                      <a:pt x="4985658" y="2492829"/>
                    </a:cubicBezTo>
                    <a:cubicBezTo>
                      <a:pt x="4985658" y="3869580"/>
                      <a:pt x="3869580" y="4985658"/>
                      <a:pt x="2492829" y="4985658"/>
                    </a:cubicBezTo>
                    <a:cubicBezTo>
                      <a:pt x="1116078" y="4985658"/>
                      <a:pt x="0" y="3869580"/>
                      <a:pt x="0" y="2492829"/>
                    </a:cubicBezTo>
                    <a:cubicBezTo>
                      <a:pt x="0" y="1116078"/>
                      <a:pt x="1116078" y="0"/>
                      <a:pt x="24928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75000">
                    <a:srgbClr val="122639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  <a:gs pos="44000">
                    <a:schemeClr val="tx2">
                      <a:lumMod val="90000"/>
                      <a:lumOff val="10000"/>
                    </a:schemeClr>
                  </a:gs>
                </a:gsLst>
                <a:lin ang="12600000" scaled="0"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 dirty="0"/>
              </a:p>
            </p:txBody>
          </p:sp>
          <p:grpSp>
            <p:nvGrpSpPr>
              <p:cNvPr id="50" name="Группа 49">
                <a:extLst>
                  <a:ext uri="{FF2B5EF4-FFF2-40B4-BE49-F238E27FC236}">
                    <a16:creationId xmlns:a16="http://schemas.microsoft.com/office/drawing/2014/main" id="{E23D6AB2-D675-05AA-9183-0F93EA10A97C}"/>
                  </a:ext>
                </a:extLst>
              </p:cNvPr>
              <p:cNvGrpSpPr/>
              <p:nvPr/>
            </p:nvGrpSpPr>
            <p:grpSpPr>
              <a:xfrm>
                <a:off x="3084486" y="2719153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15" name="Прямая соединительная линия 14">
                  <a:extLst>
                    <a:ext uri="{FF2B5EF4-FFF2-40B4-BE49-F238E27FC236}">
                      <a16:creationId xmlns:a16="http://schemas.microsoft.com/office/drawing/2014/main" id="{073524E6-74D5-BC31-930E-4382A26520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Прямая соединительная линия 16">
                  <a:extLst>
                    <a:ext uri="{FF2B5EF4-FFF2-40B4-BE49-F238E27FC236}">
                      <a16:creationId xmlns:a16="http://schemas.microsoft.com/office/drawing/2014/main" id="{1DB5CC8C-EE01-E8D0-A6B1-DE75C71345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Группа 50">
                <a:extLst>
                  <a:ext uri="{FF2B5EF4-FFF2-40B4-BE49-F238E27FC236}">
                    <a16:creationId xmlns:a16="http://schemas.microsoft.com/office/drawing/2014/main" id="{CC44DC75-1A64-C97F-1AED-E16E3D204610}"/>
                  </a:ext>
                </a:extLst>
              </p:cNvPr>
              <p:cNvGrpSpPr/>
              <p:nvPr/>
            </p:nvGrpSpPr>
            <p:grpSpPr>
              <a:xfrm rot="10800000">
                <a:off x="152400" y="3035177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52" name="Прямая соединительная линия 51">
                  <a:extLst>
                    <a:ext uri="{FF2B5EF4-FFF2-40B4-BE49-F238E27FC236}">
                      <a16:creationId xmlns:a16="http://schemas.microsoft.com/office/drawing/2014/main" id="{FAEF8D33-1AA0-6F8C-5E5B-47D21FC4A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Прямая соединительная линия 52">
                  <a:extLst>
                    <a:ext uri="{FF2B5EF4-FFF2-40B4-BE49-F238E27FC236}">
                      <a16:creationId xmlns:a16="http://schemas.microsoft.com/office/drawing/2014/main" id="{E7D7C90B-8D28-A212-93D4-456801FDDD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5" name="Группа 84">
              <a:extLst>
                <a:ext uri="{FF2B5EF4-FFF2-40B4-BE49-F238E27FC236}">
                  <a16:creationId xmlns:a16="http://schemas.microsoft.com/office/drawing/2014/main" id="{D1ED814C-AD6E-FDE4-1426-873A1FA4C38E}"/>
                </a:ext>
              </a:extLst>
            </p:cNvPr>
            <p:cNvGrpSpPr/>
            <p:nvPr/>
          </p:nvGrpSpPr>
          <p:grpSpPr>
            <a:xfrm rot="10800000">
              <a:off x="1757182" y="-1002650"/>
              <a:ext cx="2806248" cy="3224868"/>
              <a:chOff x="1757182" y="-971872"/>
              <a:chExt cx="2806248" cy="3224868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510E6EE-1102-E521-1368-06A030EE1631}"/>
                  </a:ext>
                </a:extLst>
              </p:cNvPr>
              <p:cNvSpPr txBox="1"/>
              <p:nvPr/>
            </p:nvSpPr>
            <p:spPr>
              <a:xfrm rot="10800000">
                <a:off x="1889778" y="-971872"/>
                <a:ext cx="254105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1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Качество данных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3940E86-9DFE-4F52-C6F4-3283AE4D3539}"/>
                  </a:ext>
                </a:extLst>
              </p:cNvPr>
              <p:cNvSpPr txBox="1"/>
              <p:nvPr/>
            </p:nvSpPr>
            <p:spPr>
              <a:xfrm>
                <a:off x="1757182" y="1668221"/>
                <a:ext cx="280624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4. Распределения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измерений</a:t>
                </a:r>
              </a:p>
            </p:txBody>
          </p:sp>
        </p:grp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9B95CE-E7A0-5BB4-088A-0B22A3BBDCB5}"/>
              </a:ext>
            </a:extLst>
          </p:cNvPr>
          <p:cNvSpPr/>
          <p:nvPr/>
        </p:nvSpPr>
        <p:spPr>
          <a:xfrm>
            <a:off x="-246746" y="-220648"/>
            <a:ext cx="12685487" cy="131284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44000">
                <a:schemeClr val="tx2">
                  <a:lumMod val="90000"/>
                  <a:lumOff val="10000"/>
                </a:schemeClr>
              </a:gs>
            </a:gsLst>
            <a:lin ang="126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5FB4D-7250-481B-4D7C-94B3E5B8A83C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Временные ряды: анализ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7B1EE8BE-2099-8A4E-C10C-BD75191B34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13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3BC59B8-0A94-78C8-2AA1-9E15D717F243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519094AD-AE22-C7E1-E9A1-3C163D6A6701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94ADFB65-C615-C6F8-6918-9C6FF26A0642}"/>
              </a:ext>
            </a:extLst>
          </p:cNvPr>
          <p:cNvCxnSpPr>
            <a:cxnSpLocks/>
          </p:cNvCxnSpPr>
          <p:nvPr/>
        </p:nvCxnSpPr>
        <p:spPr>
          <a:xfrm flipH="1">
            <a:off x="-495312" y="2705100"/>
            <a:ext cx="13163562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FEBC0455-6F72-D55A-1D2A-77458FD9DBAF}"/>
              </a:ext>
            </a:extLst>
          </p:cNvPr>
          <p:cNvGrpSpPr/>
          <p:nvPr/>
        </p:nvGrpSpPr>
        <p:grpSpPr>
          <a:xfrm>
            <a:off x="12339748" y="2705099"/>
            <a:ext cx="13163562" cy="3607987"/>
            <a:chOff x="-495312" y="2705100"/>
            <a:chExt cx="13163562" cy="3607987"/>
          </a:xfrm>
        </p:grpSpPr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3F7A9321-BE3E-07FA-DC15-EBA092239B3A}"/>
                </a:ext>
              </a:extLst>
            </p:cNvPr>
            <p:cNvCxnSpPr>
              <a:cxnSpLocks/>
            </p:cNvCxnSpPr>
            <p:nvPr/>
          </p:nvCxnSpPr>
          <p:spPr>
            <a:xfrm>
              <a:off x="1226176" y="2705100"/>
              <a:ext cx="0" cy="343445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CF138B16-BBA9-585F-2B09-FD72518CEE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5312" y="4670426"/>
              <a:ext cx="13163562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316F26E-6562-5846-95D8-402DCECBE23C}"/>
                </a:ext>
              </a:extLst>
            </p:cNvPr>
            <p:cNvSpPr txBox="1"/>
            <p:nvPr/>
          </p:nvSpPr>
          <p:spPr>
            <a:xfrm rot="3847950">
              <a:off x="-121036" y="3625376"/>
              <a:ext cx="1597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Результаты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12A89CF-E7BA-8C78-2D9E-494AE4FC29E7}"/>
                </a:ext>
              </a:extLst>
            </p:cNvPr>
            <p:cNvSpPr txBox="1"/>
            <p:nvPr/>
          </p:nvSpPr>
          <p:spPr>
            <a:xfrm rot="3847950">
              <a:off x="-49012" y="5368638"/>
              <a:ext cx="15195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Действия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5A2CCC70-38E4-4CAF-03D1-C3B29275D0DA}"/>
                </a:ext>
              </a:extLst>
            </p:cNvPr>
            <p:cNvSpPr txBox="1"/>
            <p:nvPr/>
          </p:nvSpPr>
          <p:spPr>
            <a:xfrm>
              <a:off x="1396280" y="2738923"/>
              <a:ext cx="3167803" cy="17201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Пропуски отсутствуют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Выбросы есть в </a:t>
              </a:r>
              <a:r>
                <a:rPr lang="en-US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Accelerometer1RMS </a:t>
              </a: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2.67%</a:t>
              </a: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и</a:t>
              </a:r>
              <a:r>
                <a:rPr lang="en-US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Accelerometer2RMS</a:t>
              </a: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2.62%</a:t>
              </a: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Выбросы отсутствуют в </a:t>
              </a:r>
              <a:r>
                <a:rPr lang="en-US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Temperature, Thermocouple, Volume Flow Rate</a:t>
              </a:r>
              <a:endParaRPr lang="ru-RU" sz="1200" dirty="0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 остальных</a:t>
              </a:r>
              <a:r>
                <a:rPr lang="en-CA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каналах (</a:t>
              </a:r>
              <a:r>
                <a:rPr lang="en-CA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&lt; </a:t>
              </a: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0.2%)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AE8EFBA-F944-FBC6-0AC4-807F7FC9A660}"/>
                </a:ext>
              </a:extLst>
            </p:cNvPr>
            <p:cNvSpPr txBox="1"/>
            <p:nvPr/>
          </p:nvSpPr>
          <p:spPr>
            <a:xfrm>
              <a:off x="4564085" y="2743199"/>
              <a:ext cx="4278218" cy="11661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9 пар с </a:t>
              </a:r>
              <a:r>
                <a:rPr lang="en-US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 &gt; 0.7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en-US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Accelerometer1RMS </a:t>
              </a:r>
              <a:r>
                <a:rPr lang="ru-RU" sz="1200" b="1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– </a:t>
              </a:r>
              <a:r>
                <a:rPr lang="en-US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Accelerometer2RMS: 0.996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en-US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Temperature </a:t>
              </a:r>
              <a:r>
                <a:rPr lang="ru-RU" sz="1200" b="1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–</a:t>
              </a:r>
              <a:r>
                <a:rPr lang="en-US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Volume Flow </a:t>
              </a:r>
              <a:r>
                <a:rPr lang="en-US" sz="1200" b="0" i="0" dirty="0" err="1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RateRMS</a:t>
              </a:r>
              <a:r>
                <a:rPr lang="en-US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: 0.902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Давление не зависит от других (</a:t>
              </a:r>
              <a:r>
                <a:rPr lang="en-US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 &lt; 0.11)</a:t>
              </a:r>
              <a:endParaRPr lang="ru-RU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89E4C90-8F50-3F44-5E09-8ED766FE6248}"/>
                </a:ext>
              </a:extLst>
            </p:cNvPr>
            <p:cNvSpPr txBox="1"/>
            <p:nvPr/>
          </p:nvSpPr>
          <p:spPr>
            <a:xfrm>
              <a:off x="8586491" y="2743199"/>
              <a:ext cx="3442447" cy="14431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>
                <a:lnSpc>
                  <a:spcPct val="150000"/>
                </a:lnSpc>
              </a:pP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Значительное различие в масштабах</a:t>
              </a:r>
            </a:p>
            <a:p>
              <a:pPr marL="285750">
                <a:lnSpc>
                  <a:spcPct val="150000"/>
                </a:lnSpc>
              </a:pP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измерений: от 0.026 (Accelerometer1RMS) до 254.74 (</a:t>
              </a:r>
              <a:r>
                <a:rPr lang="ru-RU" sz="1200" b="0" i="0" dirty="0" err="1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Voltage</a:t>
              </a: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Различие в 352 раза</a:t>
              </a:r>
            </a:p>
            <a:p>
              <a:pPr marL="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Разные единицы: g, А, бар, °C, В, л/мин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1CFC7DE-E7DB-7F89-F514-8E4AF0F501D1}"/>
                </a:ext>
              </a:extLst>
            </p:cNvPr>
            <p:cNvSpPr txBox="1"/>
            <p:nvPr/>
          </p:nvSpPr>
          <p:spPr>
            <a:xfrm>
              <a:off x="1406586" y="4788442"/>
              <a:ext cx="3088211" cy="889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Выбросы сохранить </a:t>
              </a:r>
              <a:r>
                <a:rPr lang="ru-RU" sz="1200" b="1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–</a:t>
              </a: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это пиковые вибрации при включении, </a:t>
              </a:r>
              <a:r>
                <a:rPr lang="ru-RU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нормальное поведение системы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AEF1D90-7377-576C-1080-855CBD87F159}"/>
                </a:ext>
              </a:extLst>
            </p:cNvPr>
            <p:cNvSpPr txBox="1"/>
            <p:nvPr/>
          </p:nvSpPr>
          <p:spPr>
            <a:xfrm>
              <a:off x="4564085" y="4848782"/>
              <a:ext cx="4168573" cy="889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Сократить дублирующие каналы (</a:t>
              </a:r>
              <a:r>
                <a:rPr lang="en-CA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 &gt; 0.9</a:t>
              </a: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Давление сохранить как</a:t>
              </a:r>
              <a:r>
                <a:rPr lang="en-CA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уникальный</a:t>
              </a:r>
              <a:endParaRPr lang="en-CA" sz="1200" dirty="0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признак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92D251F-4434-FCED-7561-347E63571505}"/>
                </a:ext>
              </a:extLst>
            </p:cNvPr>
            <p:cNvSpPr txBox="1"/>
            <p:nvPr/>
          </p:nvSpPr>
          <p:spPr>
            <a:xfrm>
              <a:off x="8876295" y="4789078"/>
              <a:ext cx="2989310" cy="889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Применить </a:t>
              </a:r>
              <a:r>
                <a:rPr lang="ru-RU" sz="1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StandardScaler</a:t>
              </a:r>
              <a:r>
                <a:rPr lang="ru-RU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для приведения всех числовых признаков к единому масштабу</a:t>
              </a:r>
            </a:p>
          </p:txBody>
        </p:sp>
      </p:grp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441EFDFB-E7FB-1900-D255-B38869360B20}"/>
              </a:ext>
            </a:extLst>
          </p:cNvPr>
          <p:cNvGrpSpPr/>
          <p:nvPr/>
        </p:nvGrpSpPr>
        <p:grpSpPr>
          <a:xfrm>
            <a:off x="-485781" y="2705099"/>
            <a:ext cx="13163562" cy="3607987"/>
            <a:chOff x="12275671" y="2705100"/>
            <a:chExt cx="13163562" cy="3607987"/>
          </a:xfrm>
        </p:grpSpPr>
        <p:cxnSp>
          <p:nvCxnSpPr>
            <p:cNvPr id="111" name="Прямая соединительная линия 110">
              <a:extLst>
                <a:ext uri="{FF2B5EF4-FFF2-40B4-BE49-F238E27FC236}">
                  <a16:creationId xmlns:a16="http://schemas.microsoft.com/office/drawing/2014/main" id="{B49FD563-38B1-7F6E-A714-BEE29073C00A}"/>
                </a:ext>
              </a:extLst>
            </p:cNvPr>
            <p:cNvCxnSpPr>
              <a:cxnSpLocks/>
            </p:cNvCxnSpPr>
            <p:nvPr/>
          </p:nvCxnSpPr>
          <p:spPr>
            <a:xfrm>
              <a:off x="13997159" y="2705100"/>
              <a:ext cx="0" cy="343445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Группа 120">
              <a:extLst>
                <a:ext uri="{FF2B5EF4-FFF2-40B4-BE49-F238E27FC236}">
                  <a16:creationId xmlns:a16="http://schemas.microsoft.com/office/drawing/2014/main" id="{0D84BD63-4F03-155A-E4BF-3963272A1FF4}"/>
                </a:ext>
              </a:extLst>
            </p:cNvPr>
            <p:cNvGrpSpPr/>
            <p:nvPr/>
          </p:nvGrpSpPr>
          <p:grpSpPr>
            <a:xfrm>
              <a:off x="12275671" y="2705100"/>
              <a:ext cx="13163562" cy="3607987"/>
              <a:chOff x="12275671" y="2705100"/>
              <a:chExt cx="13163562" cy="3607987"/>
            </a:xfrm>
          </p:grpSpPr>
          <p:cxnSp>
            <p:nvCxnSpPr>
              <p:cNvPr id="112" name="Прямая соединительная линия 111">
                <a:extLst>
                  <a:ext uri="{FF2B5EF4-FFF2-40B4-BE49-F238E27FC236}">
                    <a16:creationId xmlns:a16="http://schemas.microsoft.com/office/drawing/2014/main" id="{74DFA6CD-EC98-9494-0964-C8E5196BE7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275671" y="4670426"/>
                <a:ext cx="13163562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3040357B-208D-7936-81C3-ADD5B4532752}"/>
                  </a:ext>
                </a:extLst>
              </p:cNvPr>
              <p:cNvSpPr txBox="1"/>
              <p:nvPr/>
            </p:nvSpPr>
            <p:spPr>
              <a:xfrm rot="3847950">
                <a:off x="12649947" y="3625376"/>
                <a:ext cx="1597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Результаты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73CB1165-F8B6-6575-A3DE-477E800E2886}"/>
                  </a:ext>
                </a:extLst>
              </p:cNvPr>
              <p:cNvSpPr txBox="1"/>
              <p:nvPr/>
            </p:nvSpPr>
            <p:spPr>
              <a:xfrm rot="3847950">
                <a:off x="12721971" y="5368638"/>
                <a:ext cx="15195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Действия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1DB5037C-0B03-38FF-FFB6-660764CF3CA0}"/>
                  </a:ext>
                </a:extLst>
              </p:cNvPr>
              <p:cNvSpPr txBox="1"/>
              <p:nvPr/>
            </p:nvSpPr>
            <p:spPr>
              <a:xfrm>
                <a:off x="14074343" y="2743199"/>
                <a:ext cx="3863630" cy="17201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Accelerometer</a:t>
                </a: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Pressure</a:t>
                </a: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Voltage </a:t>
                </a:r>
                <a:r>
                  <a:rPr lang="ru-RU" sz="1200" b="1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–</a:t>
                </a: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мультимодальное распределение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Accelerometer</a:t>
                </a: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2, </a:t>
                </a: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Current, Volume Flow</a:t>
                </a: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ассиметричное распределение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Temperature</a:t>
                </a: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Thermocouple</a:t>
                </a: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200" b="1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–</a:t>
                </a:r>
                <a:r>
                  <a:rPr lang="en-US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2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мультимодальное (нагрев/остывание)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DD967F5D-8FDB-71FE-E9FD-4FB1901FD446}"/>
                  </a:ext>
                </a:extLst>
              </p:cNvPr>
              <p:cNvSpPr txBox="1"/>
              <p:nvPr/>
            </p:nvSpPr>
            <p:spPr>
              <a:xfrm>
                <a:off x="18012063" y="2739324"/>
                <a:ext cx="3190587" cy="17201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2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Тренд: падающий (−8.17°C за 6 часов)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2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Сезонность: ~60 сек (циклы насоса), амплитуда низкая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2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Нестационарный ряд (есть тренд и сезонность)</a:t>
                </a:r>
                <a:endParaRPr lang="ru-RU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84A120CF-9F90-4FB9-D59F-D3C5D144E1F2}"/>
                  </a:ext>
                </a:extLst>
              </p:cNvPr>
              <p:cNvSpPr txBox="1"/>
              <p:nvPr/>
            </p:nvSpPr>
            <p:spPr>
              <a:xfrm>
                <a:off x="21647278" y="2705100"/>
                <a:ext cx="3442447" cy="11661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440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2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SNR = 21.11 дБ – Отлично</a:t>
                </a:r>
              </a:p>
              <a:p>
                <a:pPr indent="-28440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2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Распределение остатков близко к нормальному</a:t>
                </a:r>
              </a:p>
              <a:p>
                <a:pPr indent="-28440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2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Шум случаен, декомпозиция адекватна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14103BE-3149-9651-AA2E-EFFB8CF1D3AF}"/>
                  </a:ext>
                </a:extLst>
              </p:cNvPr>
              <p:cNvSpPr txBox="1"/>
              <p:nvPr/>
            </p:nvSpPr>
            <p:spPr>
              <a:xfrm>
                <a:off x="14106584" y="4735799"/>
                <a:ext cx="3735376" cy="13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Учитывать асимметрию при выборе модели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Использование метрики </a:t>
                </a: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MAE</a:t>
                </a: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(средняя абсолютная ошибка)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28A99A4-9DC7-11E4-1D2D-F70ED386BF8E}"/>
                  </a:ext>
                </a:extLst>
              </p:cNvPr>
              <p:cNvSpPr txBox="1"/>
              <p:nvPr/>
            </p:nvSpPr>
            <p:spPr>
              <a:xfrm>
                <a:off x="17983819" y="4698934"/>
                <a:ext cx="3454806" cy="13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Для ARIMA – берем разность, чтобы убрать общий спад или рост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Для нейросетей – разность не нужна</a:t>
                </a:r>
                <a:endPara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5D7B05DB-1441-6370-82F5-EF472CE8A52D}"/>
                  </a:ext>
                </a:extLst>
              </p:cNvPr>
              <p:cNvSpPr txBox="1"/>
              <p:nvPr/>
            </p:nvSpPr>
            <p:spPr>
              <a:xfrm>
                <a:off x="21647278" y="4696367"/>
                <a:ext cx="2989310" cy="1021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Фильтрация не требуется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Данные чистые, модели будут хорошо работать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81201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9C196-F714-514C-FB65-E60BF64A3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CFA5601-7E51-CE67-5634-DC1EFD3BBBBA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488237-7B93-E7AC-2BB0-7AC2438632EE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Временные ряды: выводы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5FCE7B98-87FD-7A88-1E44-8B516AB2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14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7669BB0-032E-7687-D900-31636983BFF6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23EC6828-AD25-419E-62DD-6376EEB9249E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191D6-7459-E493-4C36-392A90073D29}"/>
              </a:ext>
            </a:extLst>
          </p:cNvPr>
          <p:cNvSpPr txBox="1"/>
          <p:nvPr/>
        </p:nvSpPr>
        <p:spPr>
          <a:xfrm>
            <a:off x="377364" y="1374335"/>
            <a:ext cx="11509836" cy="373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Пригодность: </a:t>
            </a:r>
            <a:r>
              <a:rPr lang="ru-RU" sz="16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Данные полностью пригодны для задачи поиска аномалий в работе насосного оборудования. Пропуски в измерительных каналах отсутствуют, выбросы являются целевыми аномалиями и не подлежат удалению. Высокий показатель SNR (21.11 дБ – «Отлично») означает, что шум практически незаметен, данные чистые.</a:t>
            </a:r>
          </a:p>
          <a:p>
            <a:pPr>
              <a:lnSpc>
                <a:spcPct val="150000"/>
              </a:lnSpc>
            </a:pPr>
            <a:endParaRPr lang="ru-RU" sz="1600" b="1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Рекомендации по предварительной обработке перед построением модели: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Применить стандартизацию (</a:t>
            </a:r>
            <a:r>
              <a:rPr lang="ru-RU" sz="16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StandardScaler</a:t>
            </a:r>
            <a:r>
              <a:rPr lang="ru-RU" sz="16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для приведения всех каналов к единому масштабу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Сохранить выбросы – это искомые аномалии (переходные режимы работы насоса)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Канал </a:t>
            </a:r>
            <a:r>
              <a:rPr lang="ru-RU" sz="16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Pressure</a:t>
            </a:r>
            <a:r>
              <a:rPr lang="ru-RU" sz="16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сохранить как независимый признак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Сильно коррелирующие каналы (Accelerometer1RMS и Accelerometer2RMS, r = 0.996) сократить, оставив один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Использовать MAE вместо MSE – метрика устойчива к редким пиковым значениям</a:t>
            </a:r>
          </a:p>
        </p:txBody>
      </p:sp>
    </p:spTree>
    <p:extLst>
      <p:ext uri="{BB962C8B-B14F-4D97-AF65-F5344CB8AC3E}">
        <p14:creationId xmlns:p14="http://schemas.microsoft.com/office/powerpoint/2010/main" val="830373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DEA1B-F651-A420-03C4-8FCD8FCA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74BE533-842C-C5D4-AA07-D29EBF5AF993}"/>
              </a:ext>
            </a:extLst>
          </p:cNvPr>
          <p:cNvSpPr/>
          <p:nvPr/>
        </p:nvSpPr>
        <p:spPr>
          <a:xfrm>
            <a:off x="-24674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5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9DA64B-7657-B2BC-9BC7-7BA6B2A2B96E}"/>
              </a:ext>
            </a:extLst>
          </p:cNvPr>
          <p:cNvSpPr txBox="1"/>
          <p:nvPr/>
        </p:nvSpPr>
        <p:spPr>
          <a:xfrm>
            <a:off x="335142" y="270199"/>
            <a:ext cx="1152170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Данные с изображениями: задача и описание данных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FEA01F13-DC1A-0195-811D-B2307FA889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15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3709602-D621-75E9-1286-6B4609C4CBC4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108A72F6-886E-C01B-2D6D-CF74E3F6E7C9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7D828-E471-472B-1342-B0303AE2FE0E}"/>
              </a:ext>
            </a:extLst>
          </p:cNvPr>
          <p:cNvSpPr txBox="1"/>
          <p:nvPr/>
        </p:nvSpPr>
        <p:spPr>
          <a:xfrm>
            <a:off x="413651" y="981929"/>
            <a:ext cx="11364686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Задача: </a:t>
            </a: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Детекция помидоров на изображении и </a:t>
            </a:r>
          </a:p>
          <a:p>
            <a:pPr algn="just">
              <a:lnSpc>
                <a:spcPct val="150000"/>
              </a:lnSpc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классификация по двум признакам: размер (обычный/черри) </a:t>
            </a:r>
          </a:p>
          <a:p>
            <a:pPr algn="just">
              <a:lnSpc>
                <a:spcPct val="150000"/>
              </a:lnSpc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 стадия созревания (зелёный, </a:t>
            </a:r>
            <a:r>
              <a:rPr lang="ru-RU" sz="20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полусозревший</a:t>
            </a: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созревший) </a:t>
            </a:r>
          </a:p>
          <a:p>
            <a:pPr algn="just">
              <a:lnSpc>
                <a:spcPct val="150000"/>
              </a:lnSpc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всего 6 классов</a:t>
            </a:r>
          </a:p>
          <a:p>
            <a:pPr algn="just">
              <a:lnSpc>
                <a:spcPct val="150000"/>
              </a:lnSpc>
            </a:pP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Набор данных: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Название, источник: Laboro Tomato, </a:t>
            </a:r>
            <a:r>
              <a:rPr lang="ru-RU" sz="20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Kaggle</a:t>
            </a:r>
            <a:endParaRPr lang="ru-RU" sz="2000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URL: https://www.kaggle.com/datasets/nexuswho/laboro-tomato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Автор: </a:t>
            </a:r>
            <a:r>
              <a:rPr lang="ru-RU" sz="20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Karthik</a:t>
            </a: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Vinayan</a:t>
            </a: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2023 г.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Описание: цветные фотографии кустов томатов из теплицы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Размерность: 804 изображения (643 </a:t>
            </a:r>
            <a:r>
              <a:rPr lang="ru-RU" sz="20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train</a:t>
            </a: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/ 161 </a:t>
            </a:r>
            <a:r>
              <a:rPr lang="ru-RU" sz="20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9 777 размеченных объектов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Формат разметки: YOLO и COCO</a:t>
            </a:r>
          </a:p>
        </p:txBody>
      </p:sp>
      <p:pic>
        <p:nvPicPr>
          <p:cNvPr id="5" name="Рисунок 4" descr="Разные сорта помидоров в испанской кухне. Испания по-русски - все о жизни в  Испании">
            <a:extLst>
              <a:ext uri="{FF2B5EF4-FFF2-40B4-BE49-F238E27FC236}">
                <a16:creationId xmlns:a16="http://schemas.microsoft.com/office/drawing/2014/main" id="{4D4BF62B-16F2-989C-8786-4C35D058B67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128305" y="981929"/>
            <a:ext cx="3598328" cy="2400886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183617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96F0D-4697-1AB5-60B6-1BF073715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637877C-7581-1222-A55F-EB7A6FD03574}"/>
              </a:ext>
            </a:extLst>
          </p:cNvPr>
          <p:cNvSpPr/>
          <p:nvPr/>
        </p:nvSpPr>
        <p:spPr>
          <a:xfrm>
            <a:off x="-24674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44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C2B013-11F0-55D2-6A61-A5A9A831E8A3}"/>
              </a:ext>
            </a:extLst>
          </p:cNvPr>
          <p:cNvSpPr txBox="1"/>
          <p:nvPr/>
        </p:nvSpPr>
        <p:spPr>
          <a:xfrm>
            <a:off x="401817" y="270199"/>
            <a:ext cx="1138835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Данные с изображениями: распределение по классам</a:t>
            </a: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910D87A7-98CB-13AA-2586-616E20EB0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16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72BCBF8-8099-12BD-D31E-5F0E1AA01AC2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5FB31F9E-E399-8272-536A-C5069801B314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C05B4A95-6853-569B-D852-BC1EB2A27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894398"/>
              </p:ext>
            </p:extLst>
          </p:nvPr>
        </p:nvGraphicFramePr>
        <p:xfrm>
          <a:off x="584200" y="937950"/>
          <a:ext cx="7442200" cy="519322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1015900073"/>
                    </a:ext>
                  </a:extLst>
                </a:gridCol>
                <a:gridCol w="3111500">
                  <a:extLst>
                    <a:ext uri="{9D8B030D-6E8A-4147-A177-3AD203B41FA5}">
                      <a16:colId xmlns:a16="http://schemas.microsoft.com/office/drawing/2014/main" val="45257346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242938945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3697788141"/>
                    </a:ext>
                  </a:extLst>
                </a:gridCol>
              </a:tblGrid>
              <a:tr h="670179"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</a:p>
                  </a:txBody>
                  <a:tcPr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Описание</a:t>
                      </a: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</a:t>
                      </a:r>
                      <a:endParaRPr lang="ru-RU" sz="18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554565"/>
                  </a:ext>
                </a:extLst>
              </a:tr>
              <a:tr h="255156"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l_green</a:t>
                      </a:r>
                      <a:endParaRPr lang="ru-RU" sz="18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Черри, зелёный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3 667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929</a:t>
                      </a:r>
                    </a:p>
                  </a:txBody>
                  <a:tcPr marL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226786"/>
                  </a:ext>
                </a:extLst>
              </a:tr>
              <a:tr h="420431"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b_green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Обычный, зелёный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1 467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387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68196"/>
                  </a:ext>
                </a:extLst>
              </a:tr>
              <a:tr h="670179"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l_fully_ripened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Черри, созревший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982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269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573889"/>
                  </a:ext>
                </a:extLst>
              </a:tr>
              <a:tr h="670179"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l_half_ripened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Черри, полусозревший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797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223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517128"/>
                  </a:ext>
                </a:extLst>
              </a:tr>
              <a:tr h="919927"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b_half_ripened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Обычный, полусозревший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520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116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698193"/>
                  </a:ext>
                </a:extLst>
              </a:tr>
              <a:tr h="584838"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b_fully_ripened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Обычный, созревший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348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022475"/>
                  </a:ext>
                </a:extLst>
              </a:tr>
              <a:tr h="814327">
                <a:tc gridSpan="2"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Всего</a:t>
                      </a:r>
                    </a:p>
                  </a:txBody>
                  <a:tcPr marR="152400" marT="95250" marB="9525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endParaRPr lang="ru-RU" sz="1800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7 781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1 996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143429"/>
                  </a:ext>
                </a:extLst>
              </a:tr>
            </a:tbl>
          </a:graphicData>
        </a:graphic>
      </p:graphicFrame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F46F953-CDE8-C241-7256-C743C75ED3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30" r="31304"/>
          <a:stretch>
            <a:fillRect/>
          </a:stretch>
        </p:blipFill>
        <p:spPr bwMode="auto">
          <a:xfrm rot="5400000">
            <a:off x="9163293" y="602117"/>
            <a:ext cx="1676980" cy="2507299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6E4540-69EB-39FF-D15C-2123E478D7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00" r="26042"/>
          <a:stretch>
            <a:fillRect/>
          </a:stretch>
        </p:blipFill>
        <p:spPr bwMode="auto">
          <a:xfrm rot="5400000">
            <a:off x="9163292" y="2279099"/>
            <a:ext cx="1676982" cy="2507299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34408B-4352-74DA-82AB-C81CBA3959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2" r="31879"/>
          <a:stretch>
            <a:fillRect/>
          </a:stretch>
        </p:blipFill>
        <p:spPr bwMode="auto">
          <a:xfrm rot="5400000">
            <a:off x="9152989" y="3945777"/>
            <a:ext cx="1685240" cy="2519648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205220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D4EF-0A5A-D831-396E-567456D5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E1DF535-0829-195E-9EAA-D2E0B9165EE1}"/>
              </a:ext>
            </a:extLst>
          </p:cNvPr>
          <p:cNvSpPr/>
          <p:nvPr/>
        </p:nvSpPr>
        <p:spPr>
          <a:xfrm>
            <a:off x="-22769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32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66B07BF0-236E-8DC7-A8FF-8799A3EEEFF6}"/>
              </a:ext>
            </a:extLst>
          </p:cNvPr>
          <p:cNvGrpSpPr/>
          <p:nvPr/>
        </p:nvGrpSpPr>
        <p:grpSpPr>
          <a:xfrm>
            <a:off x="8452480" y="-1343198"/>
            <a:ext cx="3903766" cy="3903766"/>
            <a:chOff x="8746731" y="-1343198"/>
            <a:chExt cx="3903766" cy="3903766"/>
          </a:xfrm>
        </p:grpSpPr>
        <p:grpSp>
          <p:nvGrpSpPr>
            <p:cNvPr id="63" name="Группа 62">
              <a:extLst>
                <a:ext uri="{FF2B5EF4-FFF2-40B4-BE49-F238E27FC236}">
                  <a16:creationId xmlns:a16="http://schemas.microsoft.com/office/drawing/2014/main" id="{040A8F7F-FD74-3D8E-3D0E-90C3373244DB}"/>
                </a:ext>
              </a:extLst>
            </p:cNvPr>
            <p:cNvGrpSpPr/>
            <p:nvPr/>
          </p:nvGrpSpPr>
          <p:grpSpPr>
            <a:xfrm>
              <a:off x="8746731" y="-1343198"/>
              <a:ext cx="3903766" cy="3903766"/>
              <a:chOff x="152400" y="1057655"/>
              <a:chExt cx="3903766" cy="3903766"/>
            </a:xfrm>
          </p:grpSpPr>
          <p:sp>
            <p:nvSpPr>
              <p:cNvPr id="64" name="Полилиния: фигура 63">
                <a:extLst>
                  <a:ext uri="{FF2B5EF4-FFF2-40B4-BE49-F238E27FC236}">
                    <a16:creationId xmlns:a16="http://schemas.microsoft.com/office/drawing/2014/main" id="{4FAF5EED-AF50-F7D5-1D2D-47BD57DA8CAE}"/>
                  </a:ext>
                </a:extLst>
              </p:cNvPr>
              <p:cNvSpPr/>
              <p:nvPr/>
            </p:nvSpPr>
            <p:spPr>
              <a:xfrm>
                <a:off x="152400" y="1057655"/>
                <a:ext cx="3903766" cy="3903766"/>
              </a:xfrm>
              <a:custGeom>
                <a:avLst/>
                <a:gdLst>
                  <a:gd name="csX0" fmla="*/ 2492829 w 4985658"/>
                  <a:gd name="csY0" fmla="*/ 1240972 h 4985658"/>
                  <a:gd name="csX1" fmla="*/ 1240972 w 4985658"/>
                  <a:gd name="csY1" fmla="*/ 2492829 h 4985658"/>
                  <a:gd name="csX2" fmla="*/ 2492829 w 4985658"/>
                  <a:gd name="csY2" fmla="*/ 3744686 h 4985658"/>
                  <a:gd name="csX3" fmla="*/ 3744686 w 4985658"/>
                  <a:gd name="csY3" fmla="*/ 2492829 h 4985658"/>
                  <a:gd name="csX4" fmla="*/ 2492829 w 4985658"/>
                  <a:gd name="csY4" fmla="*/ 1240972 h 4985658"/>
                  <a:gd name="csX5" fmla="*/ 2492829 w 4985658"/>
                  <a:gd name="csY5" fmla="*/ 0 h 4985658"/>
                  <a:gd name="csX6" fmla="*/ 4985658 w 4985658"/>
                  <a:gd name="csY6" fmla="*/ 2492829 h 4985658"/>
                  <a:gd name="csX7" fmla="*/ 2492829 w 4985658"/>
                  <a:gd name="csY7" fmla="*/ 4985658 h 4985658"/>
                  <a:gd name="csX8" fmla="*/ 0 w 4985658"/>
                  <a:gd name="csY8" fmla="*/ 2492829 h 4985658"/>
                  <a:gd name="csX9" fmla="*/ 2492829 w 4985658"/>
                  <a:gd name="csY9" fmla="*/ 0 h 4985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4985658" h="4985658">
                    <a:moveTo>
                      <a:pt x="2492829" y="1240972"/>
                    </a:moveTo>
                    <a:cubicBezTo>
                      <a:pt x="1801447" y="1240972"/>
                      <a:pt x="1240972" y="1801447"/>
                      <a:pt x="1240972" y="2492829"/>
                    </a:cubicBezTo>
                    <a:cubicBezTo>
                      <a:pt x="1240972" y="3184211"/>
                      <a:pt x="1801447" y="3744686"/>
                      <a:pt x="2492829" y="3744686"/>
                    </a:cubicBezTo>
                    <a:cubicBezTo>
                      <a:pt x="3184211" y="3744686"/>
                      <a:pt x="3744686" y="3184211"/>
                      <a:pt x="3744686" y="2492829"/>
                    </a:cubicBezTo>
                    <a:cubicBezTo>
                      <a:pt x="3744686" y="1801447"/>
                      <a:pt x="3184211" y="1240972"/>
                      <a:pt x="2492829" y="1240972"/>
                    </a:cubicBezTo>
                    <a:close/>
                    <a:moveTo>
                      <a:pt x="2492829" y="0"/>
                    </a:moveTo>
                    <a:cubicBezTo>
                      <a:pt x="3869580" y="0"/>
                      <a:pt x="4985658" y="1116078"/>
                      <a:pt x="4985658" y="2492829"/>
                    </a:cubicBezTo>
                    <a:cubicBezTo>
                      <a:pt x="4985658" y="3869580"/>
                      <a:pt x="3869580" y="4985658"/>
                      <a:pt x="2492829" y="4985658"/>
                    </a:cubicBezTo>
                    <a:cubicBezTo>
                      <a:pt x="1116078" y="4985658"/>
                      <a:pt x="0" y="3869580"/>
                      <a:pt x="0" y="2492829"/>
                    </a:cubicBezTo>
                    <a:cubicBezTo>
                      <a:pt x="0" y="1116078"/>
                      <a:pt x="1116078" y="0"/>
                      <a:pt x="24928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75000">
                    <a:srgbClr val="122639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  <a:gs pos="44000">
                    <a:schemeClr val="tx2">
                      <a:lumMod val="90000"/>
                      <a:lumOff val="10000"/>
                    </a:schemeClr>
                  </a:gs>
                </a:gsLst>
                <a:lin ang="12600000" scaled="0"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 dirty="0"/>
              </a:p>
            </p:txBody>
          </p:sp>
          <p:grpSp>
            <p:nvGrpSpPr>
              <p:cNvPr id="65" name="Группа 64">
                <a:extLst>
                  <a:ext uri="{FF2B5EF4-FFF2-40B4-BE49-F238E27FC236}">
                    <a16:creationId xmlns:a16="http://schemas.microsoft.com/office/drawing/2014/main" id="{3995EC99-F596-11B1-F046-12658D09C903}"/>
                  </a:ext>
                </a:extLst>
              </p:cNvPr>
              <p:cNvGrpSpPr/>
              <p:nvPr/>
            </p:nvGrpSpPr>
            <p:grpSpPr>
              <a:xfrm>
                <a:off x="3084486" y="2719153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69" name="Прямая соединительная линия 68">
                  <a:extLst>
                    <a:ext uri="{FF2B5EF4-FFF2-40B4-BE49-F238E27FC236}">
                      <a16:creationId xmlns:a16="http://schemas.microsoft.com/office/drawing/2014/main" id="{3ACCE01D-F2CA-FD32-D09F-1177B2DE56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Прямая соединительная линия 69">
                  <a:extLst>
                    <a:ext uri="{FF2B5EF4-FFF2-40B4-BE49-F238E27FC236}">
                      <a16:creationId xmlns:a16="http://schemas.microsoft.com/office/drawing/2014/main" id="{3DEA6CEB-2A2D-D92D-98FA-D3DE5F9CE0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6" name="Группа 65">
                <a:extLst>
                  <a:ext uri="{FF2B5EF4-FFF2-40B4-BE49-F238E27FC236}">
                    <a16:creationId xmlns:a16="http://schemas.microsoft.com/office/drawing/2014/main" id="{1B5C1849-9B3F-FEAB-F301-702F660767F8}"/>
                  </a:ext>
                </a:extLst>
              </p:cNvPr>
              <p:cNvGrpSpPr/>
              <p:nvPr/>
            </p:nvGrpSpPr>
            <p:grpSpPr>
              <a:xfrm rot="10800000">
                <a:off x="152400" y="3035177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67" name="Прямая соединительная линия 66">
                  <a:extLst>
                    <a:ext uri="{FF2B5EF4-FFF2-40B4-BE49-F238E27FC236}">
                      <a16:creationId xmlns:a16="http://schemas.microsoft.com/office/drawing/2014/main" id="{889697D4-7A97-F828-5AD4-C78C0B644F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Прямая соединительная линия 67">
                  <a:extLst>
                    <a:ext uri="{FF2B5EF4-FFF2-40B4-BE49-F238E27FC236}">
                      <a16:creationId xmlns:a16="http://schemas.microsoft.com/office/drawing/2014/main" id="{4173EFB3-F474-ED48-1DB3-B0254E2C5C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CCA476D-7B64-32D4-0213-15AAA31992E0}"/>
                </a:ext>
              </a:extLst>
            </p:cNvPr>
            <p:cNvSpPr txBox="1"/>
            <p:nvPr/>
          </p:nvSpPr>
          <p:spPr>
            <a:xfrm>
              <a:off x="9256187" y="1628588"/>
              <a:ext cx="296091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Шаг 3. </a:t>
              </a:r>
            </a:p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Размеры объектов</a:t>
              </a:r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D8154802-57F1-F326-2E93-00D9800E20BE}"/>
              </a:ext>
            </a:extLst>
          </p:cNvPr>
          <p:cNvGrpSpPr/>
          <p:nvPr/>
        </p:nvGrpSpPr>
        <p:grpSpPr>
          <a:xfrm>
            <a:off x="4809846" y="-1343198"/>
            <a:ext cx="3922816" cy="3903766"/>
            <a:chOff x="5028036" y="-1343198"/>
            <a:chExt cx="3922816" cy="3903766"/>
          </a:xfrm>
        </p:grpSpPr>
        <p:grpSp>
          <p:nvGrpSpPr>
            <p:cNvPr id="89" name="Группа 88">
              <a:extLst>
                <a:ext uri="{FF2B5EF4-FFF2-40B4-BE49-F238E27FC236}">
                  <a16:creationId xmlns:a16="http://schemas.microsoft.com/office/drawing/2014/main" id="{B3E5FB36-D1F1-9461-2E59-AD5B5B19986F}"/>
                </a:ext>
              </a:extLst>
            </p:cNvPr>
            <p:cNvGrpSpPr/>
            <p:nvPr/>
          </p:nvGrpSpPr>
          <p:grpSpPr>
            <a:xfrm>
              <a:off x="5047086" y="-1343198"/>
              <a:ext cx="3903766" cy="3903766"/>
              <a:chOff x="5013346" y="-1343198"/>
              <a:chExt cx="3903766" cy="3903766"/>
            </a:xfrm>
          </p:grpSpPr>
          <p:grpSp>
            <p:nvGrpSpPr>
              <p:cNvPr id="55" name="Группа 54">
                <a:extLst>
                  <a:ext uri="{FF2B5EF4-FFF2-40B4-BE49-F238E27FC236}">
                    <a16:creationId xmlns:a16="http://schemas.microsoft.com/office/drawing/2014/main" id="{F0245843-961C-4CF1-35B1-D2AEA088ADE7}"/>
                  </a:ext>
                </a:extLst>
              </p:cNvPr>
              <p:cNvGrpSpPr/>
              <p:nvPr/>
            </p:nvGrpSpPr>
            <p:grpSpPr>
              <a:xfrm>
                <a:off x="5013346" y="-1343198"/>
                <a:ext cx="3903766" cy="3903766"/>
                <a:chOff x="152400" y="1057655"/>
                <a:chExt cx="3903766" cy="3903766"/>
              </a:xfrm>
            </p:grpSpPr>
            <p:sp>
              <p:nvSpPr>
                <p:cNvPr id="56" name="Полилиния: фигура 55">
                  <a:extLst>
                    <a:ext uri="{FF2B5EF4-FFF2-40B4-BE49-F238E27FC236}">
                      <a16:creationId xmlns:a16="http://schemas.microsoft.com/office/drawing/2014/main" id="{D340D5CC-ACE1-39C3-3AFC-986593F05E37}"/>
                    </a:ext>
                  </a:extLst>
                </p:cNvPr>
                <p:cNvSpPr/>
                <p:nvPr/>
              </p:nvSpPr>
              <p:spPr>
                <a:xfrm>
                  <a:off x="152400" y="1057655"/>
                  <a:ext cx="3903766" cy="3903766"/>
                </a:xfrm>
                <a:custGeom>
                  <a:avLst/>
                  <a:gdLst>
                    <a:gd name="csX0" fmla="*/ 2492829 w 4985658"/>
                    <a:gd name="csY0" fmla="*/ 1240972 h 4985658"/>
                    <a:gd name="csX1" fmla="*/ 1240972 w 4985658"/>
                    <a:gd name="csY1" fmla="*/ 2492829 h 4985658"/>
                    <a:gd name="csX2" fmla="*/ 2492829 w 4985658"/>
                    <a:gd name="csY2" fmla="*/ 3744686 h 4985658"/>
                    <a:gd name="csX3" fmla="*/ 3744686 w 4985658"/>
                    <a:gd name="csY3" fmla="*/ 2492829 h 4985658"/>
                    <a:gd name="csX4" fmla="*/ 2492829 w 4985658"/>
                    <a:gd name="csY4" fmla="*/ 1240972 h 4985658"/>
                    <a:gd name="csX5" fmla="*/ 2492829 w 4985658"/>
                    <a:gd name="csY5" fmla="*/ 0 h 4985658"/>
                    <a:gd name="csX6" fmla="*/ 4985658 w 4985658"/>
                    <a:gd name="csY6" fmla="*/ 2492829 h 4985658"/>
                    <a:gd name="csX7" fmla="*/ 2492829 w 4985658"/>
                    <a:gd name="csY7" fmla="*/ 4985658 h 4985658"/>
                    <a:gd name="csX8" fmla="*/ 0 w 4985658"/>
                    <a:gd name="csY8" fmla="*/ 2492829 h 4985658"/>
                    <a:gd name="csX9" fmla="*/ 2492829 w 4985658"/>
                    <a:gd name="csY9" fmla="*/ 0 h 4985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4985658" h="4985658">
                      <a:moveTo>
                        <a:pt x="2492829" y="1240972"/>
                      </a:moveTo>
                      <a:cubicBezTo>
                        <a:pt x="1801447" y="1240972"/>
                        <a:pt x="1240972" y="1801447"/>
                        <a:pt x="1240972" y="2492829"/>
                      </a:cubicBezTo>
                      <a:cubicBezTo>
                        <a:pt x="1240972" y="3184211"/>
                        <a:pt x="1801447" y="3744686"/>
                        <a:pt x="2492829" y="3744686"/>
                      </a:cubicBezTo>
                      <a:cubicBezTo>
                        <a:pt x="3184211" y="3744686"/>
                        <a:pt x="3744686" y="3184211"/>
                        <a:pt x="3744686" y="2492829"/>
                      </a:cubicBezTo>
                      <a:cubicBezTo>
                        <a:pt x="3744686" y="1801447"/>
                        <a:pt x="3184211" y="1240972"/>
                        <a:pt x="2492829" y="1240972"/>
                      </a:cubicBezTo>
                      <a:close/>
                      <a:moveTo>
                        <a:pt x="2492829" y="0"/>
                      </a:moveTo>
                      <a:cubicBezTo>
                        <a:pt x="3869580" y="0"/>
                        <a:pt x="4985658" y="1116078"/>
                        <a:pt x="4985658" y="2492829"/>
                      </a:cubicBezTo>
                      <a:cubicBezTo>
                        <a:pt x="4985658" y="3869580"/>
                        <a:pt x="3869580" y="4985658"/>
                        <a:pt x="2492829" y="4985658"/>
                      </a:cubicBezTo>
                      <a:cubicBezTo>
                        <a:pt x="1116078" y="4985658"/>
                        <a:pt x="0" y="3869580"/>
                        <a:pt x="0" y="2492829"/>
                      </a:cubicBezTo>
                      <a:cubicBezTo>
                        <a:pt x="0" y="1116078"/>
                        <a:pt x="1116078" y="0"/>
                        <a:pt x="2492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75000">
                      <a:srgbClr val="122639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44000">
                      <a:schemeClr val="tx2">
                        <a:lumMod val="90000"/>
                        <a:lumOff val="10000"/>
                      </a:schemeClr>
                    </a:gs>
                  </a:gsLst>
                  <a:lin ang="12600000" scaled="0"/>
                </a:gra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ru-RU" dirty="0"/>
                </a:p>
              </p:txBody>
            </p:sp>
            <p:grpSp>
              <p:nvGrpSpPr>
                <p:cNvPr id="57" name="Группа 56">
                  <a:extLst>
                    <a:ext uri="{FF2B5EF4-FFF2-40B4-BE49-F238E27FC236}">
                      <a16:creationId xmlns:a16="http://schemas.microsoft.com/office/drawing/2014/main" id="{5A9C368C-3354-CC3F-F6AE-C9E8693191EB}"/>
                    </a:ext>
                  </a:extLst>
                </p:cNvPr>
                <p:cNvGrpSpPr/>
                <p:nvPr/>
              </p:nvGrpSpPr>
              <p:grpSpPr>
                <a:xfrm>
                  <a:off x="3084486" y="2719153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1" name="Прямая соединительная линия 60">
                    <a:extLst>
                      <a:ext uri="{FF2B5EF4-FFF2-40B4-BE49-F238E27FC236}">
                        <a16:creationId xmlns:a16="http://schemas.microsoft.com/office/drawing/2014/main" id="{6EE467A9-E44B-4A8A-9440-D85CB39E24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Прямая соединительная линия 61">
                    <a:extLst>
                      <a:ext uri="{FF2B5EF4-FFF2-40B4-BE49-F238E27FC236}">
                        <a16:creationId xmlns:a16="http://schemas.microsoft.com/office/drawing/2014/main" id="{75DDC51D-3E22-9316-870D-15542D74AF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" name="Группа 57">
                  <a:extLst>
                    <a:ext uri="{FF2B5EF4-FFF2-40B4-BE49-F238E27FC236}">
                      <a16:creationId xmlns:a16="http://schemas.microsoft.com/office/drawing/2014/main" id="{F64ABB7A-B4B2-437F-3F4A-ED988F012433}"/>
                    </a:ext>
                  </a:extLst>
                </p:cNvPr>
                <p:cNvGrpSpPr/>
                <p:nvPr/>
              </p:nvGrpSpPr>
              <p:grpSpPr>
                <a:xfrm rot="10800000">
                  <a:off x="152400" y="3035177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59" name="Прямая соединительная линия 58">
                    <a:extLst>
                      <a:ext uri="{FF2B5EF4-FFF2-40B4-BE49-F238E27FC236}">
                        <a16:creationId xmlns:a16="http://schemas.microsoft.com/office/drawing/2014/main" id="{4325C2CB-1D07-2DE7-ADFD-5D4CBEC565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Прямая соединительная линия 59">
                    <a:extLst>
                      <a:ext uri="{FF2B5EF4-FFF2-40B4-BE49-F238E27FC236}">
                        <a16:creationId xmlns:a16="http://schemas.microsoft.com/office/drawing/2014/main" id="{C91EA104-95EB-9B5F-F742-7C8040E4B3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680C5EE-4B7A-9934-D234-907D1E65F802}"/>
                  </a:ext>
                </a:extLst>
              </p:cNvPr>
              <p:cNvSpPr txBox="1"/>
              <p:nvPr/>
            </p:nvSpPr>
            <p:spPr>
              <a:xfrm>
                <a:off x="5013346" y="1623950"/>
                <a:ext cx="390376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2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Распределение классов</a:t>
                </a: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A373D10-B2B5-D3D2-F5C6-BE3A585E42AC}"/>
                </a:ext>
              </a:extLst>
            </p:cNvPr>
            <p:cNvSpPr txBox="1"/>
            <p:nvPr/>
          </p:nvSpPr>
          <p:spPr>
            <a:xfrm rot="10800000">
              <a:off x="5028036" y="-1025829"/>
              <a:ext cx="390376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Шаг 5.</a:t>
              </a:r>
            </a:p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Архитектура сети</a:t>
              </a:r>
            </a:p>
          </p:txBody>
        </p:sp>
      </p:grp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1BAA294E-3C74-B600-C953-AE930B97DDFF}"/>
              </a:ext>
            </a:extLst>
          </p:cNvPr>
          <p:cNvGrpSpPr/>
          <p:nvPr/>
        </p:nvGrpSpPr>
        <p:grpSpPr>
          <a:xfrm>
            <a:off x="1150960" y="-1343198"/>
            <a:ext cx="3903766" cy="3903766"/>
            <a:chOff x="1208423" y="-1343198"/>
            <a:chExt cx="3903766" cy="3903766"/>
          </a:xfrm>
        </p:grpSpPr>
        <p:grpSp>
          <p:nvGrpSpPr>
            <p:cNvPr id="54" name="Группа 53">
              <a:extLst>
                <a:ext uri="{FF2B5EF4-FFF2-40B4-BE49-F238E27FC236}">
                  <a16:creationId xmlns:a16="http://schemas.microsoft.com/office/drawing/2014/main" id="{E52A96D6-C09A-C6E0-652E-6CF02A19F513}"/>
                </a:ext>
              </a:extLst>
            </p:cNvPr>
            <p:cNvGrpSpPr/>
            <p:nvPr/>
          </p:nvGrpSpPr>
          <p:grpSpPr>
            <a:xfrm>
              <a:off x="1208423" y="-1343198"/>
              <a:ext cx="3903766" cy="3903766"/>
              <a:chOff x="152400" y="1057655"/>
              <a:chExt cx="3903766" cy="3903766"/>
            </a:xfrm>
          </p:grpSpPr>
          <p:sp>
            <p:nvSpPr>
              <p:cNvPr id="9" name="Полилиния: фигура 8">
                <a:extLst>
                  <a:ext uri="{FF2B5EF4-FFF2-40B4-BE49-F238E27FC236}">
                    <a16:creationId xmlns:a16="http://schemas.microsoft.com/office/drawing/2014/main" id="{9DE1FD03-99B5-944C-6D4E-55D189C3AE4A}"/>
                  </a:ext>
                </a:extLst>
              </p:cNvPr>
              <p:cNvSpPr/>
              <p:nvPr/>
            </p:nvSpPr>
            <p:spPr>
              <a:xfrm>
                <a:off x="152400" y="1057655"/>
                <a:ext cx="3903766" cy="3903766"/>
              </a:xfrm>
              <a:custGeom>
                <a:avLst/>
                <a:gdLst>
                  <a:gd name="csX0" fmla="*/ 2492829 w 4985658"/>
                  <a:gd name="csY0" fmla="*/ 1240972 h 4985658"/>
                  <a:gd name="csX1" fmla="*/ 1240972 w 4985658"/>
                  <a:gd name="csY1" fmla="*/ 2492829 h 4985658"/>
                  <a:gd name="csX2" fmla="*/ 2492829 w 4985658"/>
                  <a:gd name="csY2" fmla="*/ 3744686 h 4985658"/>
                  <a:gd name="csX3" fmla="*/ 3744686 w 4985658"/>
                  <a:gd name="csY3" fmla="*/ 2492829 h 4985658"/>
                  <a:gd name="csX4" fmla="*/ 2492829 w 4985658"/>
                  <a:gd name="csY4" fmla="*/ 1240972 h 4985658"/>
                  <a:gd name="csX5" fmla="*/ 2492829 w 4985658"/>
                  <a:gd name="csY5" fmla="*/ 0 h 4985658"/>
                  <a:gd name="csX6" fmla="*/ 4985658 w 4985658"/>
                  <a:gd name="csY6" fmla="*/ 2492829 h 4985658"/>
                  <a:gd name="csX7" fmla="*/ 2492829 w 4985658"/>
                  <a:gd name="csY7" fmla="*/ 4985658 h 4985658"/>
                  <a:gd name="csX8" fmla="*/ 0 w 4985658"/>
                  <a:gd name="csY8" fmla="*/ 2492829 h 4985658"/>
                  <a:gd name="csX9" fmla="*/ 2492829 w 4985658"/>
                  <a:gd name="csY9" fmla="*/ 0 h 4985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4985658" h="4985658">
                    <a:moveTo>
                      <a:pt x="2492829" y="1240972"/>
                    </a:moveTo>
                    <a:cubicBezTo>
                      <a:pt x="1801447" y="1240972"/>
                      <a:pt x="1240972" y="1801447"/>
                      <a:pt x="1240972" y="2492829"/>
                    </a:cubicBezTo>
                    <a:cubicBezTo>
                      <a:pt x="1240972" y="3184211"/>
                      <a:pt x="1801447" y="3744686"/>
                      <a:pt x="2492829" y="3744686"/>
                    </a:cubicBezTo>
                    <a:cubicBezTo>
                      <a:pt x="3184211" y="3744686"/>
                      <a:pt x="3744686" y="3184211"/>
                      <a:pt x="3744686" y="2492829"/>
                    </a:cubicBezTo>
                    <a:cubicBezTo>
                      <a:pt x="3744686" y="1801447"/>
                      <a:pt x="3184211" y="1240972"/>
                      <a:pt x="2492829" y="1240972"/>
                    </a:cubicBezTo>
                    <a:close/>
                    <a:moveTo>
                      <a:pt x="2492829" y="0"/>
                    </a:moveTo>
                    <a:cubicBezTo>
                      <a:pt x="3869580" y="0"/>
                      <a:pt x="4985658" y="1116078"/>
                      <a:pt x="4985658" y="2492829"/>
                    </a:cubicBezTo>
                    <a:cubicBezTo>
                      <a:pt x="4985658" y="3869580"/>
                      <a:pt x="3869580" y="4985658"/>
                      <a:pt x="2492829" y="4985658"/>
                    </a:cubicBezTo>
                    <a:cubicBezTo>
                      <a:pt x="1116078" y="4985658"/>
                      <a:pt x="0" y="3869580"/>
                      <a:pt x="0" y="2492829"/>
                    </a:cubicBezTo>
                    <a:cubicBezTo>
                      <a:pt x="0" y="1116078"/>
                      <a:pt x="1116078" y="0"/>
                      <a:pt x="24928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75000">
                    <a:srgbClr val="122639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  <a:gs pos="44000">
                    <a:schemeClr val="tx2">
                      <a:lumMod val="90000"/>
                      <a:lumOff val="10000"/>
                    </a:schemeClr>
                  </a:gs>
                </a:gsLst>
                <a:lin ang="12600000" scaled="0"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 dirty="0"/>
              </a:p>
            </p:txBody>
          </p:sp>
          <p:grpSp>
            <p:nvGrpSpPr>
              <p:cNvPr id="50" name="Группа 49">
                <a:extLst>
                  <a:ext uri="{FF2B5EF4-FFF2-40B4-BE49-F238E27FC236}">
                    <a16:creationId xmlns:a16="http://schemas.microsoft.com/office/drawing/2014/main" id="{AA27A328-6607-0D59-A6F4-90C134FA0D6E}"/>
                  </a:ext>
                </a:extLst>
              </p:cNvPr>
              <p:cNvGrpSpPr/>
              <p:nvPr/>
            </p:nvGrpSpPr>
            <p:grpSpPr>
              <a:xfrm>
                <a:off x="3084486" y="2719153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15" name="Прямая соединительная линия 14">
                  <a:extLst>
                    <a:ext uri="{FF2B5EF4-FFF2-40B4-BE49-F238E27FC236}">
                      <a16:creationId xmlns:a16="http://schemas.microsoft.com/office/drawing/2014/main" id="{9209AC29-5B32-0654-05B3-6E75B3ECDD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Прямая соединительная линия 16">
                  <a:extLst>
                    <a:ext uri="{FF2B5EF4-FFF2-40B4-BE49-F238E27FC236}">
                      <a16:creationId xmlns:a16="http://schemas.microsoft.com/office/drawing/2014/main" id="{49C297FC-16D3-99C8-B3F6-AC9C14A310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Группа 50">
                <a:extLst>
                  <a:ext uri="{FF2B5EF4-FFF2-40B4-BE49-F238E27FC236}">
                    <a16:creationId xmlns:a16="http://schemas.microsoft.com/office/drawing/2014/main" id="{3D9E01DB-FF13-23F0-CA60-A36185170733}"/>
                  </a:ext>
                </a:extLst>
              </p:cNvPr>
              <p:cNvGrpSpPr/>
              <p:nvPr/>
            </p:nvGrpSpPr>
            <p:grpSpPr>
              <a:xfrm rot="10800000">
                <a:off x="152400" y="3035177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52" name="Прямая соединительная линия 51">
                  <a:extLst>
                    <a:ext uri="{FF2B5EF4-FFF2-40B4-BE49-F238E27FC236}">
                      <a16:creationId xmlns:a16="http://schemas.microsoft.com/office/drawing/2014/main" id="{FEF7AA61-39F0-3BC5-2206-1AB9B097A2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Прямая соединительная линия 52">
                  <a:extLst>
                    <a:ext uri="{FF2B5EF4-FFF2-40B4-BE49-F238E27FC236}">
                      <a16:creationId xmlns:a16="http://schemas.microsoft.com/office/drawing/2014/main" id="{F424CB05-90EE-FBAB-E1A5-FF6D17B4B5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5" name="Группа 84">
              <a:extLst>
                <a:ext uri="{FF2B5EF4-FFF2-40B4-BE49-F238E27FC236}">
                  <a16:creationId xmlns:a16="http://schemas.microsoft.com/office/drawing/2014/main" id="{80C96D96-946B-9B53-4196-A4E2BC4C8AB4}"/>
                </a:ext>
              </a:extLst>
            </p:cNvPr>
            <p:cNvGrpSpPr/>
            <p:nvPr/>
          </p:nvGrpSpPr>
          <p:grpSpPr>
            <a:xfrm rot="10800000">
              <a:off x="1757182" y="-1002650"/>
              <a:ext cx="2806248" cy="3224868"/>
              <a:chOff x="1757182" y="-971872"/>
              <a:chExt cx="2806248" cy="3224868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E5A0E5A-32C7-4BAC-65FF-9545FB922B9D}"/>
                  </a:ext>
                </a:extLst>
              </p:cNvPr>
              <p:cNvSpPr txBox="1"/>
              <p:nvPr/>
            </p:nvSpPr>
            <p:spPr>
              <a:xfrm rot="10800000">
                <a:off x="1889778" y="-971872"/>
                <a:ext cx="254105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1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Качество данных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7C8148C-16BE-55A6-8205-974C5BE7DC7E}"/>
                  </a:ext>
                </a:extLst>
              </p:cNvPr>
              <p:cNvSpPr txBox="1"/>
              <p:nvPr/>
            </p:nvSpPr>
            <p:spPr>
              <a:xfrm>
                <a:off x="1757182" y="1668221"/>
                <a:ext cx="280624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4. Пространственное расположение</a:t>
                </a:r>
              </a:p>
            </p:txBody>
          </p:sp>
        </p:grp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23D8423-33E0-3B44-8B7E-0CD295510EDF}"/>
              </a:ext>
            </a:extLst>
          </p:cNvPr>
          <p:cNvSpPr/>
          <p:nvPr/>
        </p:nvSpPr>
        <p:spPr>
          <a:xfrm>
            <a:off x="-246746" y="-220648"/>
            <a:ext cx="12685487" cy="131284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44000">
                <a:schemeClr val="tx2">
                  <a:lumMod val="90000"/>
                  <a:lumOff val="10000"/>
                </a:schemeClr>
              </a:gs>
            </a:gsLst>
            <a:lin ang="126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E9BAE4-5ABF-D389-E951-BE495B428F33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Данные с изображениями: анализ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0461990B-9FA2-F3C6-2EAE-E540BED6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17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DCDF06-CD1A-93E2-99F2-AC31216859C9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68F10E06-F5F1-684F-9D16-1A2263DCFC1A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9939B6A6-F8EB-788A-A96C-FA1C282843B1}"/>
              </a:ext>
            </a:extLst>
          </p:cNvPr>
          <p:cNvCxnSpPr>
            <a:cxnSpLocks/>
          </p:cNvCxnSpPr>
          <p:nvPr/>
        </p:nvCxnSpPr>
        <p:spPr>
          <a:xfrm flipH="1">
            <a:off x="-495312" y="2705100"/>
            <a:ext cx="13163562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E3E807B5-421E-6803-3651-12F4C5080686}"/>
              </a:ext>
            </a:extLst>
          </p:cNvPr>
          <p:cNvGrpSpPr/>
          <p:nvPr/>
        </p:nvGrpSpPr>
        <p:grpSpPr>
          <a:xfrm>
            <a:off x="-495312" y="2705100"/>
            <a:ext cx="13163562" cy="3607987"/>
            <a:chOff x="-495312" y="2705100"/>
            <a:chExt cx="13163562" cy="3607987"/>
          </a:xfrm>
        </p:grpSpPr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0E48F465-F4B5-B93A-1275-62EFA2E32272}"/>
                </a:ext>
              </a:extLst>
            </p:cNvPr>
            <p:cNvCxnSpPr>
              <a:cxnSpLocks/>
            </p:cNvCxnSpPr>
            <p:nvPr/>
          </p:nvCxnSpPr>
          <p:spPr>
            <a:xfrm>
              <a:off x="1226176" y="2705100"/>
              <a:ext cx="0" cy="343445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A9467774-7633-04A4-BE5A-F9E34FDD47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5312" y="4670426"/>
              <a:ext cx="13163562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FFD9D01-DDE3-EA52-BB98-861E14B56173}"/>
                </a:ext>
              </a:extLst>
            </p:cNvPr>
            <p:cNvSpPr txBox="1"/>
            <p:nvPr/>
          </p:nvSpPr>
          <p:spPr>
            <a:xfrm rot="3847950">
              <a:off x="-121036" y="3625376"/>
              <a:ext cx="1597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Результаты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326E336-1EE9-AB55-8D12-C4A112B7F2E6}"/>
                </a:ext>
              </a:extLst>
            </p:cNvPr>
            <p:cNvSpPr txBox="1"/>
            <p:nvPr/>
          </p:nvSpPr>
          <p:spPr>
            <a:xfrm rot="3847950">
              <a:off x="-49012" y="5368638"/>
              <a:ext cx="15195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Действия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0781ED5-C610-72E6-2F52-9D881BF72FF5}"/>
                </a:ext>
              </a:extLst>
            </p:cNvPr>
            <p:cNvSpPr txBox="1"/>
            <p:nvPr/>
          </p:nvSpPr>
          <p:spPr>
            <a:xfrm>
              <a:off x="1396280" y="2738923"/>
              <a:ext cx="2939062" cy="17201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Всего: 804 изображения, 9 777 объектов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Разметка: YOLO + COCO, выполнена вручную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Проверка 50 изображений (6%): ошибок и пропусков нет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DFFDDFF-DE20-FA29-569B-C492018A8230}"/>
                </a:ext>
              </a:extLst>
            </p:cNvPr>
            <p:cNvSpPr txBox="1"/>
            <p:nvPr/>
          </p:nvSpPr>
          <p:spPr>
            <a:xfrm>
              <a:off x="4564085" y="2743199"/>
              <a:ext cx="4278218" cy="889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en-US" sz="1200" b="0" i="0" dirty="0" err="1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l_green</a:t>
              </a:r>
              <a:r>
                <a:rPr lang="en-US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(</a:t>
              </a: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зелёные черри): 47.1%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en-US" sz="1200" b="0" i="0" dirty="0" err="1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b_fully_ripened</a:t>
              </a:r>
              <a:r>
                <a:rPr lang="en-US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(</a:t>
              </a: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созревшие): 4.5%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Разница &gt; 10 раз</a:t>
              </a:r>
              <a:endParaRPr lang="ru-RU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2A8D7A29-485A-4985-CCB9-04CEA0E47626}"/>
                </a:ext>
              </a:extLst>
            </p:cNvPr>
            <p:cNvSpPr txBox="1"/>
            <p:nvPr/>
          </p:nvSpPr>
          <p:spPr>
            <a:xfrm>
              <a:off x="8586491" y="2743199"/>
              <a:ext cx="3442447" cy="1434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7150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От 24×22 до 1655×1696 пикселей</a:t>
              </a:r>
            </a:p>
            <a:p>
              <a:pPr marL="57150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Средний: 350×364 пикселя</a:t>
              </a:r>
            </a:p>
            <a:p>
              <a:pPr marL="57150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Разница в 60+ раз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D21A6834-2F1B-53E3-CE50-09D2778ECFC1}"/>
                </a:ext>
              </a:extLst>
            </p:cNvPr>
            <p:cNvSpPr txBox="1"/>
            <p:nvPr/>
          </p:nvSpPr>
          <p:spPr>
            <a:xfrm>
              <a:off x="1406586" y="4788442"/>
              <a:ext cx="2977089" cy="10218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Данные готовы к обучению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Дополнительная разметка не требуется</a:t>
              </a:r>
              <a:endParaRPr lang="ru-RU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578639D-8F98-9285-3821-F95DCD909A62}"/>
                </a:ext>
              </a:extLst>
            </p:cNvPr>
            <p:cNvSpPr txBox="1"/>
            <p:nvPr/>
          </p:nvSpPr>
          <p:spPr>
            <a:xfrm>
              <a:off x="4564084" y="4789116"/>
              <a:ext cx="4022403" cy="6987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Аугментация (копии с поворотами и отражениями) редких классов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5E2CBB5-2006-30B8-EAEF-7D07163D86B8}"/>
                </a:ext>
              </a:extLst>
            </p:cNvPr>
            <p:cNvSpPr txBox="1"/>
            <p:nvPr/>
          </p:nvSpPr>
          <p:spPr>
            <a:xfrm>
              <a:off x="8876295" y="4731523"/>
              <a:ext cx="2989310" cy="10218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Масштабирование до 1024×1024 с сохранением пропорций</a:t>
              </a:r>
            </a:p>
          </p:txBody>
        </p:sp>
      </p:grp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29A26327-FEB5-B00C-20C6-58FFC8656A19}"/>
              </a:ext>
            </a:extLst>
          </p:cNvPr>
          <p:cNvGrpSpPr/>
          <p:nvPr/>
        </p:nvGrpSpPr>
        <p:grpSpPr>
          <a:xfrm>
            <a:off x="-13320841" y="2705100"/>
            <a:ext cx="13163562" cy="3607987"/>
            <a:chOff x="12275671" y="2705100"/>
            <a:chExt cx="13163562" cy="3607987"/>
          </a:xfrm>
        </p:grpSpPr>
        <p:cxnSp>
          <p:nvCxnSpPr>
            <p:cNvPr id="111" name="Прямая соединительная линия 110">
              <a:extLst>
                <a:ext uri="{FF2B5EF4-FFF2-40B4-BE49-F238E27FC236}">
                  <a16:creationId xmlns:a16="http://schemas.microsoft.com/office/drawing/2014/main" id="{F234E9A8-1B69-E03E-9B26-6C3EEFA2CF10}"/>
                </a:ext>
              </a:extLst>
            </p:cNvPr>
            <p:cNvCxnSpPr>
              <a:cxnSpLocks/>
            </p:cNvCxnSpPr>
            <p:nvPr/>
          </p:nvCxnSpPr>
          <p:spPr>
            <a:xfrm>
              <a:off x="13997159" y="2705100"/>
              <a:ext cx="0" cy="343445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Группа 120">
              <a:extLst>
                <a:ext uri="{FF2B5EF4-FFF2-40B4-BE49-F238E27FC236}">
                  <a16:creationId xmlns:a16="http://schemas.microsoft.com/office/drawing/2014/main" id="{E625019F-932E-8812-12EA-CF62B35B7553}"/>
                </a:ext>
              </a:extLst>
            </p:cNvPr>
            <p:cNvGrpSpPr/>
            <p:nvPr/>
          </p:nvGrpSpPr>
          <p:grpSpPr>
            <a:xfrm>
              <a:off x="12275671" y="2739324"/>
              <a:ext cx="13163562" cy="3573763"/>
              <a:chOff x="12275671" y="2739324"/>
              <a:chExt cx="13163562" cy="3573763"/>
            </a:xfrm>
          </p:grpSpPr>
          <p:cxnSp>
            <p:nvCxnSpPr>
              <p:cNvPr id="112" name="Прямая соединительная линия 111">
                <a:extLst>
                  <a:ext uri="{FF2B5EF4-FFF2-40B4-BE49-F238E27FC236}">
                    <a16:creationId xmlns:a16="http://schemas.microsoft.com/office/drawing/2014/main" id="{7D5A0DC7-F4F5-9BE7-58E1-B88C3F4484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275671" y="4670426"/>
                <a:ext cx="13163562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B0582E96-F88C-1BE9-8CA5-DE653E5E96D4}"/>
                  </a:ext>
                </a:extLst>
              </p:cNvPr>
              <p:cNvSpPr txBox="1"/>
              <p:nvPr/>
            </p:nvSpPr>
            <p:spPr>
              <a:xfrm rot="3847950">
                <a:off x="12649947" y="3625376"/>
                <a:ext cx="1597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Результаты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4951AA0C-EC61-26CB-B5AF-1D1037161DDE}"/>
                  </a:ext>
                </a:extLst>
              </p:cNvPr>
              <p:cNvSpPr txBox="1"/>
              <p:nvPr/>
            </p:nvSpPr>
            <p:spPr>
              <a:xfrm rot="3847950">
                <a:off x="12721971" y="5368638"/>
                <a:ext cx="15195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Действия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2069F017-4520-0993-25FF-0285A2E4363C}"/>
                  </a:ext>
                </a:extLst>
              </p:cNvPr>
              <p:cNvSpPr txBox="1"/>
              <p:nvPr/>
            </p:nvSpPr>
            <p:spPr>
              <a:xfrm>
                <a:off x="14074343" y="2743199"/>
                <a:ext cx="3863630" cy="1780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Горизонталь: Левая треть(28,1%), центральная треть(50,8%).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Вертикаль: Нижняя треть(30,6%), центральная треть (49,8%)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Смещение влево и вниз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E474AFB-6FD3-D9D3-280F-DD38CC3A8740}"/>
                  </a:ext>
                </a:extLst>
              </p:cNvPr>
              <p:cNvSpPr txBox="1"/>
              <p:nvPr/>
            </p:nvSpPr>
            <p:spPr>
              <a:xfrm>
                <a:off x="18012063" y="2739324"/>
                <a:ext cx="3190587" cy="1780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YOLOv8 – быстрая одноэтапная модель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FPN для </a:t>
                </a: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мелких объектов (создаёт несколько уровней изображения для </a:t>
                </a:r>
                <a:r>
                  <a:rPr lang="en-CA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YOLO</a:t>
                </a:r>
                <a:r>
                  <a:rPr lang="ru-RU" sz="15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556CAC3C-66A9-4748-A44D-F5885869CCA9}"/>
                  </a:ext>
                </a:extLst>
              </p:cNvPr>
              <p:cNvSpPr txBox="1"/>
              <p:nvPr/>
            </p:nvSpPr>
            <p:spPr>
              <a:xfrm>
                <a:off x="14106584" y="4735799"/>
                <a:ext cx="3735376" cy="1021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Случайное кадрирование (вырезаем случайную часть фото)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Сдвиги при аугментации</a:t>
                </a:r>
                <a:endParaRPr lang="ru-RU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50296EF-7FA5-24BF-1AD3-A6888D156EDD}"/>
                  </a:ext>
                </a:extLst>
              </p:cNvPr>
              <p:cNvSpPr txBox="1"/>
              <p:nvPr/>
            </p:nvSpPr>
            <p:spPr>
              <a:xfrm>
                <a:off x="18012063" y="4788442"/>
                <a:ext cx="2977089" cy="7420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5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Обучить модель YOLO на датасете</a:t>
                </a:r>
                <a:endPara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4523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EEDF7-06F9-B2B4-83A5-06FD313E3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8E958FD-6F52-78E2-73E9-D379E860D178}"/>
              </a:ext>
            </a:extLst>
          </p:cNvPr>
          <p:cNvSpPr/>
          <p:nvPr/>
        </p:nvSpPr>
        <p:spPr>
          <a:xfrm>
            <a:off x="-22769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32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30B8075E-D5F4-1D6C-C9A6-9150F6153891}"/>
              </a:ext>
            </a:extLst>
          </p:cNvPr>
          <p:cNvGrpSpPr/>
          <p:nvPr/>
        </p:nvGrpSpPr>
        <p:grpSpPr>
          <a:xfrm rot="10800000">
            <a:off x="8452480" y="-1343198"/>
            <a:ext cx="3903766" cy="3903766"/>
            <a:chOff x="8746731" y="-1343198"/>
            <a:chExt cx="3903766" cy="3903766"/>
          </a:xfrm>
        </p:grpSpPr>
        <p:grpSp>
          <p:nvGrpSpPr>
            <p:cNvPr id="63" name="Группа 62">
              <a:extLst>
                <a:ext uri="{FF2B5EF4-FFF2-40B4-BE49-F238E27FC236}">
                  <a16:creationId xmlns:a16="http://schemas.microsoft.com/office/drawing/2014/main" id="{195EEC99-CD5B-B3A3-99B1-69D55797272E}"/>
                </a:ext>
              </a:extLst>
            </p:cNvPr>
            <p:cNvGrpSpPr/>
            <p:nvPr/>
          </p:nvGrpSpPr>
          <p:grpSpPr>
            <a:xfrm>
              <a:off x="8746731" y="-1343198"/>
              <a:ext cx="3903766" cy="3903766"/>
              <a:chOff x="152400" y="1057655"/>
              <a:chExt cx="3903766" cy="3903766"/>
            </a:xfrm>
          </p:grpSpPr>
          <p:sp>
            <p:nvSpPr>
              <p:cNvPr id="64" name="Полилиния: фигура 63">
                <a:extLst>
                  <a:ext uri="{FF2B5EF4-FFF2-40B4-BE49-F238E27FC236}">
                    <a16:creationId xmlns:a16="http://schemas.microsoft.com/office/drawing/2014/main" id="{8D750D5B-9DCA-B98A-D687-087799A0EE22}"/>
                  </a:ext>
                </a:extLst>
              </p:cNvPr>
              <p:cNvSpPr/>
              <p:nvPr/>
            </p:nvSpPr>
            <p:spPr>
              <a:xfrm>
                <a:off x="152400" y="1057655"/>
                <a:ext cx="3903766" cy="3903766"/>
              </a:xfrm>
              <a:custGeom>
                <a:avLst/>
                <a:gdLst>
                  <a:gd name="csX0" fmla="*/ 2492829 w 4985658"/>
                  <a:gd name="csY0" fmla="*/ 1240972 h 4985658"/>
                  <a:gd name="csX1" fmla="*/ 1240972 w 4985658"/>
                  <a:gd name="csY1" fmla="*/ 2492829 h 4985658"/>
                  <a:gd name="csX2" fmla="*/ 2492829 w 4985658"/>
                  <a:gd name="csY2" fmla="*/ 3744686 h 4985658"/>
                  <a:gd name="csX3" fmla="*/ 3744686 w 4985658"/>
                  <a:gd name="csY3" fmla="*/ 2492829 h 4985658"/>
                  <a:gd name="csX4" fmla="*/ 2492829 w 4985658"/>
                  <a:gd name="csY4" fmla="*/ 1240972 h 4985658"/>
                  <a:gd name="csX5" fmla="*/ 2492829 w 4985658"/>
                  <a:gd name="csY5" fmla="*/ 0 h 4985658"/>
                  <a:gd name="csX6" fmla="*/ 4985658 w 4985658"/>
                  <a:gd name="csY6" fmla="*/ 2492829 h 4985658"/>
                  <a:gd name="csX7" fmla="*/ 2492829 w 4985658"/>
                  <a:gd name="csY7" fmla="*/ 4985658 h 4985658"/>
                  <a:gd name="csX8" fmla="*/ 0 w 4985658"/>
                  <a:gd name="csY8" fmla="*/ 2492829 h 4985658"/>
                  <a:gd name="csX9" fmla="*/ 2492829 w 4985658"/>
                  <a:gd name="csY9" fmla="*/ 0 h 4985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4985658" h="4985658">
                    <a:moveTo>
                      <a:pt x="2492829" y="1240972"/>
                    </a:moveTo>
                    <a:cubicBezTo>
                      <a:pt x="1801447" y="1240972"/>
                      <a:pt x="1240972" y="1801447"/>
                      <a:pt x="1240972" y="2492829"/>
                    </a:cubicBezTo>
                    <a:cubicBezTo>
                      <a:pt x="1240972" y="3184211"/>
                      <a:pt x="1801447" y="3744686"/>
                      <a:pt x="2492829" y="3744686"/>
                    </a:cubicBezTo>
                    <a:cubicBezTo>
                      <a:pt x="3184211" y="3744686"/>
                      <a:pt x="3744686" y="3184211"/>
                      <a:pt x="3744686" y="2492829"/>
                    </a:cubicBezTo>
                    <a:cubicBezTo>
                      <a:pt x="3744686" y="1801447"/>
                      <a:pt x="3184211" y="1240972"/>
                      <a:pt x="2492829" y="1240972"/>
                    </a:cubicBezTo>
                    <a:close/>
                    <a:moveTo>
                      <a:pt x="2492829" y="0"/>
                    </a:moveTo>
                    <a:cubicBezTo>
                      <a:pt x="3869580" y="0"/>
                      <a:pt x="4985658" y="1116078"/>
                      <a:pt x="4985658" y="2492829"/>
                    </a:cubicBezTo>
                    <a:cubicBezTo>
                      <a:pt x="4985658" y="3869580"/>
                      <a:pt x="3869580" y="4985658"/>
                      <a:pt x="2492829" y="4985658"/>
                    </a:cubicBezTo>
                    <a:cubicBezTo>
                      <a:pt x="1116078" y="4985658"/>
                      <a:pt x="0" y="3869580"/>
                      <a:pt x="0" y="2492829"/>
                    </a:cubicBezTo>
                    <a:cubicBezTo>
                      <a:pt x="0" y="1116078"/>
                      <a:pt x="1116078" y="0"/>
                      <a:pt x="24928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75000">
                    <a:srgbClr val="122639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  <a:gs pos="44000">
                    <a:schemeClr val="tx2">
                      <a:lumMod val="90000"/>
                      <a:lumOff val="10000"/>
                    </a:schemeClr>
                  </a:gs>
                </a:gsLst>
                <a:lin ang="12600000" scaled="0"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 dirty="0"/>
              </a:p>
            </p:txBody>
          </p:sp>
          <p:grpSp>
            <p:nvGrpSpPr>
              <p:cNvPr id="65" name="Группа 64">
                <a:extLst>
                  <a:ext uri="{FF2B5EF4-FFF2-40B4-BE49-F238E27FC236}">
                    <a16:creationId xmlns:a16="http://schemas.microsoft.com/office/drawing/2014/main" id="{25E783AF-64EC-9BF1-4D31-C763D373D125}"/>
                  </a:ext>
                </a:extLst>
              </p:cNvPr>
              <p:cNvGrpSpPr/>
              <p:nvPr/>
            </p:nvGrpSpPr>
            <p:grpSpPr>
              <a:xfrm>
                <a:off x="3084486" y="2719153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69" name="Прямая соединительная линия 68">
                  <a:extLst>
                    <a:ext uri="{FF2B5EF4-FFF2-40B4-BE49-F238E27FC236}">
                      <a16:creationId xmlns:a16="http://schemas.microsoft.com/office/drawing/2014/main" id="{515C7422-2795-1E07-7632-4B2F9BC77E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Прямая соединительная линия 69">
                  <a:extLst>
                    <a:ext uri="{FF2B5EF4-FFF2-40B4-BE49-F238E27FC236}">
                      <a16:creationId xmlns:a16="http://schemas.microsoft.com/office/drawing/2014/main" id="{E6AC0481-39DE-2BF9-09EE-CF70FCC297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6" name="Группа 65">
                <a:extLst>
                  <a:ext uri="{FF2B5EF4-FFF2-40B4-BE49-F238E27FC236}">
                    <a16:creationId xmlns:a16="http://schemas.microsoft.com/office/drawing/2014/main" id="{E0BF96BE-9D7C-7D5F-BF07-A49C469DD77D}"/>
                  </a:ext>
                </a:extLst>
              </p:cNvPr>
              <p:cNvGrpSpPr/>
              <p:nvPr/>
            </p:nvGrpSpPr>
            <p:grpSpPr>
              <a:xfrm rot="10800000">
                <a:off x="152400" y="3035177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67" name="Прямая соединительная линия 66">
                  <a:extLst>
                    <a:ext uri="{FF2B5EF4-FFF2-40B4-BE49-F238E27FC236}">
                      <a16:creationId xmlns:a16="http://schemas.microsoft.com/office/drawing/2014/main" id="{C66FB01C-2E76-4C75-F86C-E3D37F38A3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Прямая соединительная линия 67">
                  <a:extLst>
                    <a:ext uri="{FF2B5EF4-FFF2-40B4-BE49-F238E27FC236}">
                      <a16:creationId xmlns:a16="http://schemas.microsoft.com/office/drawing/2014/main" id="{E1841545-1F63-27B0-ABB9-774F6694C1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F9398C7-741F-018A-EB0B-BB0D7BCA64D0}"/>
                </a:ext>
              </a:extLst>
            </p:cNvPr>
            <p:cNvSpPr txBox="1"/>
            <p:nvPr/>
          </p:nvSpPr>
          <p:spPr>
            <a:xfrm>
              <a:off x="9256187" y="1628588"/>
              <a:ext cx="296091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Шаг 3. </a:t>
              </a:r>
            </a:p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Размеры объектов</a:t>
              </a:r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32508C18-A7D1-35A2-703F-3C5D45C41407}"/>
              </a:ext>
            </a:extLst>
          </p:cNvPr>
          <p:cNvGrpSpPr/>
          <p:nvPr/>
        </p:nvGrpSpPr>
        <p:grpSpPr>
          <a:xfrm rot="10800000">
            <a:off x="4809846" y="-1343198"/>
            <a:ext cx="3922816" cy="3903766"/>
            <a:chOff x="5028036" y="-1343198"/>
            <a:chExt cx="3922816" cy="3903766"/>
          </a:xfrm>
        </p:grpSpPr>
        <p:grpSp>
          <p:nvGrpSpPr>
            <p:cNvPr id="89" name="Группа 88">
              <a:extLst>
                <a:ext uri="{FF2B5EF4-FFF2-40B4-BE49-F238E27FC236}">
                  <a16:creationId xmlns:a16="http://schemas.microsoft.com/office/drawing/2014/main" id="{FE805DD5-0478-FCCB-B434-71C793751785}"/>
                </a:ext>
              </a:extLst>
            </p:cNvPr>
            <p:cNvGrpSpPr/>
            <p:nvPr/>
          </p:nvGrpSpPr>
          <p:grpSpPr>
            <a:xfrm>
              <a:off x="5047086" y="-1343198"/>
              <a:ext cx="3903766" cy="3903766"/>
              <a:chOff x="5013346" y="-1343198"/>
              <a:chExt cx="3903766" cy="3903766"/>
            </a:xfrm>
          </p:grpSpPr>
          <p:grpSp>
            <p:nvGrpSpPr>
              <p:cNvPr id="55" name="Группа 54">
                <a:extLst>
                  <a:ext uri="{FF2B5EF4-FFF2-40B4-BE49-F238E27FC236}">
                    <a16:creationId xmlns:a16="http://schemas.microsoft.com/office/drawing/2014/main" id="{1F295B5E-4EC7-18F7-EABD-AFB4AA3BC1C6}"/>
                  </a:ext>
                </a:extLst>
              </p:cNvPr>
              <p:cNvGrpSpPr/>
              <p:nvPr/>
            </p:nvGrpSpPr>
            <p:grpSpPr>
              <a:xfrm>
                <a:off x="5013346" y="-1343198"/>
                <a:ext cx="3903766" cy="3903766"/>
                <a:chOff x="152400" y="1057655"/>
                <a:chExt cx="3903766" cy="3903766"/>
              </a:xfrm>
            </p:grpSpPr>
            <p:sp>
              <p:nvSpPr>
                <p:cNvPr id="56" name="Полилиния: фигура 55">
                  <a:extLst>
                    <a:ext uri="{FF2B5EF4-FFF2-40B4-BE49-F238E27FC236}">
                      <a16:creationId xmlns:a16="http://schemas.microsoft.com/office/drawing/2014/main" id="{7A2FDCF6-A6C3-04A1-0EA3-43621854380F}"/>
                    </a:ext>
                  </a:extLst>
                </p:cNvPr>
                <p:cNvSpPr/>
                <p:nvPr/>
              </p:nvSpPr>
              <p:spPr>
                <a:xfrm>
                  <a:off x="152400" y="1057655"/>
                  <a:ext cx="3903766" cy="3903766"/>
                </a:xfrm>
                <a:custGeom>
                  <a:avLst/>
                  <a:gdLst>
                    <a:gd name="csX0" fmla="*/ 2492829 w 4985658"/>
                    <a:gd name="csY0" fmla="*/ 1240972 h 4985658"/>
                    <a:gd name="csX1" fmla="*/ 1240972 w 4985658"/>
                    <a:gd name="csY1" fmla="*/ 2492829 h 4985658"/>
                    <a:gd name="csX2" fmla="*/ 2492829 w 4985658"/>
                    <a:gd name="csY2" fmla="*/ 3744686 h 4985658"/>
                    <a:gd name="csX3" fmla="*/ 3744686 w 4985658"/>
                    <a:gd name="csY3" fmla="*/ 2492829 h 4985658"/>
                    <a:gd name="csX4" fmla="*/ 2492829 w 4985658"/>
                    <a:gd name="csY4" fmla="*/ 1240972 h 4985658"/>
                    <a:gd name="csX5" fmla="*/ 2492829 w 4985658"/>
                    <a:gd name="csY5" fmla="*/ 0 h 4985658"/>
                    <a:gd name="csX6" fmla="*/ 4985658 w 4985658"/>
                    <a:gd name="csY6" fmla="*/ 2492829 h 4985658"/>
                    <a:gd name="csX7" fmla="*/ 2492829 w 4985658"/>
                    <a:gd name="csY7" fmla="*/ 4985658 h 4985658"/>
                    <a:gd name="csX8" fmla="*/ 0 w 4985658"/>
                    <a:gd name="csY8" fmla="*/ 2492829 h 4985658"/>
                    <a:gd name="csX9" fmla="*/ 2492829 w 4985658"/>
                    <a:gd name="csY9" fmla="*/ 0 h 4985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4985658" h="4985658">
                      <a:moveTo>
                        <a:pt x="2492829" y="1240972"/>
                      </a:moveTo>
                      <a:cubicBezTo>
                        <a:pt x="1801447" y="1240972"/>
                        <a:pt x="1240972" y="1801447"/>
                        <a:pt x="1240972" y="2492829"/>
                      </a:cubicBezTo>
                      <a:cubicBezTo>
                        <a:pt x="1240972" y="3184211"/>
                        <a:pt x="1801447" y="3744686"/>
                        <a:pt x="2492829" y="3744686"/>
                      </a:cubicBezTo>
                      <a:cubicBezTo>
                        <a:pt x="3184211" y="3744686"/>
                        <a:pt x="3744686" y="3184211"/>
                        <a:pt x="3744686" y="2492829"/>
                      </a:cubicBezTo>
                      <a:cubicBezTo>
                        <a:pt x="3744686" y="1801447"/>
                        <a:pt x="3184211" y="1240972"/>
                        <a:pt x="2492829" y="1240972"/>
                      </a:cubicBezTo>
                      <a:close/>
                      <a:moveTo>
                        <a:pt x="2492829" y="0"/>
                      </a:moveTo>
                      <a:cubicBezTo>
                        <a:pt x="3869580" y="0"/>
                        <a:pt x="4985658" y="1116078"/>
                        <a:pt x="4985658" y="2492829"/>
                      </a:cubicBezTo>
                      <a:cubicBezTo>
                        <a:pt x="4985658" y="3869580"/>
                        <a:pt x="3869580" y="4985658"/>
                        <a:pt x="2492829" y="4985658"/>
                      </a:cubicBezTo>
                      <a:cubicBezTo>
                        <a:pt x="1116078" y="4985658"/>
                        <a:pt x="0" y="3869580"/>
                        <a:pt x="0" y="2492829"/>
                      </a:cubicBezTo>
                      <a:cubicBezTo>
                        <a:pt x="0" y="1116078"/>
                        <a:pt x="1116078" y="0"/>
                        <a:pt x="2492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75000">
                      <a:srgbClr val="122639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44000">
                      <a:schemeClr val="tx2">
                        <a:lumMod val="90000"/>
                        <a:lumOff val="10000"/>
                      </a:schemeClr>
                    </a:gs>
                  </a:gsLst>
                  <a:lin ang="12600000" scaled="0"/>
                </a:gra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ru-RU" dirty="0"/>
                </a:p>
              </p:txBody>
            </p:sp>
            <p:grpSp>
              <p:nvGrpSpPr>
                <p:cNvPr id="57" name="Группа 56">
                  <a:extLst>
                    <a:ext uri="{FF2B5EF4-FFF2-40B4-BE49-F238E27FC236}">
                      <a16:creationId xmlns:a16="http://schemas.microsoft.com/office/drawing/2014/main" id="{3620075C-CE1C-F197-C164-4F49E2180979}"/>
                    </a:ext>
                  </a:extLst>
                </p:cNvPr>
                <p:cNvGrpSpPr/>
                <p:nvPr/>
              </p:nvGrpSpPr>
              <p:grpSpPr>
                <a:xfrm>
                  <a:off x="3084486" y="2719153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1" name="Прямая соединительная линия 60">
                    <a:extLst>
                      <a:ext uri="{FF2B5EF4-FFF2-40B4-BE49-F238E27FC236}">
                        <a16:creationId xmlns:a16="http://schemas.microsoft.com/office/drawing/2014/main" id="{AF69C311-2FF6-7307-0CB6-A54E03341D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Прямая соединительная линия 61">
                    <a:extLst>
                      <a:ext uri="{FF2B5EF4-FFF2-40B4-BE49-F238E27FC236}">
                        <a16:creationId xmlns:a16="http://schemas.microsoft.com/office/drawing/2014/main" id="{8D1F91B3-82F5-EC54-7BF2-AF4E341B81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" name="Группа 57">
                  <a:extLst>
                    <a:ext uri="{FF2B5EF4-FFF2-40B4-BE49-F238E27FC236}">
                      <a16:creationId xmlns:a16="http://schemas.microsoft.com/office/drawing/2014/main" id="{085DC467-BA0F-F240-B996-A67A1FB673CB}"/>
                    </a:ext>
                  </a:extLst>
                </p:cNvPr>
                <p:cNvGrpSpPr/>
                <p:nvPr/>
              </p:nvGrpSpPr>
              <p:grpSpPr>
                <a:xfrm rot="10800000">
                  <a:off x="152400" y="3035177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59" name="Прямая соединительная линия 58">
                    <a:extLst>
                      <a:ext uri="{FF2B5EF4-FFF2-40B4-BE49-F238E27FC236}">
                        <a16:creationId xmlns:a16="http://schemas.microsoft.com/office/drawing/2014/main" id="{379DF226-270B-A3EE-36EC-D5E1991B99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Прямая соединительная линия 59">
                    <a:extLst>
                      <a:ext uri="{FF2B5EF4-FFF2-40B4-BE49-F238E27FC236}">
                        <a16:creationId xmlns:a16="http://schemas.microsoft.com/office/drawing/2014/main" id="{26BA49B0-C7AF-F3B0-6D2A-65A55E66B0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0491635-1AFC-75E4-B23E-80C1640438E9}"/>
                  </a:ext>
                </a:extLst>
              </p:cNvPr>
              <p:cNvSpPr txBox="1"/>
              <p:nvPr/>
            </p:nvSpPr>
            <p:spPr>
              <a:xfrm>
                <a:off x="5013346" y="1623950"/>
                <a:ext cx="390376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2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Распределение классов</a:t>
                </a: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18CB404-0E32-AB74-4684-01AC08FFFC7E}"/>
                </a:ext>
              </a:extLst>
            </p:cNvPr>
            <p:cNvSpPr txBox="1"/>
            <p:nvPr/>
          </p:nvSpPr>
          <p:spPr>
            <a:xfrm rot="10800000">
              <a:off x="5028036" y="-1025829"/>
              <a:ext cx="390376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Шаг 5.</a:t>
              </a:r>
            </a:p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Архитектура сети</a:t>
              </a:r>
            </a:p>
          </p:txBody>
        </p:sp>
      </p:grp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5A7290EC-4673-3460-24CA-30D3191C908A}"/>
              </a:ext>
            </a:extLst>
          </p:cNvPr>
          <p:cNvGrpSpPr/>
          <p:nvPr/>
        </p:nvGrpSpPr>
        <p:grpSpPr>
          <a:xfrm rot="10800000">
            <a:off x="1150960" y="-1343198"/>
            <a:ext cx="3903766" cy="3903766"/>
            <a:chOff x="1208423" y="-1343198"/>
            <a:chExt cx="3903766" cy="3903766"/>
          </a:xfrm>
        </p:grpSpPr>
        <p:grpSp>
          <p:nvGrpSpPr>
            <p:cNvPr id="54" name="Группа 53">
              <a:extLst>
                <a:ext uri="{FF2B5EF4-FFF2-40B4-BE49-F238E27FC236}">
                  <a16:creationId xmlns:a16="http://schemas.microsoft.com/office/drawing/2014/main" id="{A72BA8C0-D54A-8FE0-B13C-01F18BDCB376}"/>
                </a:ext>
              </a:extLst>
            </p:cNvPr>
            <p:cNvGrpSpPr/>
            <p:nvPr/>
          </p:nvGrpSpPr>
          <p:grpSpPr>
            <a:xfrm>
              <a:off x="1208423" y="-1343198"/>
              <a:ext cx="3903766" cy="3903766"/>
              <a:chOff x="152400" y="1057655"/>
              <a:chExt cx="3903766" cy="3903766"/>
            </a:xfrm>
          </p:grpSpPr>
          <p:sp>
            <p:nvSpPr>
              <p:cNvPr id="9" name="Полилиния: фигура 8">
                <a:extLst>
                  <a:ext uri="{FF2B5EF4-FFF2-40B4-BE49-F238E27FC236}">
                    <a16:creationId xmlns:a16="http://schemas.microsoft.com/office/drawing/2014/main" id="{76F822BE-E193-1CD7-FFDF-18D9D5B87DA4}"/>
                  </a:ext>
                </a:extLst>
              </p:cNvPr>
              <p:cNvSpPr/>
              <p:nvPr/>
            </p:nvSpPr>
            <p:spPr>
              <a:xfrm>
                <a:off x="152400" y="1057655"/>
                <a:ext cx="3903766" cy="3903766"/>
              </a:xfrm>
              <a:custGeom>
                <a:avLst/>
                <a:gdLst>
                  <a:gd name="csX0" fmla="*/ 2492829 w 4985658"/>
                  <a:gd name="csY0" fmla="*/ 1240972 h 4985658"/>
                  <a:gd name="csX1" fmla="*/ 1240972 w 4985658"/>
                  <a:gd name="csY1" fmla="*/ 2492829 h 4985658"/>
                  <a:gd name="csX2" fmla="*/ 2492829 w 4985658"/>
                  <a:gd name="csY2" fmla="*/ 3744686 h 4985658"/>
                  <a:gd name="csX3" fmla="*/ 3744686 w 4985658"/>
                  <a:gd name="csY3" fmla="*/ 2492829 h 4985658"/>
                  <a:gd name="csX4" fmla="*/ 2492829 w 4985658"/>
                  <a:gd name="csY4" fmla="*/ 1240972 h 4985658"/>
                  <a:gd name="csX5" fmla="*/ 2492829 w 4985658"/>
                  <a:gd name="csY5" fmla="*/ 0 h 4985658"/>
                  <a:gd name="csX6" fmla="*/ 4985658 w 4985658"/>
                  <a:gd name="csY6" fmla="*/ 2492829 h 4985658"/>
                  <a:gd name="csX7" fmla="*/ 2492829 w 4985658"/>
                  <a:gd name="csY7" fmla="*/ 4985658 h 4985658"/>
                  <a:gd name="csX8" fmla="*/ 0 w 4985658"/>
                  <a:gd name="csY8" fmla="*/ 2492829 h 4985658"/>
                  <a:gd name="csX9" fmla="*/ 2492829 w 4985658"/>
                  <a:gd name="csY9" fmla="*/ 0 h 4985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4985658" h="4985658">
                    <a:moveTo>
                      <a:pt x="2492829" y="1240972"/>
                    </a:moveTo>
                    <a:cubicBezTo>
                      <a:pt x="1801447" y="1240972"/>
                      <a:pt x="1240972" y="1801447"/>
                      <a:pt x="1240972" y="2492829"/>
                    </a:cubicBezTo>
                    <a:cubicBezTo>
                      <a:pt x="1240972" y="3184211"/>
                      <a:pt x="1801447" y="3744686"/>
                      <a:pt x="2492829" y="3744686"/>
                    </a:cubicBezTo>
                    <a:cubicBezTo>
                      <a:pt x="3184211" y="3744686"/>
                      <a:pt x="3744686" y="3184211"/>
                      <a:pt x="3744686" y="2492829"/>
                    </a:cubicBezTo>
                    <a:cubicBezTo>
                      <a:pt x="3744686" y="1801447"/>
                      <a:pt x="3184211" y="1240972"/>
                      <a:pt x="2492829" y="1240972"/>
                    </a:cubicBezTo>
                    <a:close/>
                    <a:moveTo>
                      <a:pt x="2492829" y="0"/>
                    </a:moveTo>
                    <a:cubicBezTo>
                      <a:pt x="3869580" y="0"/>
                      <a:pt x="4985658" y="1116078"/>
                      <a:pt x="4985658" y="2492829"/>
                    </a:cubicBezTo>
                    <a:cubicBezTo>
                      <a:pt x="4985658" y="3869580"/>
                      <a:pt x="3869580" y="4985658"/>
                      <a:pt x="2492829" y="4985658"/>
                    </a:cubicBezTo>
                    <a:cubicBezTo>
                      <a:pt x="1116078" y="4985658"/>
                      <a:pt x="0" y="3869580"/>
                      <a:pt x="0" y="2492829"/>
                    </a:cubicBezTo>
                    <a:cubicBezTo>
                      <a:pt x="0" y="1116078"/>
                      <a:pt x="1116078" y="0"/>
                      <a:pt x="24928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75000">
                    <a:srgbClr val="122639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  <a:gs pos="44000">
                    <a:schemeClr val="tx2">
                      <a:lumMod val="90000"/>
                      <a:lumOff val="10000"/>
                    </a:schemeClr>
                  </a:gs>
                </a:gsLst>
                <a:lin ang="12600000" scaled="0"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 dirty="0"/>
              </a:p>
            </p:txBody>
          </p:sp>
          <p:grpSp>
            <p:nvGrpSpPr>
              <p:cNvPr id="50" name="Группа 49">
                <a:extLst>
                  <a:ext uri="{FF2B5EF4-FFF2-40B4-BE49-F238E27FC236}">
                    <a16:creationId xmlns:a16="http://schemas.microsoft.com/office/drawing/2014/main" id="{D0052CD2-0DA7-67D4-FCF1-28BF0B369AE3}"/>
                  </a:ext>
                </a:extLst>
              </p:cNvPr>
              <p:cNvGrpSpPr/>
              <p:nvPr/>
            </p:nvGrpSpPr>
            <p:grpSpPr>
              <a:xfrm>
                <a:off x="3084486" y="2719153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15" name="Прямая соединительная линия 14">
                  <a:extLst>
                    <a:ext uri="{FF2B5EF4-FFF2-40B4-BE49-F238E27FC236}">
                      <a16:creationId xmlns:a16="http://schemas.microsoft.com/office/drawing/2014/main" id="{0EEAE5EA-0C01-C574-F915-1078A8BB5B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Прямая соединительная линия 16">
                  <a:extLst>
                    <a:ext uri="{FF2B5EF4-FFF2-40B4-BE49-F238E27FC236}">
                      <a16:creationId xmlns:a16="http://schemas.microsoft.com/office/drawing/2014/main" id="{EC5A248D-4142-E727-5EDA-6410411A72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Группа 50">
                <a:extLst>
                  <a:ext uri="{FF2B5EF4-FFF2-40B4-BE49-F238E27FC236}">
                    <a16:creationId xmlns:a16="http://schemas.microsoft.com/office/drawing/2014/main" id="{524E1F1E-1188-7212-26E4-6A916FD19979}"/>
                  </a:ext>
                </a:extLst>
              </p:cNvPr>
              <p:cNvGrpSpPr/>
              <p:nvPr/>
            </p:nvGrpSpPr>
            <p:grpSpPr>
              <a:xfrm rot="10800000">
                <a:off x="152400" y="3035177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52" name="Прямая соединительная линия 51">
                  <a:extLst>
                    <a:ext uri="{FF2B5EF4-FFF2-40B4-BE49-F238E27FC236}">
                      <a16:creationId xmlns:a16="http://schemas.microsoft.com/office/drawing/2014/main" id="{7751B65F-2922-80D9-E1C4-186D048B83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Прямая соединительная линия 52">
                  <a:extLst>
                    <a:ext uri="{FF2B5EF4-FFF2-40B4-BE49-F238E27FC236}">
                      <a16:creationId xmlns:a16="http://schemas.microsoft.com/office/drawing/2014/main" id="{AF7B2DB1-2BE5-5C9B-E8DB-2DA3F5F4E0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5" name="Группа 84">
              <a:extLst>
                <a:ext uri="{FF2B5EF4-FFF2-40B4-BE49-F238E27FC236}">
                  <a16:creationId xmlns:a16="http://schemas.microsoft.com/office/drawing/2014/main" id="{E88CCAE9-668C-5C9E-4857-A46A20475D24}"/>
                </a:ext>
              </a:extLst>
            </p:cNvPr>
            <p:cNvGrpSpPr/>
            <p:nvPr/>
          </p:nvGrpSpPr>
          <p:grpSpPr>
            <a:xfrm rot="10800000">
              <a:off x="1757182" y="-1002650"/>
              <a:ext cx="2806248" cy="3224868"/>
              <a:chOff x="1757182" y="-971872"/>
              <a:chExt cx="2806248" cy="3224868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47C3020-E867-2B62-C8CE-269EDBF2CF94}"/>
                  </a:ext>
                </a:extLst>
              </p:cNvPr>
              <p:cNvSpPr txBox="1"/>
              <p:nvPr/>
            </p:nvSpPr>
            <p:spPr>
              <a:xfrm rot="10800000">
                <a:off x="1889778" y="-971872"/>
                <a:ext cx="254105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1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Качество данных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A8EB9BA-9A76-FDA9-0E32-AF9CA115C051}"/>
                  </a:ext>
                </a:extLst>
              </p:cNvPr>
              <p:cNvSpPr txBox="1"/>
              <p:nvPr/>
            </p:nvSpPr>
            <p:spPr>
              <a:xfrm>
                <a:off x="1757182" y="1668221"/>
                <a:ext cx="280624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4. Пространственное расположение</a:t>
                </a:r>
              </a:p>
            </p:txBody>
          </p:sp>
        </p:grp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6BC582E-0234-BA1E-63A0-D47C12B96FDE}"/>
              </a:ext>
            </a:extLst>
          </p:cNvPr>
          <p:cNvSpPr/>
          <p:nvPr/>
        </p:nvSpPr>
        <p:spPr>
          <a:xfrm>
            <a:off x="-246746" y="-220648"/>
            <a:ext cx="12685487" cy="131284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44000">
                <a:schemeClr val="tx2">
                  <a:lumMod val="90000"/>
                  <a:lumOff val="10000"/>
                </a:schemeClr>
              </a:gs>
            </a:gsLst>
            <a:lin ang="126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95B3A-8B96-F41A-B47E-585F25335B35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Данные с изображениями: анализ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745AD771-1FB3-33ED-B3AF-F5D2DF65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18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2D55EDB-7748-9CC5-7320-73C513FEAF12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AFB8B3FE-8109-A4A1-8359-24BD7F41DD45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82284CA5-6142-0FDA-5F98-8EBF87D7C507}"/>
              </a:ext>
            </a:extLst>
          </p:cNvPr>
          <p:cNvCxnSpPr>
            <a:cxnSpLocks/>
          </p:cNvCxnSpPr>
          <p:nvPr/>
        </p:nvCxnSpPr>
        <p:spPr>
          <a:xfrm flipH="1">
            <a:off x="-495312" y="2705100"/>
            <a:ext cx="13163562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0FA3C748-0C81-89F1-78F9-3EBEB33B530D}"/>
              </a:ext>
            </a:extLst>
          </p:cNvPr>
          <p:cNvGrpSpPr/>
          <p:nvPr/>
        </p:nvGrpSpPr>
        <p:grpSpPr>
          <a:xfrm>
            <a:off x="12356246" y="2705099"/>
            <a:ext cx="13163562" cy="3607987"/>
            <a:chOff x="-495312" y="2705100"/>
            <a:chExt cx="13163562" cy="3607987"/>
          </a:xfrm>
        </p:grpSpPr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0076D66C-0EDA-840B-3E95-179D712E7FAC}"/>
                </a:ext>
              </a:extLst>
            </p:cNvPr>
            <p:cNvCxnSpPr>
              <a:cxnSpLocks/>
            </p:cNvCxnSpPr>
            <p:nvPr/>
          </p:nvCxnSpPr>
          <p:spPr>
            <a:xfrm>
              <a:off x="1226176" y="2705100"/>
              <a:ext cx="0" cy="343445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DFA454F7-8B7F-5604-5CC8-F5923FF983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5312" y="4670426"/>
              <a:ext cx="13163562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95C81BF-A75F-8680-AC9F-E13135C173D6}"/>
                </a:ext>
              </a:extLst>
            </p:cNvPr>
            <p:cNvSpPr txBox="1"/>
            <p:nvPr/>
          </p:nvSpPr>
          <p:spPr>
            <a:xfrm rot="3847950">
              <a:off x="-121036" y="3625376"/>
              <a:ext cx="1597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Результаты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3B55A69-7C6E-805A-3828-F0C351FA0569}"/>
                </a:ext>
              </a:extLst>
            </p:cNvPr>
            <p:cNvSpPr txBox="1"/>
            <p:nvPr/>
          </p:nvSpPr>
          <p:spPr>
            <a:xfrm rot="3847950">
              <a:off x="-49012" y="5368638"/>
              <a:ext cx="15195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Действия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D8A2F8D-208B-D875-4EA9-3FF3BCB7EB1D}"/>
                </a:ext>
              </a:extLst>
            </p:cNvPr>
            <p:cNvSpPr txBox="1"/>
            <p:nvPr/>
          </p:nvSpPr>
          <p:spPr>
            <a:xfrm>
              <a:off x="1396280" y="2738923"/>
              <a:ext cx="2939062" cy="17201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Всего: 804 изображения, 9 777 объектов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Разметка: YOLO + COCO, выполнена вручную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2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Проверка 50 изображений (6%): ошибок нет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ADFF1E8-3EFE-DEE0-05C8-88E8EC3AA547}"/>
                </a:ext>
              </a:extLst>
            </p:cNvPr>
            <p:cNvSpPr txBox="1"/>
            <p:nvPr/>
          </p:nvSpPr>
          <p:spPr>
            <a:xfrm>
              <a:off x="4564085" y="2743199"/>
              <a:ext cx="4278218" cy="1088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en-US" sz="1500" b="0" i="0" dirty="0" err="1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l_green</a:t>
              </a:r>
              <a:r>
                <a:rPr lang="en-US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(</a:t>
              </a: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зелёные черри): 47.1%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en-US" sz="1500" b="0" i="0" dirty="0" err="1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b_fully_ripened</a:t>
              </a:r>
              <a:r>
                <a:rPr lang="en-US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(</a:t>
              </a: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созревшие): 4.5%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Разница &gt; 10 раз</a:t>
              </a:r>
              <a:endParaRPr lang="ru-RU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93BCFA3-AF59-150A-A80E-1351E07D1C1E}"/>
                </a:ext>
              </a:extLst>
            </p:cNvPr>
            <p:cNvSpPr txBox="1"/>
            <p:nvPr/>
          </p:nvSpPr>
          <p:spPr>
            <a:xfrm>
              <a:off x="8586491" y="2743199"/>
              <a:ext cx="3442447" cy="1434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7150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От 24×22 до 1655×1696 пикселей</a:t>
              </a:r>
            </a:p>
            <a:p>
              <a:pPr marL="57150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Средний: 350×364 пикселя</a:t>
              </a:r>
            </a:p>
            <a:p>
              <a:pPr marL="57150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Разница в 60+ раз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4A1FFFF-B7D8-6D98-8C4F-220C9ED6E55F}"/>
                </a:ext>
              </a:extLst>
            </p:cNvPr>
            <p:cNvSpPr txBox="1"/>
            <p:nvPr/>
          </p:nvSpPr>
          <p:spPr>
            <a:xfrm>
              <a:off x="1406586" y="4788442"/>
              <a:ext cx="2977089" cy="10218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Данные готовы к обучению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Дополнительная разметка не требуется</a:t>
              </a:r>
              <a:endParaRPr lang="ru-RU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368022FE-F6FE-D5D2-4B80-E36FEE91E94B}"/>
                </a:ext>
              </a:extLst>
            </p:cNvPr>
            <p:cNvSpPr txBox="1"/>
            <p:nvPr/>
          </p:nvSpPr>
          <p:spPr>
            <a:xfrm>
              <a:off x="4564084" y="4789116"/>
              <a:ext cx="4022403" cy="7420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Аугментация (копии с поворотами и отражениями) редких классов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2DEBBB0-003E-A519-2C0F-3E010062312A}"/>
                </a:ext>
              </a:extLst>
            </p:cNvPr>
            <p:cNvSpPr txBox="1"/>
            <p:nvPr/>
          </p:nvSpPr>
          <p:spPr>
            <a:xfrm>
              <a:off x="8876295" y="4789078"/>
              <a:ext cx="2989310" cy="1088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Масштабирование до 1024×1024 с сохранением пропорций</a:t>
              </a:r>
            </a:p>
          </p:txBody>
        </p:sp>
      </p:grp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ABC8E5C5-2944-E29A-3037-33F90A880DF2}"/>
              </a:ext>
            </a:extLst>
          </p:cNvPr>
          <p:cNvGrpSpPr/>
          <p:nvPr/>
        </p:nvGrpSpPr>
        <p:grpSpPr>
          <a:xfrm>
            <a:off x="-469283" y="2705099"/>
            <a:ext cx="13163562" cy="3607987"/>
            <a:chOff x="12275671" y="2705100"/>
            <a:chExt cx="13163562" cy="3607987"/>
          </a:xfrm>
        </p:grpSpPr>
        <p:cxnSp>
          <p:nvCxnSpPr>
            <p:cNvPr id="111" name="Прямая соединительная линия 110">
              <a:extLst>
                <a:ext uri="{FF2B5EF4-FFF2-40B4-BE49-F238E27FC236}">
                  <a16:creationId xmlns:a16="http://schemas.microsoft.com/office/drawing/2014/main" id="{758CF23F-9014-78A1-8EEB-792D204DCDD0}"/>
                </a:ext>
              </a:extLst>
            </p:cNvPr>
            <p:cNvCxnSpPr>
              <a:cxnSpLocks/>
            </p:cNvCxnSpPr>
            <p:nvPr/>
          </p:nvCxnSpPr>
          <p:spPr>
            <a:xfrm>
              <a:off x="13997159" y="2705100"/>
              <a:ext cx="0" cy="343445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Группа 120">
              <a:extLst>
                <a:ext uri="{FF2B5EF4-FFF2-40B4-BE49-F238E27FC236}">
                  <a16:creationId xmlns:a16="http://schemas.microsoft.com/office/drawing/2014/main" id="{6E6DC610-8390-44D5-9ACE-402A91593CA5}"/>
                </a:ext>
              </a:extLst>
            </p:cNvPr>
            <p:cNvGrpSpPr/>
            <p:nvPr/>
          </p:nvGrpSpPr>
          <p:grpSpPr>
            <a:xfrm>
              <a:off x="12275671" y="2739324"/>
              <a:ext cx="13163562" cy="3573763"/>
              <a:chOff x="12275671" y="2739324"/>
              <a:chExt cx="13163562" cy="3573763"/>
            </a:xfrm>
          </p:grpSpPr>
          <p:cxnSp>
            <p:nvCxnSpPr>
              <p:cNvPr id="112" name="Прямая соединительная линия 111">
                <a:extLst>
                  <a:ext uri="{FF2B5EF4-FFF2-40B4-BE49-F238E27FC236}">
                    <a16:creationId xmlns:a16="http://schemas.microsoft.com/office/drawing/2014/main" id="{D4D18C65-E7B1-A770-247A-8B4A34C0D7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275671" y="4670426"/>
                <a:ext cx="13163562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3F9BC6D7-1CB4-8495-4288-0DA9503726AA}"/>
                  </a:ext>
                </a:extLst>
              </p:cNvPr>
              <p:cNvSpPr txBox="1"/>
              <p:nvPr/>
            </p:nvSpPr>
            <p:spPr>
              <a:xfrm rot="3847950">
                <a:off x="12649947" y="3625376"/>
                <a:ext cx="1597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Результаты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B0A9346F-9A96-724A-BF37-346563EEBFFA}"/>
                  </a:ext>
                </a:extLst>
              </p:cNvPr>
              <p:cNvSpPr txBox="1"/>
              <p:nvPr/>
            </p:nvSpPr>
            <p:spPr>
              <a:xfrm rot="3847950">
                <a:off x="12721971" y="5368638"/>
                <a:ext cx="15195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Действия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951D2AFD-93A7-9CCA-4483-62781E3752AC}"/>
                  </a:ext>
                </a:extLst>
              </p:cNvPr>
              <p:cNvSpPr txBox="1"/>
              <p:nvPr/>
            </p:nvSpPr>
            <p:spPr>
              <a:xfrm>
                <a:off x="14074343" y="2743199"/>
                <a:ext cx="3863630" cy="1668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Горизонталь: Левая треть(28,1%), центральная треть(50,8%).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Вертикаль: Нижняя треть(30,6%), центральная треть (49,8%)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Смещение влево и вниз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EC22FC99-12AF-946A-C026-7E91ABBBE53D}"/>
                  </a:ext>
                </a:extLst>
              </p:cNvPr>
              <p:cNvSpPr txBox="1"/>
              <p:nvPr/>
            </p:nvSpPr>
            <p:spPr>
              <a:xfrm>
                <a:off x="18012063" y="2739324"/>
                <a:ext cx="3190587" cy="1668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YOLOv8 – быстрая одноэтапная модель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FPN для </a:t>
                </a: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мелких объектов (создаёт несколько уровней изображения для </a:t>
                </a:r>
                <a:r>
                  <a:rPr lang="en-CA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YOLO</a:t>
                </a: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25FEC83-8792-E3ED-73C7-757118D4A167}"/>
                  </a:ext>
                </a:extLst>
              </p:cNvPr>
              <p:cNvSpPr txBox="1"/>
              <p:nvPr/>
            </p:nvSpPr>
            <p:spPr>
              <a:xfrm>
                <a:off x="14106584" y="4735799"/>
                <a:ext cx="3735376" cy="1021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Случайное кадрирование (вырезаем случайную часть фото)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Сдвиги при аугментации</a:t>
                </a:r>
                <a:endParaRPr lang="ru-RU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A0D1EF1-7581-1DCB-70F7-9E9096BEA348}"/>
                  </a:ext>
                </a:extLst>
              </p:cNvPr>
              <p:cNvSpPr txBox="1"/>
              <p:nvPr/>
            </p:nvSpPr>
            <p:spPr>
              <a:xfrm>
                <a:off x="18012063" y="4731523"/>
                <a:ext cx="2977089" cy="698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Обучить модель YOLO на датасете</a:t>
                </a:r>
                <a:endPara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41490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940B9-B99C-9409-1502-9AD52521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9D4F520-FC19-40D6-49C6-8548DFD1D9A7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C3A158-D99E-6343-DD86-F390321D300C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Данные с изображениями: выводы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21B2731D-A000-B090-3515-4A4A4F8BFE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19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487C745-B629-9ED7-75A8-0A5C185B3EB9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23A2DADD-183B-26E7-B6EB-7B86FA3B232D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186FF-E765-ECD9-2748-CB74F19BC93A}"/>
              </a:ext>
            </a:extLst>
          </p:cNvPr>
          <p:cNvSpPr txBox="1"/>
          <p:nvPr/>
        </p:nvSpPr>
        <p:spPr>
          <a:xfrm>
            <a:off x="377364" y="1540917"/>
            <a:ext cx="11437256" cy="373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Пригодность: Данные полностью пригодны для задачи детекции помидоров и классификации по размеру и стадии созревания. Разметка выполнена качественно: все видимые помидоры обведены, пропущенных объектов нет. Основные проблемы – сильный дисбаланс классов (разница в 10 раз) и неравномерное расположение объектов в </a:t>
            </a:r>
            <a:r>
              <a:rPr lang="ru-RU" sz="1600" b="1" dirty="0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кадре – </a:t>
            </a: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решаются стандартными методами аугментации.</a:t>
            </a:r>
          </a:p>
          <a:p>
            <a:pPr>
              <a:lnSpc>
                <a:spcPct val="150000"/>
              </a:lnSpc>
            </a:pPr>
            <a:endParaRPr lang="ru-RU" sz="1600" b="1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Рекомендации по предварительной обработке перед обучением модели: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Применить аугментацию для редких классов: повороты, отражения, изменение яркости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Масштабировать изображения до 1024×1024 пикселей с сохранением пропорций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Добавить случайные сдвиги и кадрирование, чтобы модель не привыкала к центру кадра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Использовать YOLOv8</a:t>
            </a:r>
          </a:p>
        </p:txBody>
      </p:sp>
    </p:spTree>
    <p:extLst>
      <p:ext uri="{BB962C8B-B14F-4D97-AF65-F5344CB8AC3E}">
        <p14:creationId xmlns:p14="http://schemas.microsoft.com/office/powerpoint/2010/main" val="1722400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CF093-758F-5DC8-5A8C-69C35646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E55F010-9118-9664-31E0-35F915A02C96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5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8A93F6-499C-F966-264F-DC7AE1B0CA0C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Текстовые данные: задача и описание данных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51749187-0E00-5EB0-A26E-0622B81F38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20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A76A6F9-A93E-B1A4-D103-1E1C39EAC260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D38B853F-5C02-738B-8566-3CCFE8019D19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AA7BE3-E9CF-1153-6927-5C298D655EC3}"/>
              </a:ext>
            </a:extLst>
          </p:cNvPr>
          <p:cNvSpPr txBox="1"/>
          <p:nvPr/>
        </p:nvSpPr>
        <p:spPr>
          <a:xfrm>
            <a:off x="445658" y="937951"/>
            <a:ext cx="11300668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Задача: Автоматическое определение категории </a:t>
            </a:r>
          </a:p>
          <a:p>
            <a:pPr algn="just">
              <a:lnSpc>
                <a:spcPct val="150000"/>
              </a:lnSpc>
            </a:pP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новостной статьи по её тексту (многоклассовая </a:t>
            </a:r>
          </a:p>
          <a:p>
            <a:pPr algn="just">
              <a:lnSpc>
                <a:spcPct val="150000"/>
              </a:lnSpc>
            </a:pP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классификация)</a:t>
            </a:r>
          </a:p>
          <a:p>
            <a:pPr algn="just">
              <a:lnSpc>
                <a:spcPct val="150000"/>
              </a:lnSpc>
            </a:pP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Набор данных: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Название, источник: BBC Full Text Document </a:t>
            </a:r>
          </a:p>
          <a:p>
            <a:pPr lvl="1" algn="just">
              <a:lnSpc>
                <a:spcPct val="150000"/>
              </a:lnSpc>
            </a:pPr>
            <a:r>
              <a:rPr lang="ru-RU" sz="2000" b="1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b="1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Kaggle</a:t>
            </a:r>
            <a:endParaRPr lang="ru-RU" sz="2000" b="1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URL: https://www.kaggle.com/datasets/alfathterry/bbc-full-text-document-classification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Автор: Al </a:t>
            </a:r>
            <a:r>
              <a:rPr lang="ru-RU" sz="2000" b="1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Fath</a:t>
            </a: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Terry</a:t>
            </a: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2023 г.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Описание: полные тексты новостных статей BBC на английском языке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20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Размерность: 2 225 текстов, 5 категорий</a:t>
            </a:r>
          </a:p>
        </p:txBody>
      </p:sp>
      <p:pic>
        <p:nvPicPr>
          <p:cNvPr id="2" name="Рисунок 1" descr="BBC News — Википедия">
            <a:extLst>
              <a:ext uri="{FF2B5EF4-FFF2-40B4-BE49-F238E27FC236}">
                <a16:creationId xmlns:a16="http://schemas.microsoft.com/office/drawing/2014/main" id="{58108504-E736-0167-5B7A-CE94C6FDE3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147693" y="972873"/>
            <a:ext cx="3598633" cy="2456127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762821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87BE-3B0C-9253-42B8-5F46E4F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A5BAA78-0175-E62C-786E-BCAACD794250}"/>
              </a:ext>
            </a:extLst>
          </p:cNvPr>
          <p:cNvSpPr/>
          <p:nvPr/>
        </p:nvSpPr>
        <p:spPr>
          <a:xfrm>
            <a:off x="-24674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44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49A0F-92F7-832B-3278-6DB573703776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Текстовые данные: атрибуты</a:t>
            </a: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D99E26AE-EDF0-DD13-194D-BD5C56F9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21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825FAEE-38A6-81A0-067A-F30029FC3C1A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E44AA9C7-496F-E7F5-6F0A-E54EE6B44FCE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182CF730-0AA0-3510-913F-095D484ED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449762"/>
              </p:ext>
            </p:extLst>
          </p:nvPr>
        </p:nvGraphicFramePr>
        <p:xfrm>
          <a:off x="1190619" y="937951"/>
          <a:ext cx="9810750" cy="520159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76331">
                  <a:extLst>
                    <a:ext uri="{9D8B030D-6E8A-4147-A177-3AD203B41FA5}">
                      <a16:colId xmlns:a16="http://schemas.microsoft.com/office/drawing/2014/main" val="1015900073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452573460"/>
                    </a:ext>
                  </a:extLst>
                </a:gridCol>
                <a:gridCol w="3358855">
                  <a:extLst>
                    <a:ext uri="{9D8B030D-6E8A-4147-A177-3AD203B41FA5}">
                      <a16:colId xmlns:a16="http://schemas.microsoft.com/office/drawing/2014/main" val="2242938945"/>
                    </a:ext>
                  </a:extLst>
                </a:gridCol>
                <a:gridCol w="2803814">
                  <a:extLst>
                    <a:ext uri="{9D8B030D-6E8A-4147-A177-3AD203B41FA5}">
                      <a16:colId xmlns:a16="http://schemas.microsoft.com/office/drawing/2014/main" val="3697788141"/>
                    </a:ext>
                  </a:extLst>
                </a:gridCol>
              </a:tblGrid>
              <a:tr h="108537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</a:p>
                  </a:txBody>
                  <a:tcPr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Название</a:t>
                      </a: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Семантика</a:t>
                      </a: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</a:t>
                      </a: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554565"/>
                  </a:ext>
                </a:extLst>
              </a:tr>
              <a:tr h="186356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Полный текст новостной статьи BBC</a:t>
                      </a:r>
                    </a:p>
                  </a:txBody>
                  <a:tcPr marL="152400" marR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текстовый</a:t>
                      </a:r>
                    </a:p>
                  </a:txBody>
                  <a:tcPr marL="152400" marT="95250" marB="9525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226786"/>
                  </a:ext>
                </a:extLst>
              </a:tr>
              <a:tr h="225266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labels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Категория статьи</a:t>
                      </a:r>
                    </a:p>
                  </a:txBody>
                  <a:tcPr marL="152400" marR="152400" marT="95250" marB="9525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категориальный (5 значений)</a:t>
                      </a:r>
                    </a:p>
                  </a:txBody>
                  <a:tcPr marL="152400" marT="95250" marB="9525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68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9974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18E5F-8FA7-4B40-BA89-3AC6F1174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493CA13-F5D5-5BD1-96B7-B0F62CA1C6AC}"/>
              </a:ext>
            </a:extLst>
          </p:cNvPr>
          <p:cNvSpPr/>
          <p:nvPr/>
        </p:nvSpPr>
        <p:spPr>
          <a:xfrm>
            <a:off x="-24674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38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A9741F6-AA6E-677F-D32B-538ADD43A222}"/>
              </a:ext>
            </a:extLst>
          </p:cNvPr>
          <p:cNvSpPr/>
          <p:nvPr/>
        </p:nvSpPr>
        <p:spPr>
          <a:xfrm>
            <a:off x="-246746" y="-220648"/>
            <a:ext cx="12685487" cy="131284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43000">
                <a:schemeClr val="tx2">
                  <a:lumMod val="90000"/>
                  <a:lumOff val="10000"/>
                </a:schemeClr>
              </a:gs>
            </a:gsLst>
            <a:lin ang="132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8A617-0632-1BD0-7050-EAF6A556BC9A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Текстовые данные: пример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CFA1D403-4B9B-C034-D301-EC99F8D0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22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AB9BD7F-F857-07DC-3384-38D7E1710341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CB25BB9D-0397-F645-27CA-EB7BCAE0C0A3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925E58C-6BCA-4FD1-D2CC-B2D9492ED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163934"/>
              </p:ext>
            </p:extLst>
          </p:nvPr>
        </p:nvGraphicFramePr>
        <p:xfrm>
          <a:off x="561969" y="1424548"/>
          <a:ext cx="11068050" cy="4008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569345488"/>
                    </a:ext>
                  </a:extLst>
                </a:gridCol>
                <a:gridCol w="9163050">
                  <a:extLst>
                    <a:ext uri="{9D8B030D-6E8A-4147-A177-3AD203B41FA5}">
                      <a16:colId xmlns:a16="http://schemas.microsoft.com/office/drawing/2014/main" val="3807391186"/>
                    </a:ext>
                  </a:extLst>
                </a:gridCol>
              </a:tblGrid>
              <a:tr h="30900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Категория</a:t>
                      </a:r>
                    </a:p>
                  </a:txBody>
                  <a:tcPr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 (первые 100 символов)</a:t>
                      </a:r>
                    </a:p>
                  </a:txBody>
                  <a:tcPr marL="152400"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74507"/>
                  </a:ext>
                </a:extLst>
              </a:tr>
              <a:tr h="76125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business</a:t>
                      </a:r>
                      <a:endParaRPr lang="ru-RU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UK economy facing major risks The UK manufacturing sector will continue to face...</a:t>
                      </a:r>
                    </a:p>
                  </a:txBody>
                  <a:tcPr marL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227105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entertainment</a:t>
                      </a:r>
                      <a:endParaRPr lang="ru-RU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Musicians to tackle US red tape Musicians groups are to tackle US visa...</a:t>
                      </a:r>
                    </a:p>
                  </a:txBody>
                  <a:tcPr marL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045699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politics</a:t>
                      </a:r>
                    </a:p>
                  </a:txBody>
                  <a:tcPr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Baron Kinnock makes Lords debut Former Labour leader Neil Kinnock has...</a:t>
                      </a:r>
                    </a:p>
                  </a:txBody>
                  <a:tcPr marL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289895"/>
                  </a:ext>
                </a:extLst>
              </a:tr>
              <a:tr h="61800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sport</a:t>
                      </a:r>
                    </a:p>
                  </a:txBody>
                  <a:tcPr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Fuming Robinson blasts officials England coach Andy Robinson insisted he was...</a:t>
                      </a:r>
                    </a:p>
                  </a:txBody>
                  <a:tcPr marL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2406144"/>
                  </a:ext>
                </a:extLst>
              </a:tr>
              <a:tr h="65479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</a:t>
                      </a:r>
                      <a:endParaRPr lang="ru-RU" b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Mobiles</a:t>
                      </a:r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rack</a:t>
                      </a:r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</a:t>
                      </a:r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20 </a:t>
                      </a:r>
                      <a:r>
                        <a:rPr lang="ru-RU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years</a:t>
                      </a:r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</a:t>
                      </a:r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</a:t>
                      </a:r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Mobile </a:t>
                      </a:r>
                      <a:r>
                        <a:rPr lang="ru-RU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phones</a:t>
                      </a:r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</a:t>
                      </a:r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UK </a:t>
                      </a:r>
                      <a:r>
                        <a:rPr lang="ru-RU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are</a:t>
                      </a:r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celebrating</a:t>
                      </a:r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</a:p>
                  </a:txBody>
                  <a:tcPr marL="152400" marT="95250" marB="9525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743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641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CF23-A62B-FE55-656E-A8C6DEA09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F1A1CB7-E501-16EE-2E28-E0F416015AA3}"/>
              </a:ext>
            </a:extLst>
          </p:cNvPr>
          <p:cNvSpPr/>
          <p:nvPr/>
        </p:nvSpPr>
        <p:spPr>
          <a:xfrm>
            <a:off x="-22769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32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B2190505-518E-9D8E-F6E3-200D14EB92EF}"/>
              </a:ext>
            </a:extLst>
          </p:cNvPr>
          <p:cNvGrpSpPr/>
          <p:nvPr/>
        </p:nvGrpSpPr>
        <p:grpSpPr>
          <a:xfrm>
            <a:off x="8379802" y="-1343198"/>
            <a:ext cx="4125183" cy="3903766"/>
            <a:chOff x="8597992" y="-1343198"/>
            <a:chExt cx="4125183" cy="3903766"/>
          </a:xfrm>
        </p:grpSpPr>
        <p:grpSp>
          <p:nvGrpSpPr>
            <p:cNvPr id="95" name="Группа 94">
              <a:extLst>
                <a:ext uri="{FF2B5EF4-FFF2-40B4-BE49-F238E27FC236}">
                  <a16:creationId xmlns:a16="http://schemas.microsoft.com/office/drawing/2014/main" id="{7F637A74-147D-DD77-47C3-808973F3E7CF}"/>
                </a:ext>
              </a:extLst>
            </p:cNvPr>
            <p:cNvGrpSpPr/>
            <p:nvPr/>
          </p:nvGrpSpPr>
          <p:grpSpPr>
            <a:xfrm>
              <a:off x="8670670" y="-1343198"/>
              <a:ext cx="3903766" cy="3903766"/>
              <a:chOff x="8746731" y="-1343198"/>
              <a:chExt cx="3903766" cy="3903766"/>
            </a:xfrm>
          </p:grpSpPr>
          <p:grpSp>
            <p:nvGrpSpPr>
              <p:cNvPr id="63" name="Группа 62">
                <a:extLst>
                  <a:ext uri="{FF2B5EF4-FFF2-40B4-BE49-F238E27FC236}">
                    <a16:creationId xmlns:a16="http://schemas.microsoft.com/office/drawing/2014/main" id="{294482FD-FE9C-5F83-2785-873D4B19212C}"/>
                  </a:ext>
                </a:extLst>
              </p:cNvPr>
              <p:cNvGrpSpPr/>
              <p:nvPr/>
            </p:nvGrpSpPr>
            <p:grpSpPr>
              <a:xfrm>
                <a:off x="8746731" y="-1343198"/>
                <a:ext cx="3903766" cy="3903766"/>
                <a:chOff x="152400" y="1057655"/>
                <a:chExt cx="3903766" cy="3903766"/>
              </a:xfrm>
            </p:grpSpPr>
            <p:sp>
              <p:nvSpPr>
                <p:cNvPr id="64" name="Полилиния: фигура 63">
                  <a:extLst>
                    <a:ext uri="{FF2B5EF4-FFF2-40B4-BE49-F238E27FC236}">
                      <a16:creationId xmlns:a16="http://schemas.microsoft.com/office/drawing/2014/main" id="{C9847078-29DD-CA22-91E9-8CEEFB3894E8}"/>
                    </a:ext>
                  </a:extLst>
                </p:cNvPr>
                <p:cNvSpPr/>
                <p:nvPr/>
              </p:nvSpPr>
              <p:spPr>
                <a:xfrm>
                  <a:off x="152400" y="1057655"/>
                  <a:ext cx="3903766" cy="3903766"/>
                </a:xfrm>
                <a:custGeom>
                  <a:avLst/>
                  <a:gdLst>
                    <a:gd name="csX0" fmla="*/ 2492829 w 4985658"/>
                    <a:gd name="csY0" fmla="*/ 1240972 h 4985658"/>
                    <a:gd name="csX1" fmla="*/ 1240972 w 4985658"/>
                    <a:gd name="csY1" fmla="*/ 2492829 h 4985658"/>
                    <a:gd name="csX2" fmla="*/ 2492829 w 4985658"/>
                    <a:gd name="csY2" fmla="*/ 3744686 h 4985658"/>
                    <a:gd name="csX3" fmla="*/ 3744686 w 4985658"/>
                    <a:gd name="csY3" fmla="*/ 2492829 h 4985658"/>
                    <a:gd name="csX4" fmla="*/ 2492829 w 4985658"/>
                    <a:gd name="csY4" fmla="*/ 1240972 h 4985658"/>
                    <a:gd name="csX5" fmla="*/ 2492829 w 4985658"/>
                    <a:gd name="csY5" fmla="*/ 0 h 4985658"/>
                    <a:gd name="csX6" fmla="*/ 4985658 w 4985658"/>
                    <a:gd name="csY6" fmla="*/ 2492829 h 4985658"/>
                    <a:gd name="csX7" fmla="*/ 2492829 w 4985658"/>
                    <a:gd name="csY7" fmla="*/ 4985658 h 4985658"/>
                    <a:gd name="csX8" fmla="*/ 0 w 4985658"/>
                    <a:gd name="csY8" fmla="*/ 2492829 h 4985658"/>
                    <a:gd name="csX9" fmla="*/ 2492829 w 4985658"/>
                    <a:gd name="csY9" fmla="*/ 0 h 4985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4985658" h="4985658">
                      <a:moveTo>
                        <a:pt x="2492829" y="1240972"/>
                      </a:moveTo>
                      <a:cubicBezTo>
                        <a:pt x="1801447" y="1240972"/>
                        <a:pt x="1240972" y="1801447"/>
                        <a:pt x="1240972" y="2492829"/>
                      </a:cubicBezTo>
                      <a:cubicBezTo>
                        <a:pt x="1240972" y="3184211"/>
                        <a:pt x="1801447" y="3744686"/>
                        <a:pt x="2492829" y="3744686"/>
                      </a:cubicBezTo>
                      <a:cubicBezTo>
                        <a:pt x="3184211" y="3744686"/>
                        <a:pt x="3744686" y="3184211"/>
                        <a:pt x="3744686" y="2492829"/>
                      </a:cubicBezTo>
                      <a:cubicBezTo>
                        <a:pt x="3744686" y="1801447"/>
                        <a:pt x="3184211" y="1240972"/>
                        <a:pt x="2492829" y="1240972"/>
                      </a:cubicBezTo>
                      <a:close/>
                      <a:moveTo>
                        <a:pt x="2492829" y="0"/>
                      </a:moveTo>
                      <a:cubicBezTo>
                        <a:pt x="3869580" y="0"/>
                        <a:pt x="4985658" y="1116078"/>
                        <a:pt x="4985658" y="2492829"/>
                      </a:cubicBezTo>
                      <a:cubicBezTo>
                        <a:pt x="4985658" y="3869580"/>
                        <a:pt x="3869580" y="4985658"/>
                        <a:pt x="2492829" y="4985658"/>
                      </a:cubicBezTo>
                      <a:cubicBezTo>
                        <a:pt x="1116078" y="4985658"/>
                        <a:pt x="0" y="3869580"/>
                        <a:pt x="0" y="2492829"/>
                      </a:cubicBezTo>
                      <a:cubicBezTo>
                        <a:pt x="0" y="1116078"/>
                        <a:pt x="1116078" y="0"/>
                        <a:pt x="2492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75000">
                      <a:srgbClr val="122639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44000">
                      <a:schemeClr val="tx2">
                        <a:lumMod val="90000"/>
                        <a:lumOff val="10000"/>
                      </a:schemeClr>
                    </a:gs>
                  </a:gsLst>
                  <a:lin ang="12600000" scaled="0"/>
                </a:gra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ru-RU" dirty="0"/>
                </a:p>
              </p:txBody>
            </p:sp>
            <p:grpSp>
              <p:nvGrpSpPr>
                <p:cNvPr id="65" name="Группа 64">
                  <a:extLst>
                    <a:ext uri="{FF2B5EF4-FFF2-40B4-BE49-F238E27FC236}">
                      <a16:creationId xmlns:a16="http://schemas.microsoft.com/office/drawing/2014/main" id="{CB95CBE3-2946-72E0-C640-511960D082D3}"/>
                    </a:ext>
                  </a:extLst>
                </p:cNvPr>
                <p:cNvGrpSpPr/>
                <p:nvPr/>
              </p:nvGrpSpPr>
              <p:grpSpPr>
                <a:xfrm>
                  <a:off x="3084486" y="2719153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9" name="Прямая соединительная линия 68">
                    <a:extLst>
                      <a:ext uri="{FF2B5EF4-FFF2-40B4-BE49-F238E27FC236}">
                        <a16:creationId xmlns:a16="http://schemas.microsoft.com/office/drawing/2014/main" id="{BAE90C84-6842-37E2-F3D8-C7479E1C78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Прямая соединительная линия 69">
                    <a:extLst>
                      <a:ext uri="{FF2B5EF4-FFF2-40B4-BE49-F238E27FC236}">
                        <a16:creationId xmlns:a16="http://schemas.microsoft.com/office/drawing/2014/main" id="{58E50E8D-D3A0-6004-7DB2-9CA017C446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6" name="Группа 65">
                  <a:extLst>
                    <a:ext uri="{FF2B5EF4-FFF2-40B4-BE49-F238E27FC236}">
                      <a16:creationId xmlns:a16="http://schemas.microsoft.com/office/drawing/2014/main" id="{52623425-5BF8-2DD7-930F-028F79603915}"/>
                    </a:ext>
                  </a:extLst>
                </p:cNvPr>
                <p:cNvGrpSpPr/>
                <p:nvPr/>
              </p:nvGrpSpPr>
              <p:grpSpPr>
                <a:xfrm rot="10800000">
                  <a:off x="152400" y="3035177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7" name="Прямая соединительная линия 66">
                    <a:extLst>
                      <a:ext uri="{FF2B5EF4-FFF2-40B4-BE49-F238E27FC236}">
                        <a16:creationId xmlns:a16="http://schemas.microsoft.com/office/drawing/2014/main" id="{ADA68AC8-4782-AB50-C186-B2F41A17C0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Прямая соединительная линия 67">
                    <a:extLst>
                      <a:ext uri="{FF2B5EF4-FFF2-40B4-BE49-F238E27FC236}">
                        <a16:creationId xmlns:a16="http://schemas.microsoft.com/office/drawing/2014/main" id="{4D4627F4-9346-B663-7D1F-663FC9A334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69C96DA-680A-9E6D-AC7D-E298D75E7C40}"/>
                  </a:ext>
                </a:extLst>
              </p:cNvPr>
              <p:cNvSpPr txBox="1"/>
              <p:nvPr/>
            </p:nvSpPr>
            <p:spPr>
              <a:xfrm>
                <a:off x="9256187" y="1628588"/>
                <a:ext cx="296091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3. 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Лемматизация</a:t>
                </a:r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624BEDD-C363-393F-F83A-E939DC7C734F}"/>
                </a:ext>
              </a:extLst>
            </p:cNvPr>
            <p:cNvSpPr txBox="1"/>
            <p:nvPr/>
          </p:nvSpPr>
          <p:spPr>
            <a:xfrm rot="10800000">
              <a:off x="8597992" y="-1050811"/>
              <a:ext cx="412518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Шаг 6. Вычисление </a:t>
              </a:r>
            </a:p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TF-IDF</a:t>
              </a:r>
              <a:endPara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064C25D1-368E-89A0-A840-7694005DF375}"/>
              </a:ext>
            </a:extLst>
          </p:cNvPr>
          <p:cNvGrpSpPr/>
          <p:nvPr/>
        </p:nvGrpSpPr>
        <p:grpSpPr>
          <a:xfrm>
            <a:off x="4809846" y="-1343198"/>
            <a:ext cx="3922816" cy="3903766"/>
            <a:chOff x="5028036" y="-1343198"/>
            <a:chExt cx="3922816" cy="3903766"/>
          </a:xfrm>
        </p:grpSpPr>
        <p:grpSp>
          <p:nvGrpSpPr>
            <p:cNvPr id="89" name="Группа 88">
              <a:extLst>
                <a:ext uri="{FF2B5EF4-FFF2-40B4-BE49-F238E27FC236}">
                  <a16:creationId xmlns:a16="http://schemas.microsoft.com/office/drawing/2014/main" id="{AC272913-AACF-829C-0B3D-6C9FE7685168}"/>
                </a:ext>
              </a:extLst>
            </p:cNvPr>
            <p:cNvGrpSpPr/>
            <p:nvPr/>
          </p:nvGrpSpPr>
          <p:grpSpPr>
            <a:xfrm>
              <a:off x="5047086" y="-1343198"/>
              <a:ext cx="3903766" cy="3903766"/>
              <a:chOff x="5013346" y="-1343198"/>
              <a:chExt cx="3903766" cy="3903766"/>
            </a:xfrm>
          </p:grpSpPr>
          <p:grpSp>
            <p:nvGrpSpPr>
              <p:cNvPr id="55" name="Группа 54">
                <a:extLst>
                  <a:ext uri="{FF2B5EF4-FFF2-40B4-BE49-F238E27FC236}">
                    <a16:creationId xmlns:a16="http://schemas.microsoft.com/office/drawing/2014/main" id="{B526DDFB-7C22-024C-E76A-857363361F3F}"/>
                  </a:ext>
                </a:extLst>
              </p:cNvPr>
              <p:cNvGrpSpPr/>
              <p:nvPr/>
            </p:nvGrpSpPr>
            <p:grpSpPr>
              <a:xfrm>
                <a:off x="5013346" y="-1343198"/>
                <a:ext cx="3903766" cy="3903766"/>
                <a:chOff x="152400" y="1057655"/>
                <a:chExt cx="3903766" cy="3903766"/>
              </a:xfrm>
            </p:grpSpPr>
            <p:sp>
              <p:nvSpPr>
                <p:cNvPr id="56" name="Полилиния: фигура 55">
                  <a:extLst>
                    <a:ext uri="{FF2B5EF4-FFF2-40B4-BE49-F238E27FC236}">
                      <a16:creationId xmlns:a16="http://schemas.microsoft.com/office/drawing/2014/main" id="{CA817A63-526C-29A7-7D88-4C28ECA117A7}"/>
                    </a:ext>
                  </a:extLst>
                </p:cNvPr>
                <p:cNvSpPr/>
                <p:nvPr/>
              </p:nvSpPr>
              <p:spPr>
                <a:xfrm>
                  <a:off x="152400" y="1057655"/>
                  <a:ext cx="3903766" cy="3903766"/>
                </a:xfrm>
                <a:custGeom>
                  <a:avLst/>
                  <a:gdLst>
                    <a:gd name="csX0" fmla="*/ 2492829 w 4985658"/>
                    <a:gd name="csY0" fmla="*/ 1240972 h 4985658"/>
                    <a:gd name="csX1" fmla="*/ 1240972 w 4985658"/>
                    <a:gd name="csY1" fmla="*/ 2492829 h 4985658"/>
                    <a:gd name="csX2" fmla="*/ 2492829 w 4985658"/>
                    <a:gd name="csY2" fmla="*/ 3744686 h 4985658"/>
                    <a:gd name="csX3" fmla="*/ 3744686 w 4985658"/>
                    <a:gd name="csY3" fmla="*/ 2492829 h 4985658"/>
                    <a:gd name="csX4" fmla="*/ 2492829 w 4985658"/>
                    <a:gd name="csY4" fmla="*/ 1240972 h 4985658"/>
                    <a:gd name="csX5" fmla="*/ 2492829 w 4985658"/>
                    <a:gd name="csY5" fmla="*/ 0 h 4985658"/>
                    <a:gd name="csX6" fmla="*/ 4985658 w 4985658"/>
                    <a:gd name="csY6" fmla="*/ 2492829 h 4985658"/>
                    <a:gd name="csX7" fmla="*/ 2492829 w 4985658"/>
                    <a:gd name="csY7" fmla="*/ 4985658 h 4985658"/>
                    <a:gd name="csX8" fmla="*/ 0 w 4985658"/>
                    <a:gd name="csY8" fmla="*/ 2492829 h 4985658"/>
                    <a:gd name="csX9" fmla="*/ 2492829 w 4985658"/>
                    <a:gd name="csY9" fmla="*/ 0 h 4985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4985658" h="4985658">
                      <a:moveTo>
                        <a:pt x="2492829" y="1240972"/>
                      </a:moveTo>
                      <a:cubicBezTo>
                        <a:pt x="1801447" y="1240972"/>
                        <a:pt x="1240972" y="1801447"/>
                        <a:pt x="1240972" y="2492829"/>
                      </a:cubicBezTo>
                      <a:cubicBezTo>
                        <a:pt x="1240972" y="3184211"/>
                        <a:pt x="1801447" y="3744686"/>
                        <a:pt x="2492829" y="3744686"/>
                      </a:cubicBezTo>
                      <a:cubicBezTo>
                        <a:pt x="3184211" y="3744686"/>
                        <a:pt x="3744686" y="3184211"/>
                        <a:pt x="3744686" y="2492829"/>
                      </a:cubicBezTo>
                      <a:cubicBezTo>
                        <a:pt x="3744686" y="1801447"/>
                        <a:pt x="3184211" y="1240972"/>
                        <a:pt x="2492829" y="1240972"/>
                      </a:cubicBezTo>
                      <a:close/>
                      <a:moveTo>
                        <a:pt x="2492829" y="0"/>
                      </a:moveTo>
                      <a:cubicBezTo>
                        <a:pt x="3869580" y="0"/>
                        <a:pt x="4985658" y="1116078"/>
                        <a:pt x="4985658" y="2492829"/>
                      </a:cubicBezTo>
                      <a:cubicBezTo>
                        <a:pt x="4985658" y="3869580"/>
                        <a:pt x="3869580" y="4985658"/>
                        <a:pt x="2492829" y="4985658"/>
                      </a:cubicBezTo>
                      <a:cubicBezTo>
                        <a:pt x="1116078" y="4985658"/>
                        <a:pt x="0" y="3869580"/>
                        <a:pt x="0" y="2492829"/>
                      </a:cubicBezTo>
                      <a:cubicBezTo>
                        <a:pt x="0" y="1116078"/>
                        <a:pt x="1116078" y="0"/>
                        <a:pt x="2492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75000">
                      <a:srgbClr val="122639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44000">
                      <a:schemeClr val="tx2">
                        <a:lumMod val="90000"/>
                        <a:lumOff val="10000"/>
                      </a:schemeClr>
                    </a:gs>
                  </a:gsLst>
                  <a:lin ang="12600000" scaled="0"/>
                </a:gra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ru-RU" dirty="0"/>
                </a:p>
              </p:txBody>
            </p:sp>
            <p:grpSp>
              <p:nvGrpSpPr>
                <p:cNvPr id="57" name="Группа 56">
                  <a:extLst>
                    <a:ext uri="{FF2B5EF4-FFF2-40B4-BE49-F238E27FC236}">
                      <a16:creationId xmlns:a16="http://schemas.microsoft.com/office/drawing/2014/main" id="{8C164ABA-C17B-D4DA-D0C1-E0104CD2FB79}"/>
                    </a:ext>
                  </a:extLst>
                </p:cNvPr>
                <p:cNvGrpSpPr/>
                <p:nvPr/>
              </p:nvGrpSpPr>
              <p:grpSpPr>
                <a:xfrm>
                  <a:off x="3084486" y="2719153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1" name="Прямая соединительная линия 60">
                    <a:extLst>
                      <a:ext uri="{FF2B5EF4-FFF2-40B4-BE49-F238E27FC236}">
                        <a16:creationId xmlns:a16="http://schemas.microsoft.com/office/drawing/2014/main" id="{34C89833-5911-B9E7-7CF3-35B1F4BB69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Прямая соединительная линия 61">
                    <a:extLst>
                      <a:ext uri="{FF2B5EF4-FFF2-40B4-BE49-F238E27FC236}">
                        <a16:creationId xmlns:a16="http://schemas.microsoft.com/office/drawing/2014/main" id="{F4ED71DB-BD9F-05EA-F546-914AD36B02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" name="Группа 57">
                  <a:extLst>
                    <a:ext uri="{FF2B5EF4-FFF2-40B4-BE49-F238E27FC236}">
                      <a16:creationId xmlns:a16="http://schemas.microsoft.com/office/drawing/2014/main" id="{816B9A39-3DFE-AF32-B7D5-7B66F2BE8020}"/>
                    </a:ext>
                  </a:extLst>
                </p:cNvPr>
                <p:cNvGrpSpPr/>
                <p:nvPr/>
              </p:nvGrpSpPr>
              <p:grpSpPr>
                <a:xfrm rot="10800000">
                  <a:off x="152400" y="3035177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59" name="Прямая соединительная линия 58">
                    <a:extLst>
                      <a:ext uri="{FF2B5EF4-FFF2-40B4-BE49-F238E27FC236}">
                        <a16:creationId xmlns:a16="http://schemas.microsoft.com/office/drawing/2014/main" id="{693CC2C2-0276-D214-1044-7013A64D72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Прямая соединительная линия 59">
                    <a:extLst>
                      <a:ext uri="{FF2B5EF4-FFF2-40B4-BE49-F238E27FC236}">
                        <a16:creationId xmlns:a16="http://schemas.microsoft.com/office/drawing/2014/main" id="{8F589166-EB5E-A71A-7278-8B830D3772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CA92BC1-3A59-A469-CB0E-AB29AC62AD0F}"/>
                  </a:ext>
                </a:extLst>
              </p:cNvPr>
              <p:cNvSpPr txBox="1"/>
              <p:nvPr/>
            </p:nvSpPr>
            <p:spPr>
              <a:xfrm>
                <a:off x="5013346" y="1623950"/>
                <a:ext cx="390376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2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Очистка текста</a:t>
                </a: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7FBC864-9AD4-CCB6-6EBE-779B0E34357B}"/>
                </a:ext>
              </a:extLst>
            </p:cNvPr>
            <p:cNvSpPr txBox="1"/>
            <p:nvPr/>
          </p:nvSpPr>
          <p:spPr>
            <a:xfrm rot="10800000">
              <a:off x="5028036" y="-1025829"/>
              <a:ext cx="390376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Шаг 5. Удаление </a:t>
              </a:r>
            </a:p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стоп-слов</a:t>
              </a:r>
            </a:p>
          </p:txBody>
        </p:sp>
      </p:grp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00969C36-C075-AA8D-0C33-FB84EB4C7E1F}"/>
              </a:ext>
            </a:extLst>
          </p:cNvPr>
          <p:cNvGrpSpPr/>
          <p:nvPr/>
        </p:nvGrpSpPr>
        <p:grpSpPr>
          <a:xfrm>
            <a:off x="1150960" y="-1343198"/>
            <a:ext cx="3903766" cy="3903766"/>
            <a:chOff x="1208423" y="-1343198"/>
            <a:chExt cx="3903766" cy="3903766"/>
          </a:xfrm>
        </p:grpSpPr>
        <p:grpSp>
          <p:nvGrpSpPr>
            <p:cNvPr id="54" name="Группа 53">
              <a:extLst>
                <a:ext uri="{FF2B5EF4-FFF2-40B4-BE49-F238E27FC236}">
                  <a16:creationId xmlns:a16="http://schemas.microsoft.com/office/drawing/2014/main" id="{9A431A50-510D-238C-9969-6BE34FEEF4FA}"/>
                </a:ext>
              </a:extLst>
            </p:cNvPr>
            <p:cNvGrpSpPr/>
            <p:nvPr/>
          </p:nvGrpSpPr>
          <p:grpSpPr>
            <a:xfrm>
              <a:off x="1208423" y="-1343198"/>
              <a:ext cx="3903766" cy="3903766"/>
              <a:chOff x="152400" y="1057655"/>
              <a:chExt cx="3903766" cy="3903766"/>
            </a:xfrm>
          </p:grpSpPr>
          <p:sp>
            <p:nvSpPr>
              <p:cNvPr id="9" name="Полилиния: фигура 8">
                <a:extLst>
                  <a:ext uri="{FF2B5EF4-FFF2-40B4-BE49-F238E27FC236}">
                    <a16:creationId xmlns:a16="http://schemas.microsoft.com/office/drawing/2014/main" id="{86134CB4-57D2-17AA-3DA7-345CBBD9BC49}"/>
                  </a:ext>
                </a:extLst>
              </p:cNvPr>
              <p:cNvSpPr/>
              <p:nvPr/>
            </p:nvSpPr>
            <p:spPr>
              <a:xfrm>
                <a:off x="152400" y="1057655"/>
                <a:ext cx="3903766" cy="3903766"/>
              </a:xfrm>
              <a:custGeom>
                <a:avLst/>
                <a:gdLst>
                  <a:gd name="csX0" fmla="*/ 2492829 w 4985658"/>
                  <a:gd name="csY0" fmla="*/ 1240972 h 4985658"/>
                  <a:gd name="csX1" fmla="*/ 1240972 w 4985658"/>
                  <a:gd name="csY1" fmla="*/ 2492829 h 4985658"/>
                  <a:gd name="csX2" fmla="*/ 2492829 w 4985658"/>
                  <a:gd name="csY2" fmla="*/ 3744686 h 4985658"/>
                  <a:gd name="csX3" fmla="*/ 3744686 w 4985658"/>
                  <a:gd name="csY3" fmla="*/ 2492829 h 4985658"/>
                  <a:gd name="csX4" fmla="*/ 2492829 w 4985658"/>
                  <a:gd name="csY4" fmla="*/ 1240972 h 4985658"/>
                  <a:gd name="csX5" fmla="*/ 2492829 w 4985658"/>
                  <a:gd name="csY5" fmla="*/ 0 h 4985658"/>
                  <a:gd name="csX6" fmla="*/ 4985658 w 4985658"/>
                  <a:gd name="csY6" fmla="*/ 2492829 h 4985658"/>
                  <a:gd name="csX7" fmla="*/ 2492829 w 4985658"/>
                  <a:gd name="csY7" fmla="*/ 4985658 h 4985658"/>
                  <a:gd name="csX8" fmla="*/ 0 w 4985658"/>
                  <a:gd name="csY8" fmla="*/ 2492829 h 4985658"/>
                  <a:gd name="csX9" fmla="*/ 2492829 w 4985658"/>
                  <a:gd name="csY9" fmla="*/ 0 h 4985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4985658" h="4985658">
                    <a:moveTo>
                      <a:pt x="2492829" y="1240972"/>
                    </a:moveTo>
                    <a:cubicBezTo>
                      <a:pt x="1801447" y="1240972"/>
                      <a:pt x="1240972" y="1801447"/>
                      <a:pt x="1240972" y="2492829"/>
                    </a:cubicBezTo>
                    <a:cubicBezTo>
                      <a:pt x="1240972" y="3184211"/>
                      <a:pt x="1801447" y="3744686"/>
                      <a:pt x="2492829" y="3744686"/>
                    </a:cubicBezTo>
                    <a:cubicBezTo>
                      <a:pt x="3184211" y="3744686"/>
                      <a:pt x="3744686" y="3184211"/>
                      <a:pt x="3744686" y="2492829"/>
                    </a:cubicBezTo>
                    <a:cubicBezTo>
                      <a:pt x="3744686" y="1801447"/>
                      <a:pt x="3184211" y="1240972"/>
                      <a:pt x="2492829" y="1240972"/>
                    </a:cubicBezTo>
                    <a:close/>
                    <a:moveTo>
                      <a:pt x="2492829" y="0"/>
                    </a:moveTo>
                    <a:cubicBezTo>
                      <a:pt x="3869580" y="0"/>
                      <a:pt x="4985658" y="1116078"/>
                      <a:pt x="4985658" y="2492829"/>
                    </a:cubicBezTo>
                    <a:cubicBezTo>
                      <a:pt x="4985658" y="3869580"/>
                      <a:pt x="3869580" y="4985658"/>
                      <a:pt x="2492829" y="4985658"/>
                    </a:cubicBezTo>
                    <a:cubicBezTo>
                      <a:pt x="1116078" y="4985658"/>
                      <a:pt x="0" y="3869580"/>
                      <a:pt x="0" y="2492829"/>
                    </a:cubicBezTo>
                    <a:cubicBezTo>
                      <a:pt x="0" y="1116078"/>
                      <a:pt x="1116078" y="0"/>
                      <a:pt x="24928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75000">
                    <a:srgbClr val="122639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  <a:gs pos="44000">
                    <a:schemeClr val="tx2">
                      <a:lumMod val="90000"/>
                      <a:lumOff val="10000"/>
                    </a:schemeClr>
                  </a:gs>
                </a:gsLst>
                <a:lin ang="12600000" scaled="0"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 dirty="0"/>
              </a:p>
            </p:txBody>
          </p:sp>
          <p:grpSp>
            <p:nvGrpSpPr>
              <p:cNvPr id="50" name="Группа 49">
                <a:extLst>
                  <a:ext uri="{FF2B5EF4-FFF2-40B4-BE49-F238E27FC236}">
                    <a16:creationId xmlns:a16="http://schemas.microsoft.com/office/drawing/2014/main" id="{CF4985D0-2E81-AE60-4EFB-CF4580686D5D}"/>
                  </a:ext>
                </a:extLst>
              </p:cNvPr>
              <p:cNvGrpSpPr/>
              <p:nvPr/>
            </p:nvGrpSpPr>
            <p:grpSpPr>
              <a:xfrm>
                <a:off x="3084486" y="2719153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15" name="Прямая соединительная линия 14">
                  <a:extLst>
                    <a:ext uri="{FF2B5EF4-FFF2-40B4-BE49-F238E27FC236}">
                      <a16:creationId xmlns:a16="http://schemas.microsoft.com/office/drawing/2014/main" id="{F61FD4FF-9790-2232-ECA4-50698120B9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Прямая соединительная линия 16">
                  <a:extLst>
                    <a:ext uri="{FF2B5EF4-FFF2-40B4-BE49-F238E27FC236}">
                      <a16:creationId xmlns:a16="http://schemas.microsoft.com/office/drawing/2014/main" id="{587FCB11-0CD4-62DF-FCD2-9E915456DB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Группа 50">
                <a:extLst>
                  <a:ext uri="{FF2B5EF4-FFF2-40B4-BE49-F238E27FC236}">
                    <a16:creationId xmlns:a16="http://schemas.microsoft.com/office/drawing/2014/main" id="{8B993E92-E586-AE4E-262E-53F46E2EDC33}"/>
                  </a:ext>
                </a:extLst>
              </p:cNvPr>
              <p:cNvGrpSpPr/>
              <p:nvPr/>
            </p:nvGrpSpPr>
            <p:grpSpPr>
              <a:xfrm rot="10800000">
                <a:off x="152400" y="3035177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52" name="Прямая соединительная линия 51">
                  <a:extLst>
                    <a:ext uri="{FF2B5EF4-FFF2-40B4-BE49-F238E27FC236}">
                      <a16:creationId xmlns:a16="http://schemas.microsoft.com/office/drawing/2014/main" id="{450E59C3-8434-5717-7DF1-166383642D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Прямая соединительная линия 52">
                  <a:extLst>
                    <a:ext uri="{FF2B5EF4-FFF2-40B4-BE49-F238E27FC236}">
                      <a16:creationId xmlns:a16="http://schemas.microsoft.com/office/drawing/2014/main" id="{C08D5C84-5B3E-75CC-008C-F71FAB10BE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5" name="Группа 84">
              <a:extLst>
                <a:ext uri="{FF2B5EF4-FFF2-40B4-BE49-F238E27FC236}">
                  <a16:creationId xmlns:a16="http://schemas.microsoft.com/office/drawing/2014/main" id="{5934D410-4DF3-8EA7-F26E-20B6965E6201}"/>
                </a:ext>
              </a:extLst>
            </p:cNvPr>
            <p:cNvGrpSpPr/>
            <p:nvPr/>
          </p:nvGrpSpPr>
          <p:grpSpPr>
            <a:xfrm rot="10800000">
              <a:off x="1757182" y="-1002650"/>
              <a:ext cx="2806248" cy="3224868"/>
              <a:chOff x="1757182" y="-971872"/>
              <a:chExt cx="2806248" cy="3224868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825CF26-1AE5-F24D-5320-C3B312E7A636}"/>
                  </a:ext>
                </a:extLst>
              </p:cNvPr>
              <p:cNvSpPr txBox="1"/>
              <p:nvPr/>
            </p:nvSpPr>
            <p:spPr>
              <a:xfrm rot="10800000">
                <a:off x="1889778" y="-971872"/>
                <a:ext cx="254105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1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Качество данных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89C2FE0-65F3-49A6-6314-09F91D5980AF}"/>
                  </a:ext>
                </a:extLst>
              </p:cNvPr>
              <p:cNvSpPr txBox="1"/>
              <p:nvPr/>
            </p:nvSpPr>
            <p:spPr>
              <a:xfrm>
                <a:off x="1757182" y="1668221"/>
                <a:ext cx="280624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4. Подсчёт частоты слов</a:t>
                </a:r>
              </a:p>
            </p:txBody>
          </p:sp>
        </p:grp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7ABC489-230A-C3EF-C8AF-C982AD205393}"/>
              </a:ext>
            </a:extLst>
          </p:cNvPr>
          <p:cNvSpPr/>
          <p:nvPr/>
        </p:nvSpPr>
        <p:spPr>
          <a:xfrm>
            <a:off x="-246746" y="-220648"/>
            <a:ext cx="12685487" cy="131284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44000">
                <a:schemeClr val="tx2">
                  <a:lumMod val="90000"/>
                  <a:lumOff val="10000"/>
                </a:schemeClr>
              </a:gs>
            </a:gsLst>
            <a:lin ang="126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A65D5-50E0-F3D0-09D1-D50EDDAD35DE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Текстовые данные: анализ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9C849ADB-B20E-9DFA-2C3A-ED5450CA6B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23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8796421-280D-4B94-13F7-9178BA92681F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44533D34-44F8-01FE-35CB-75F1C5C1A7F9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9FCF06DB-6C41-E0AD-770E-A83B75E08C3C}"/>
              </a:ext>
            </a:extLst>
          </p:cNvPr>
          <p:cNvCxnSpPr>
            <a:cxnSpLocks/>
          </p:cNvCxnSpPr>
          <p:nvPr/>
        </p:nvCxnSpPr>
        <p:spPr>
          <a:xfrm flipH="1">
            <a:off x="-495312" y="2705100"/>
            <a:ext cx="13163562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A9799BF1-77D5-20F8-968D-5F5BCF6043EF}"/>
              </a:ext>
            </a:extLst>
          </p:cNvPr>
          <p:cNvGrpSpPr/>
          <p:nvPr/>
        </p:nvGrpSpPr>
        <p:grpSpPr>
          <a:xfrm>
            <a:off x="-495312" y="2705100"/>
            <a:ext cx="13163562" cy="3607987"/>
            <a:chOff x="-495312" y="2705100"/>
            <a:chExt cx="13163562" cy="3607987"/>
          </a:xfrm>
        </p:grpSpPr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64F8E4A2-165C-865E-2ACB-9B497710FAB7}"/>
                </a:ext>
              </a:extLst>
            </p:cNvPr>
            <p:cNvCxnSpPr>
              <a:cxnSpLocks/>
            </p:cNvCxnSpPr>
            <p:nvPr/>
          </p:nvCxnSpPr>
          <p:spPr>
            <a:xfrm>
              <a:off x="1226176" y="2705100"/>
              <a:ext cx="0" cy="343445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D3A4A9DD-9225-6EE2-92B1-73F5D70B01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5312" y="4670426"/>
              <a:ext cx="13163562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6B72961-9142-8B23-91EA-271BF8B808D5}"/>
                </a:ext>
              </a:extLst>
            </p:cNvPr>
            <p:cNvSpPr txBox="1"/>
            <p:nvPr/>
          </p:nvSpPr>
          <p:spPr>
            <a:xfrm rot="3847950">
              <a:off x="-121036" y="3625376"/>
              <a:ext cx="1597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Результаты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37B6EFB-6C8D-5548-9416-51EACA9D09E3}"/>
                </a:ext>
              </a:extLst>
            </p:cNvPr>
            <p:cNvSpPr txBox="1"/>
            <p:nvPr/>
          </p:nvSpPr>
          <p:spPr>
            <a:xfrm rot="3847950">
              <a:off x="-49012" y="5368638"/>
              <a:ext cx="15195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Действия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3207EF1-25E8-1726-EBEF-6916620CE312}"/>
                </a:ext>
              </a:extLst>
            </p:cNvPr>
            <p:cNvSpPr txBox="1"/>
            <p:nvPr/>
          </p:nvSpPr>
          <p:spPr>
            <a:xfrm>
              <a:off x="1396280" y="2738923"/>
              <a:ext cx="3167803" cy="7853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6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2 225 текстов, 5 категорий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6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Пропусков нет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081442E-3DC4-F53B-9ECD-39B401FF4514}"/>
                </a:ext>
              </a:extLst>
            </p:cNvPr>
            <p:cNvSpPr txBox="1"/>
            <p:nvPr/>
          </p:nvSpPr>
          <p:spPr>
            <a:xfrm>
              <a:off x="4564085" y="2743199"/>
              <a:ext cx="3810555" cy="15240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6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Удалено 201 153 из 5 033 391 </a:t>
              </a:r>
              <a:r>
                <a:rPr lang="ru-RU" sz="16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символов (</a:t>
              </a:r>
              <a:r>
                <a:rPr lang="ru-RU" sz="16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4%)</a:t>
              </a:r>
              <a:endParaRPr lang="ru-RU" sz="16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6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Средняя длина: до 2 262 </a:t>
              </a:r>
            </a:p>
            <a:p>
              <a:pPr>
                <a:lnSpc>
                  <a:spcPct val="150000"/>
                </a:lnSpc>
              </a:pPr>
              <a:r>
                <a:rPr lang="ru-RU" sz="16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после 2 172</a:t>
              </a:r>
              <a:endParaRPr lang="ru-RU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6FF90F7-344B-63E9-4734-6BFC51491407}"/>
                </a:ext>
              </a:extLst>
            </p:cNvPr>
            <p:cNvSpPr txBox="1"/>
            <p:nvPr/>
          </p:nvSpPr>
          <p:spPr>
            <a:xfrm>
              <a:off x="8649726" y="2743198"/>
              <a:ext cx="3442447" cy="11546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>
                <a:lnSpc>
                  <a:spcPct val="150000"/>
                </a:lnSpc>
              </a:pPr>
              <a:r>
                <a:rPr lang="ru-RU" sz="16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Изменили форму 86 509 (10.3%) слов</a:t>
              </a:r>
            </a:p>
            <a:p>
              <a:pPr marL="285750">
                <a:lnSpc>
                  <a:spcPct val="150000"/>
                </a:lnSpc>
              </a:pPr>
              <a:r>
                <a:rPr lang="ru-RU" sz="16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«</a:t>
              </a:r>
              <a:r>
                <a:rPr lang="ru-RU" sz="1600" b="0" i="0" dirty="0" err="1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musicians</a:t>
              </a:r>
              <a:r>
                <a:rPr lang="ru-RU" sz="16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» → «</a:t>
              </a:r>
              <a:r>
                <a:rPr lang="ru-RU" sz="1600" b="0" i="0" dirty="0" err="1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musician</a:t>
              </a:r>
              <a:r>
                <a:rPr lang="ru-RU" sz="16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»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20A2A3E-6649-ACA8-4817-A449708AD456}"/>
                </a:ext>
              </a:extLst>
            </p:cNvPr>
            <p:cNvSpPr txBox="1"/>
            <p:nvPr/>
          </p:nvSpPr>
          <p:spPr>
            <a:xfrm>
              <a:off x="1406586" y="4788442"/>
              <a:ext cx="3088211" cy="375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Данные загружены без ошибок</a:t>
              </a:r>
              <a:endPara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5D412B7-CB70-3C9D-C3D6-88CF9463A2EB}"/>
                </a:ext>
              </a:extLst>
            </p:cNvPr>
            <p:cNvSpPr txBox="1"/>
            <p:nvPr/>
          </p:nvSpPr>
          <p:spPr>
            <a:xfrm>
              <a:off x="4564089" y="4731523"/>
              <a:ext cx="4168573" cy="6987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Символы приведены к нижнему регистру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Удалены цифры, знаки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81CA319-9B1C-A50D-AB5E-2BC47D135821}"/>
                </a:ext>
              </a:extLst>
            </p:cNvPr>
            <p:cNvSpPr txBox="1"/>
            <p:nvPr/>
          </p:nvSpPr>
          <p:spPr>
            <a:xfrm>
              <a:off x="8947738" y="4731523"/>
              <a:ext cx="2989310" cy="6987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Слова приведены к словарной форме</a:t>
              </a:r>
            </a:p>
          </p:txBody>
        </p:sp>
      </p:grp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D375C311-27BC-2515-976A-9C12A9D23F0B}"/>
              </a:ext>
            </a:extLst>
          </p:cNvPr>
          <p:cNvGrpSpPr/>
          <p:nvPr/>
        </p:nvGrpSpPr>
        <p:grpSpPr>
          <a:xfrm>
            <a:off x="-13320841" y="2705100"/>
            <a:ext cx="13163562" cy="3607987"/>
            <a:chOff x="12275671" y="2705100"/>
            <a:chExt cx="13163562" cy="3607987"/>
          </a:xfrm>
        </p:grpSpPr>
        <p:cxnSp>
          <p:nvCxnSpPr>
            <p:cNvPr id="111" name="Прямая соединительная линия 110">
              <a:extLst>
                <a:ext uri="{FF2B5EF4-FFF2-40B4-BE49-F238E27FC236}">
                  <a16:creationId xmlns:a16="http://schemas.microsoft.com/office/drawing/2014/main" id="{3DAE2AA7-D6FB-225E-B6F5-FC6A68D4DD69}"/>
                </a:ext>
              </a:extLst>
            </p:cNvPr>
            <p:cNvCxnSpPr>
              <a:cxnSpLocks/>
            </p:cNvCxnSpPr>
            <p:nvPr/>
          </p:nvCxnSpPr>
          <p:spPr>
            <a:xfrm>
              <a:off x="13997159" y="2705100"/>
              <a:ext cx="0" cy="343445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Группа 120">
              <a:extLst>
                <a:ext uri="{FF2B5EF4-FFF2-40B4-BE49-F238E27FC236}">
                  <a16:creationId xmlns:a16="http://schemas.microsoft.com/office/drawing/2014/main" id="{D2A87D9A-4E67-094A-8257-440F9EC3AAAA}"/>
                </a:ext>
              </a:extLst>
            </p:cNvPr>
            <p:cNvGrpSpPr/>
            <p:nvPr/>
          </p:nvGrpSpPr>
          <p:grpSpPr>
            <a:xfrm>
              <a:off x="12275671" y="2705100"/>
              <a:ext cx="13163562" cy="3607987"/>
              <a:chOff x="12275671" y="2705100"/>
              <a:chExt cx="13163562" cy="3607987"/>
            </a:xfrm>
          </p:grpSpPr>
          <p:cxnSp>
            <p:nvCxnSpPr>
              <p:cNvPr id="112" name="Прямая соединительная линия 111">
                <a:extLst>
                  <a:ext uri="{FF2B5EF4-FFF2-40B4-BE49-F238E27FC236}">
                    <a16:creationId xmlns:a16="http://schemas.microsoft.com/office/drawing/2014/main" id="{2554927A-FA57-521C-DC0A-71CBF1F332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275671" y="4670426"/>
                <a:ext cx="13163562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4E6DB5F4-3C6B-C51A-DABE-5FB3E3D7DDC0}"/>
                  </a:ext>
                </a:extLst>
              </p:cNvPr>
              <p:cNvSpPr txBox="1"/>
              <p:nvPr/>
            </p:nvSpPr>
            <p:spPr>
              <a:xfrm rot="3847950">
                <a:off x="12649947" y="3625376"/>
                <a:ext cx="1597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Результаты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9735DFB-F3BF-FEB2-0984-033175FDFCAB}"/>
                  </a:ext>
                </a:extLst>
              </p:cNvPr>
              <p:cNvSpPr txBox="1"/>
              <p:nvPr/>
            </p:nvSpPr>
            <p:spPr>
              <a:xfrm rot="3847950">
                <a:off x="12721971" y="5368638"/>
                <a:ext cx="15195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Действия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431E2A9A-D406-ED65-DECA-48B7805394C1}"/>
                  </a:ext>
                </a:extLst>
              </p:cNvPr>
              <p:cNvSpPr txBox="1"/>
              <p:nvPr/>
            </p:nvSpPr>
            <p:spPr>
              <a:xfrm>
                <a:off x="14074343" y="2743199"/>
                <a:ext cx="3863630" cy="1668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Популярные слова: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en-US" sz="1400" dirty="0" err="1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До</a:t>
                </a: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очистки</a:t>
                </a: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the, to, a, of, and (</a:t>
                </a:r>
                <a:r>
                  <a:rPr lang="en-US" sz="1400" dirty="0" err="1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служебные</a:t>
                </a: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en-US" sz="1400" dirty="0" err="1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После</a:t>
                </a: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очистки </a:t>
                </a:r>
                <a:r>
                  <a:rPr lang="en-US" sz="1400" dirty="0" err="1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стоп-слов</a:t>
                </a: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said, year, people, game</a:t>
                </a:r>
                <a:endParaRPr lang="ru-RU" sz="14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61D82936-29EC-B5DF-8BD9-E30C1BD556C0}"/>
                  </a:ext>
                </a:extLst>
              </p:cNvPr>
              <p:cNvSpPr txBox="1"/>
              <p:nvPr/>
            </p:nvSpPr>
            <p:spPr>
              <a:xfrm>
                <a:off x="18012063" y="2739324"/>
                <a:ext cx="3190587" cy="1021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Удалено 41.6% слов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Среднее: 321 → 187 слов на текст</a:t>
                </a:r>
                <a:endParaRPr lang="ru-RU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EFC1B876-EB2D-2583-B1A3-6D64743C8733}"/>
                  </a:ext>
                </a:extLst>
              </p:cNvPr>
              <p:cNvSpPr txBox="1"/>
              <p:nvPr/>
            </p:nvSpPr>
            <p:spPr>
              <a:xfrm>
                <a:off x="21647279" y="2705100"/>
                <a:ext cx="3088304" cy="1021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440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Словарь: 27 687 слов</a:t>
                </a:r>
              </a:p>
              <a:p>
                <a:pPr indent="-28440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Топ: </a:t>
                </a:r>
                <a:r>
                  <a:rPr lang="ru-RU" sz="1400" b="0" i="0" dirty="0" err="1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said</a:t>
                </a: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(86.47), </a:t>
                </a:r>
                <a:r>
                  <a:rPr lang="ru-RU" sz="1400" b="0" i="0" dirty="0" err="1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game</a:t>
                </a: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(37.55), </a:t>
                </a:r>
                <a:r>
                  <a:rPr lang="ru-RU" sz="1400" b="0" i="0" dirty="0" err="1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film</a:t>
                </a: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(37.06)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A6D2FD36-7B09-1B2B-5CF7-EAD754E7B907}"/>
                  </a:ext>
                </a:extLst>
              </p:cNvPr>
              <p:cNvSpPr txBox="1"/>
              <p:nvPr/>
            </p:nvSpPr>
            <p:spPr>
              <a:xfrm>
                <a:off x="14106584" y="4735799"/>
                <a:ext cx="3735376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Построен график и облако слов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04B270AF-267D-FB98-A58A-2A150B933758}"/>
                  </a:ext>
                </a:extLst>
              </p:cNvPr>
              <p:cNvSpPr txBox="1"/>
              <p:nvPr/>
            </p:nvSpPr>
            <p:spPr>
              <a:xfrm>
                <a:off x="18012063" y="4788442"/>
                <a:ext cx="3263387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Убраны</a:t>
                </a: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the, a, is, at, which и </a:t>
                </a:r>
                <a:r>
                  <a:rPr lang="en-US" sz="1400" dirty="0" err="1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др</a:t>
                </a: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DA228BCD-4139-5EFB-E044-B22199351C76}"/>
                  </a:ext>
                </a:extLst>
              </p:cNvPr>
              <p:cNvSpPr txBox="1"/>
              <p:nvPr/>
            </p:nvSpPr>
            <p:spPr>
              <a:xfrm>
                <a:off x="21647278" y="4696367"/>
                <a:ext cx="2989310" cy="698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Выделены ключевые слова по темам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71502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0E615-8AEF-4967-7216-9593E7FE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0D9FDAE-266D-6A14-7CC1-3FF612FE21E6}"/>
              </a:ext>
            </a:extLst>
          </p:cNvPr>
          <p:cNvSpPr/>
          <p:nvPr/>
        </p:nvSpPr>
        <p:spPr>
          <a:xfrm>
            <a:off x="-227696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32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3CDF9039-A1C3-575E-91A7-051925CCF9AD}"/>
              </a:ext>
            </a:extLst>
          </p:cNvPr>
          <p:cNvGrpSpPr/>
          <p:nvPr/>
        </p:nvGrpSpPr>
        <p:grpSpPr>
          <a:xfrm rot="10800000">
            <a:off x="8379802" y="-1343198"/>
            <a:ext cx="4125183" cy="3903766"/>
            <a:chOff x="8597992" y="-1343198"/>
            <a:chExt cx="4125183" cy="3903766"/>
          </a:xfrm>
        </p:grpSpPr>
        <p:grpSp>
          <p:nvGrpSpPr>
            <p:cNvPr id="95" name="Группа 94">
              <a:extLst>
                <a:ext uri="{FF2B5EF4-FFF2-40B4-BE49-F238E27FC236}">
                  <a16:creationId xmlns:a16="http://schemas.microsoft.com/office/drawing/2014/main" id="{3B3C5A29-2932-F38A-B53C-A8B9BEAAC804}"/>
                </a:ext>
              </a:extLst>
            </p:cNvPr>
            <p:cNvGrpSpPr/>
            <p:nvPr/>
          </p:nvGrpSpPr>
          <p:grpSpPr>
            <a:xfrm>
              <a:off x="8670670" y="-1343198"/>
              <a:ext cx="3903766" cy="3903766"/>
              <a:chOff x="8746731" y="-1343198"/>
              <a:chExt cx="3903766" cy="3903766"/>
            </a:xfrm>
          </p:grpSpPr>
          <p:grpSp>
            <p:nvGrpSpPr>
              <p:cNvPr id="63" name="Группа 62">
                <a:extLst>
                  <a:ext uri="{FF2B5EF4-FFF2-40B4-BE49-F238E27FC236}">
                    <a16:creationId xmlns:a16="http://schemas.microsoft.com/office/drawing/2014/main" id="{D7E4C628-7521-1E67-F940-09569E937254}"/>
                  </a:ext>
                </a:extLst>
              </p:cNvPr>
              <p:cNvGrpSpPr/>
              <p:nvPr/>
            </p:nvGrpSpPr>
            <p:grpSpPr>
              <a:xfrm>
                <a:off x="8746731" y="-1343198"/>
                <a:ext cx="3903766" cy="3903766"/>
                <a:chOff x="152400" y="1057655"/>
                <a:chExt cx="3903766" cy="3903766"/>
              </a:xfrm>
            </p:grpSpPr>
            <p:sp>
              <p:nvSpPr>
                <p:cNvPr id="64" name="Полилиния: фигура 63">
                  <a:extLst>
                    <a:ext uri="{FF2B5EF4-FFF2-40B4-BE49-F238E27FC236}">
                      <a16:creationId xmlns:a16="http://schemas.microsoft.com/office/drawing/2014/main" id="{D6FD29DF-1AB8-C211-6B9A-BA633EDE8AFA}"/>
                    </a:ext>
                  </a:extLst>
                </p:cNvPr>
                <p:cNvSpPr/>
                <p:nvPr/>
              </p:nvSpPr>
              <p:spPr>
                <a:xfrm>
                  <a:off x="152400" y="1057655"/>
                  <a:ext cx="3903766" cy="3903766"/>
                </a:xfrm>
                <a:custGeom>
                  <a:avLst/>
                  <a:gdLst>
                    <a:gd name="csX0" fmla="*/ 2492829 w 4985658"/>
                    <a:gd name="csY0" fmla="*/ 1240972 h 4985658"/>
                    <a:gd name="csX1" fmla="*/ 1240972 w 4985658"/>
                    <a:gd name="csY1" fmla="*/ 2492829 h 4985658"/>
                    <a:gd name="csX2" fmla="*/ 2492829 w 4985658"/>
                    <a:gd name="csY2" fmla="*/ 3744686 h 4985658"/>
                    <a:gd name="csX3" fmla="*/ 3744686 w 4985658"/>
                    <a:gd name="csY3" fmla="*/ 2492829 h 4985658"/>
                    <a:gd name="csX4" fmla="*/ 2492829 w 4985658"/>
                    <a:gd name="csY4" fmla="*/ 1240972 h 4985658"/>
                    <a:gd name="csX5" fmla="*/ 2492829 w 4985658"/>
                    <a:gd name="csY5" fmla="*/ 0 h 4985658"/>
                    <a:gd name="csX6" fmla="*/ 4985658 w 4985658"/>
                    <a:gd name="csY6" fmla="*/ 2492829 h 4985658"/>
                    <a:gd name="csX7" fmla="*/ 2492829 w 4985658"/>
                    <a:gd name="csY7" fmla="*/ 4985658 h 4985658"/>
                    <a:gd name="csX8" fmla="*/ 0 w 4985658"/>
                    <a:gd name="csY8" fmla="*/ 2492829 h 4985658"/>
                    <a:gd name="csX9" fmla="*/ 2492829 w 4985658"/>
                    <a:gd name="csY9" fmla="*/ 0 h 4985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4985658" h="4985658">
                      <a:moveTo>
                        <a:pt x="2492829" y="1240972"/>
                      </a:moveTo>
                      <a:cubicBezTo>
                        <a:pt x="1801447" y="1240972"/>
                        <a:pt x="1240972" y="1801447"/>
                        <a:pt x="1240972" y="2492829"/>
                      </a:cubicBezTo>
                      <a:cubicBezTo>
                        <a:pt x="1240972" y="3184211"/>
                        <a:pt x="1801447" y="3744686"/>
                        <a:pt x="2492829" y="3744686"/>
                      </a:cubicBezTo>
                      <a:cubicBezTo>
                        <a:pt x="3184211" y="3744686"/>
                        <a:pt x="3744686" y="3184211"/>
                        <a:pt x="3744686" y="2492829"/>
                      </a:cubicBezTo>
                      <a:cubicBezTo>
                        <a:pt x="3744686" y="1801447"/>
                        <a:pt x="3184211" y="1240972"/>
                        <a:pt x="2492829" y="1240972"/>
                      </a:cubicBezTo>
                      <a:close/>
                      <a:moveTo>
                        <a:pt x="2492829" y="0"/>
                      </a:moveTo>
                      <a:cubicBezTo>
                        <a:pt x="3869580" y="0"/>
                        <a:pt x="4985658" y="1116078"/>
                        <a:pt x="4985658" y="2492829"/>
                      </a:cubicBezTo>
                      <a:cubicBezTo>
                        <a:pt x="4985658" y="3869580"/>
                        <a:pt x="3869580" y="4985658"/>
                        <a:pt x="2492829" y="4985658"/>
                      </a:cubicBezTo>
                      <a:cubicBezTo>
                        <a:pt x="1116078" y="4985658"/>
                        <a:pt x="0" y="3869580"/>
                        <a:pt x="0" y="2492829"/>
                      </a:cubicBezTo>
                      <a:cubicBezTo>
                        <a:pt x="0" y="1116078"/>
                        <a:pt x="1116078" y="0"/>
                        <a:pt x="2492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75000">
                      <a:srgbClr val="122639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44000">
                      <a:schemeClr val="tx2">
                        <a:lumMod val="90000"/>
                        <a:lumOff val="10000"/>
                      </a:schemeClr>
                    </a:gs>
                  </a:gsLst>
                  <a:lin ang="12600000" scaled="0"/>
                </a:gra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ru-RU" dirty="0"/>
                </a:p>
              </p:txBody>
            </p:sp>
            <p:grpSp>
              <p:nvGrpSpPr>
                <p:cNvPr id="65" name="Группа 64">
                  <a:extLst>
                    <a:ext uri="{FF2B5EF4-FFF2-40B4-BE49-F238E27FC236}">
                      <a16:creationId xmlns:a16="http://schemas.microsoft.com/office/drawing/2014/main" id="{87DC7018-EF3C-18DC-C6D8-8D12E58A6E53}"/>
                    </a:ext>
                  </a:extLst>
                </p:cNvPr>
                <p:cNvGrpSpPr/>
                <p:nvPr/>
              </p:nvGrpSpPr>
              <p:grpSpPr>
                <a:xfrm>
                  <a:off x="3084486" y="2719153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9" name="Прямая соединительная линия 68">
                    <a:extLst>
                      <a:ext uri="{FF2B5EF4-FFF2-40B4-BE49-F238E27FC236}">
                        <a16:creationId xmlns:a16="http://schemas.microsoft.com/office/drawing/2014/main" id="{91128877-2BF9-2961-BAF4-82F7709868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Прямая соединительная линия 69">
                    <a:extLst>
                      <a:ext uri="{FF2B5EF4-FFF2-40B4-BE49-F238E27FC236}">
                        <a16:creationId xmlns:a16="http://schemas.microsoft.com/office/drawing/2014/main" id="{427BA4A6-F432-E893-8FE4-9AECE2E241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6" name="Группа 65">
                  <a:extLst>
                    <a:ext uri="{FF2B5EF4-FFF2-40B4-BE49-F238E27FC236}">
                      <a16:creationId xmlns:a16="http://schemas.microsoft.com/office/drawing/2014/main" id="{25857B32-A4EA-D16D-4631-E8C02FA60451}"/>
                    </a:ext>
                  </a:extLst>
                </p:cNvPr>
                <p:cNvGrpSpPr/>
                <p:nvPr/>
              </p:nvGrpSpPr>
              <p:grpSpPr>
                <a:xfrm rot="10800000">
                  <a:off x="152400" y="3035177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7" name="Прямая соединительная линия 66">
                    <a:extLst>
                      <a:ext uri="{FF2B5EF4-FFF2-40B4-BE49-F238E27FC236}">
                        <a16:creationId xmlns:a16="http://schemas.microsoft.com/office/drawing/2014/main" id="{828AE30B-E205-9D66-3038-A6ADDF68DA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Прямая соединительная линия 67">
                    <a:extLst>
                      <a:ext uri="{FF2B5EF4-FFF2-40B4-BE49-F238E27FC236}">
                        <a16:creationId xmlns:a16="http://schemas.microsoft.com/office/drawing/2014/main" id="{03713B37-3725-2553-5B29-5CFCA1B660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89FC8FD5-959C-93EB-13CD-1224AB44D6B3}"/>
                  </a:ext>
                </a:extLst>
              </p:cNvPr>
              <p:cNvSpPr txBox="1"/>
              <p:nvPr/>
            </p:nvSpPr>
            <p:spPr>
              <a:xfrm>
                <a:off x="9256187" y="1628588"/>
                <a:ext cx="296091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3. 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Лемматизация</a:t>
                </a:r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60822C1-E036-6CA5-3DAB-8E32F6752001}"/>
                </a:ext>
              </a:extLst>
            </p:cNvPr>
            <p:cNvSpPr txBox="1"/>
            <p:nvPr/>
          </p:nvSpPr>
          <p:spPr>
            <a:xfrm rot="10800000">
              <a:off x="8597992" y="-1050811"/>
              <a:ext cx="412518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Шаг 6. Вычисление </a:t>
              </a:r>
            </a:p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TF-IDF</a:t>
              </a:r>
              <a:endPara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CD67A0C6-304C-6A90-1AC4-8AD403627269}"/>
              </a:ext>
            </a:extLst>
          </p:cNvPr>
          <p:cNvGrpSpPr/>
          <p:nvPr/>
        </p:nvGrpSpPr>
        <p:grpSpPr>
          <a:xfrm rot="10800000">
            <a:off x="4809846" y="-1343198"/>
            <a:ext cx="3922816" cy="3903766"/>
            <a:chOff x="5028036" y="-1343198"/>
            <a:chExt cx="3922816" cy="3903766"/>
          </a:xfrm>
        </p:grpSpPr>
        <p:grpSp>
          <p:nvGrpSpPr>
            <p:cNvPr id="89" name="Группа 88">
              <a:extLst>
                <a:ext uri="{FF2B5EF4-FFF2-40B4-BE49-F238E27FC236}">
                  <a16:creationId xmlns:a16="http://schemas.microsoft.com/office/drawing/2014/main" id="{935B4012-A931-BD33-6CA8-6296E94F5887}"/>
                </a:ext>
              </a:extLst>
            </p:cNvPr>
            <p:cNvGrpSpPr/>
            <p:nvPr/>
          </p:nvGrpSpPr>
          <p:grpSpPr>
            <a:xfrm>
              <a:off x="5047086" y="-1343198"/>
              <a:ext cx="3903766" cy="3903766"/>
              <a:chOff x="5013346" y="-1343198"/>
              <a:chExt cx="3903766" cy="3903766"/>
            </a:xfrm>
          </p:grpSpPr>
          <p:grpSp>
            <p:nvGrpSpPr>
              <p:cNvPr id="55" name="Группа 54">
                <a:extLst>
                  <a:ext uri="{FF2B5EF4-FFF2-40B4-BE49-F238E27FC236}">
                    <a16:creationId xmlns:a16="http://schemas.microsoft.com/office/drawing/2014/main" id="{77D9E8C4-A0DF-AF2B-2BC9-12C68BC75BA6}"/>
                  </a:ext>
                </a:extLst>
              </p:cNvPr>
              <p:cNvGrpSpPr/>
              <p:nvPr/>
            </p:nvGrpSpPr>
            <p:grpSpPr>
              <a:xfrm>
                <a:off x="5013346" y="-1343198"/>
                <a:ext cx="3903766" cy="3903766"/>
                <a:chOff x="152400" y="1057655"/>
                <a:chExt cx="3903766" cy="3903766"/>
              </a:xfrm>
            </p:grpSpPr>
            <p:sp>
              <p:nvSpPr>
                <p:cNvPr id="56" name="Полилиния: фигура 55">
                  <a:extLst>
                    <a:ext uri="{FF2B5EF4-FFF2-40B4-BE49-F238E27FC236}">
                      <a16:creationId xmlns:a16="http://schemas.microsoft.com/office/drawing/2014/main" id="{778CFB7E-76E0-A323-A09C-A0A3CDE97118}"/>
                    </a:ext>
                  </a:extLst>
                </p:cNvPr>
                <p:cNvSpPr/>
                <p:nvPr/>
              </p:nvSpPr>
              <p:spPr>
                <a:xfrm>
                  <a:off x="152400" y="1057655"/>
                  <a:ext cx="3903766" cy="3903766"/>
                </a:xfrm>
                <a:custGeom>
                  <a:avLst/>
                  <a:gdLst>
                    <a:gd name="csX0" fmla="*/ 2492829 w 4985658"/>
                    <a:gd name="csY0" fmla="*/ 1240972 h 4985658"/>
                    <a:gd name="csX1" fmla="*/ 1240972 w 4985658"/>
                    <a:gd name="csY1" fmla="*/ 2492829 h 4985658"/>
                    <a:gd name="csX2" fmla="*/ 2492829 w 4985658"/>
                    <a:gd name="csY2" fmla="*/ 3744686 h 4985658"/>
                    <a:gd name="csX3" fmla="*/ 3744686 w 4985658"/>
                    <a:gd name="csY3" fmla="*/ 2492829 h 4985658"/>
                    <a:gd name="csX4" fmla="*/ 2492829 w 4985658"/>
                    <a:gd name="csY4" fmla="*/ 1240972 h 4985658"/>
                    <a:gd name="csX5" fmla="*/ 2492829 w 4985658"/>
                    <a:gd name="csY5" fmla="*/ 0 h 4985658"/>
                    <a:gd name="csX6" fmla="*/ 4985658 w 4985658"/>
                    <a:gd name="csY6" fmla="*/ 2492829 h 4985658"/>
                    <a:gd name="csX7" fmla="*/ 2492829 w 4985658"/>
                    <a:gd name="csY7" fmla="*/ 4985658 h 4985658"/>
                    <a:gd name="csX8" fmla="*/ 0 w 4985658"/>
                    <a:gd name="csY8" fmla="*/ 2492829 h 4985658"/>
                    <a:gd name="csX9" fmla="*/ 2492829 w 4985658"/>
                    <a:gd name="csY9" fmla="*/ 0 h 4985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4985658" h="4985658">
                      <a:moveTo>
                        <a:pt x="2492829" y="1240972"/>
                      </a:moveTo>
                      <a:cubicBezTo>
                        <a:pt x="1801447" y="1240972"/>
                        <a:pt x="1240972" y="1801447"/>
                        <a:pt x="1240972" y="2492829"/>
                      </a:cubicBezTo>
                      <a:cubicBezTo>
                        <a:pt x="1240972" y="3184211"/>
                        <a:pt x="1801447" y="3744686"/>
                        <a:pt x="2492829" y="3744686"/>
                      </a:cubicBezTo>
                      <a:cubicBezTo>
                        <a:pt x="3184211" y="3744686"/>
                        <a:pt x="3744686" y="3184211"/>
                        <a:pt x="3744686" y="2492829"/>
                      </a:cubicBezTo>
                      <a:cubicBezTo>
                        <a:pt x="3744686" y="1801447"/>
                        <a:pt x="3184211" y="1240972"/>
                        <a:pt x="2492829" y="1240972"/>
                      </a:cubicBezTo>
                      <a:close/>
                      <a:moveTo>
                        <a:pt x="2492829" y="0"/>
                      </a:moveTo>
                      <a:cubicBezTo>
                        <a:pt x="3869580" y="0"/>
                        <a:pt x="4985658" y="1116078"/>
                        <a:pt x="4985658" y="2492829"/>
                      </a:cubicBezTo>
                      <a:cubicBezTo>
                        <a:pt x="4985658" y="3869580"/>
                        <a:pt x="3869580" y="4985658"/>
                        <a:pt x="2492829" y="4985658"/>
                      </a:cubicBezTo>
                      <a:cubicBezTo>
                        <a:pt x="1116078" y="4985658"/>
                        <a:pt x="0" y="3869580"/>
                        <a:pt x="0" y="2492829"/>
                      </a:cubicBezTo>
                      <a:cubicBezTo>
                        <a:pt x="0" y="1116078"/>
                        <a:pt x="1116078" y="0"/>
                        <a:pt x="2492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75000">
                      <a:srgbClr val="122639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44000">
                      <a:schemeClr val="tx2">
                        <a:lumMod val="90000"/>
                        <a:lumOff val="10000"/>
                      </a:schemeClr>
                    </a:gs>
                  </a:gsLst>
                  <a:lin ang="12600000" scaled="0"/>
                </a:gra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ru-RU" dirty="0"/>
                </a:p>
              </p:txBody>
            </p:sp>
            <p:grpSp>
              <p:nvGrpSpPr>
                <p:cNvPr id="57" name="Группа 56">
                  <a:extLst>
                    <a:ext uri="{FF2B5EF4-FFF2-40B4-BE49-F238E27FC236}">
                      <a16:creationId xmlns:a16="http://schemas.microsoft.com/office/drawing/2014/main" id="{4AAA2813-9A1E-93EF-9888-735A5963F66E}"/>
                    </a:ext>
                  </a:extLst>
                </p:cNvPr>
                <p:cNvGrpSpPr/>
                <p:nvPr/>
              </p:nvGrpSpPr>
              <p:grpSpPr>
                <a:xfrm>
                  <a:off x="3084486" y="2719153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61" name="Прямая соединительная линия 60">
                    <a:extLst>
                      <a:ext uri="{FF2B5EF4-FFF2-40B4-BE49-F238E27FC236}">
                        <a16:creationId xmlns:a16="http://schemas.microsoft.com/office/drawing/2014/main" id="{477DD0A5-0D83-5F50-4152-9656B9FACA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Прямая соединительная линия 61">
                    <a:extLst>
                      <a:ext uri="{FF2B5EF4-FFF2-40B4-BE49-F238E27FC236}">
                        <a16:creationId xmlns:a16="http://schemas.microsoft.com/office/drawing/2014/main" id="{E4880444-761A-B107-EA8D-48DB5B7A35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" name="Группа 57">
                  <a:extLst>
                    <a:ext uri="{FF2B5EF4-FFF2-40B4-BE49-F238E27FC236}">
                      <a16:creationId xmlns:a16="http://schemas.microsoft.com/office/drawing/2014/main" id="{72B28432-C362-A54A-E574-6C02F93D4803}"/>
                    </a:ext>
                  </a:extLst>
                </p:cNvPr>
                <p:cNvGrpSpPr/>
                <p:nvPr/>
              </p:nvGrpSpPr>
              <p:grpSpPr>
                <a:xfrm rot="10800000">
                  <a:off x="152400" y="3035177"/>
                  <a:ext cx="971680" cy="316024"/>
                  <a:chOff x="4387850" y="3027845"/>
                  <a:chExt cx="971680" cy="316024"/>
                </a:xfrm>
              </p:grpSpPr>
              <p:cxnSp>
                <p:nvCxnSpPr>
                  <p:cNvPr id="59" name="Прямая соединительная линия 58">
                    <a:extLst>
                      <a:ext uri="{FF2B5EF4-FFF2-40B4-BE49-F238E27FC236}">
                        <a16:creationId xmlns:a16="http://schemas.microsoft.com/office/drawing/2014/main" id="{E74D2AE1-95BC-DC64-569F-E295E6625D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87850" y="3027845"/>
                    <a:ext cx="481039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Прямая соединительная линия 59">
                    <a:extLst>
                      <a:ext uri="{FF2B5EF4-FFF2-40B4-BE49-F238E27FC236}">
                        <a16:creationId xmlns:a16="http://schemas.microsoft.com/office/drawing/2014/main" id="{9A068DDF-B481-DBAD-68AC-A897B62113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868889" y="3027845"/>
                    <a:ext cx="490641" cy="31602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8EAB815-BEEB-4942-0043-18D4DEC65430}"/>
                  </a:ext>
                </a:extLst>
              </p:cNvPr>
              <p:cNvSpPr txBox="1"/>
              <p:nvPr/>
            </p:nvSpPr>
            <p:spPr>
              <a:xfrm>
                <a:off x="5013346" y="1623950"/>
                <a:ext cx="390376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2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Очистка текста</a:t>
                </a: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E141F4C-7E5C-926F-F801-29EC7A98F4A0}"/>
                </a:ext>
              </a:extLst>
            </p:cNvPr>
            <p:cNvSpPr txBox="1"/>
            <p:nvPr/>
          </p:nvSpPr>
          <p:spPr>
            <a:xfrm rot="10800000">
              <a:off x="5028036" y="-1025829"/>
              <a:ext cx="390376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Шаг 5. Удаление </a:t>
              </a:r>
            </a:p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стоп-слов</a:t>
              </a:r>
            </a:p>
          </p:txBody>
        </p:sp>
      </p:grp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19686166-E702-478A-F735-E373FE4D4675}"/>
              </a:ext>
            </a:extLst>
          </p:cNvPr>
          <p:cNvGrpSpPr/>
          <p:nvPr/>
        </p:nvGrpSpPr>
        <p:grpSpPr>
          <a:xfrm rot="10800000">
            <a:off x="1150960" y="-1343198"/>
            <a:ext cx="3903766" cy="3903766"/>
            <a:chOff x="1208423" y="-1343198"/>
            <a:chExt cx="3903766" cy="3903766"/>
          </a:xfrm>
        </p:grpSpPr>
        <p:grpSp>
          <p:nvGrpSpPr>
            <p:cNvPr id="54" name="Группа 53">
              <a:extLst>
                <a:ext uri="{FF2B5EF4-FFF2-40B4-BE49-F238E27FC236}">
                  <a16:creationId xmlns:a16="http://schemas.microsoft.com/office/drawing/2014/main" id="{5C60830B-3511-C143-43F0-F169155458B8}"/>
                </a:ext>
              </a:extLst>
            </p:cNvPr>
            <p:cNvGrpSpPr/>
            <p:nvPr/>
          </p:nvGrpSpPr>
          <p:grpSpPr>
            <a:xfrm>
              <a:off x="1208423" y="-1343198"/>
              <a:ext cx="3903766" cy="3903766"/>
              <a:chOff x="152400" y="1057655"/>
              <a:chExt cx="3903766" cy="3903766"/>
            </a:xfrm>
          </p:grpSpPr>
          <p:sp>
            <p:nvSpPr>
              <p:cNvPr id="9" name="Полилиния: фигура 8">
                <a:extLst>
                  <a:ext uri="{FF2B5EF4-FFF2-40B4-BE49-F238E27FC236}">
                    <a16:creationId xmlns:a16="http://schemas.microsoft.com/office/drawing/2014/main" id="{16A0033A-4168-A3EC-A804-B5AC48D56616}"/>
                  </a:ext>
                </a:extLst>
              </p:cNvPr>
              <p:cNvSpPr/>
              <p:nvPr/>
            </p:nvSpPr>
            <p:spPr>
              <a:xfrm>
                <a:off x="152400" y="1057655"/>
                <a:ext cx="3903766" cy="3903766"/>
              </a:xfrm>
              <a:custGeom>
                <a:avLst/>
                <a:gdLst>
                  <a:gd name="csX0" fmla="*/ 2492829 w 4985658"/>
                  <a:gd name="csY0" fmla="*/ 1240972 h 4985658"/>
                  <a:gd name="csX1" fmla="*/ 1240972 w 4985658"/>
                  <a:gd name="csY1" fmla="*/ 2492829 h 4985658"/>
                  <a:gd name="csX2" fmla="*/ 2492829 w 4985658"/>
                  <a:gd name="csY2" fmla="*/ 3744686 h 4985658"/>
                  <a:gd name="csX3" fmla="*/ 3744686 w 4985658"/>
                  <a:gd name="csY3" fmla="*/ 2492829 h 4985658"/>
                  <a:gd name="csX4" fmla="*/ 2492829 w 4985658"/>
                  <a:gd name="csY4" fmla="*/ 1240972 h 4985658"/>
                  <a:gd name="csX5" fmla="*/ 2492829 w 4985658"/>
                  <a:gd name="csY5" fmla="*/ 0 h 4985658"/>
                  <a:gd name="csX6" fmla="*/ 4985658 w 4985658"/>
                  <a:gd name="csY6" fmla="*/ 2492829 h 4985658"/>
                  <a:gd name="csX7" fmla="*/ 2492829 w 4985658"/>
                  <a:gd name="csY7" fmla="*/ 4985658 h 4985658"/>
                  <a:gd name="csX8" fmla="*/ 0 w 4985658"/>
                  <a:gd name="csY8" fmla="*/ 2492829 h 4985658"/>
                  <a:gd name="csX9" fmla="*/ 2492829 w 4985658"/>
                  <a:gd name="csY9" fmla="*/ 0 h 4985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4985658" h="4985658">
                    <a:moveTo>
                      <a:pt x="2492829" y="1240972"/>
                    </a:moveTo>
                    <a:cubicBezTo>
                      <a:pt x="1801447" y="1240972"/>
                      <a:pt x="1240972" y="1801447"/>
                      <a:pt x="1240972" y="2492829"/>
                    </a:cubicBezTo>
                    <a:cubicBezTo>
                      <a:pt x="1240972" y="3184211"/>
                      <a:pt x="1801447" y="3744686"/>
                      <a:pt x="2492829" y="3744686"/>
                    </a:cubicBezTo>
                    <a:cubicBezTo>
                      <a:pt x="3184211" y="3744686"/>
                      <a:pt x="3744686" y="3184211"/>
                      <a:pt x="3744686" y="2492829"/>
                    </a:cubicBezTo>
                    <a:cubicBezTo>
                      <a:pt x="3744686" y="1801447"/>
                      <a:pt x="3184211" y="1240972"/>
                      <a:pt x="2492829" y="1240972"/>
                    </a:cubicBezTo>
                    <a:close/>
                    <a:moveTo>
                      <a:pt x="2492829" y="0"/>
                    </a:moveTo>
                    <a:cubicBezTo>
                      <a:pt x="3869580" y="0"/>
                      <a:pt x="4985658" y="1116078"/>
                      <a:pt x="4985658" y="2492829"/>
                    </a:cubicBezTo>
                    <a:cubicBezTo>
                      <a:pt x="4985658" y="3869580"/>
                      <a:pt x="3869580" y="4985658"/>
                      <a:pt x="2492829" y="4985658"/>
                    </a:cubicBezTo>
                    <a:cubicBezTo>
                      <a:pt x="1116078" y="4985658"/>
                      <a:pt x="0" y="3869580"/>
                      <a:pt x="0" y="2492829"/>
                    </a:cubicBezTo>
                    <a:cubicBezTo>
                      <a:pt x="0" y="1116078"/>
                      <a:pt x="1116078" y="0"/>
                      <a:pt x="24928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75000">
                    <a:srgbClr val="122639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  <a:gs pos="44000">
                    <a:schemeClr val="tx2">
                      <a:lumMod val="90000"/>
                      <a:lumOff val="10000"/>
                    </a:schemeClr>
                  </a:gs>
                </a:gsLst>
                <a:lin ang="12600000" scaled="0"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 dirty="0"/>
              </a:p>
            </p:txBody>
          </p:sp>
          <p:grpSp>
            <p:nvGrpSpPr>
              <p:cNvPr id="50" name="Группа 49">
                <a:extLst>
                  <a:ext uri="{FF2B5EF4-FFF2-40B4-BE49-F238E27FC236}">
                    <a16:creationId xmlns:a16="http://schemas.microsoft.com/office/drawing/2014/main" id="{319738C2-E728-0983-A2FE-A16613C2FADF}"/>
                  </a:ext>
                </a:extLst>
              </p:cNvPr>
              <p:cNvGrpSpPr/>
              <p:nvPr/>
            </p:nvGrpSpPr>
            <p:grpSpPr>
              <a:xfrm>
                <a:off x="3084486" y="2719153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15" name="Прямая соединительная линия 14">
                  <a:extLst>
                    <a:ext uri="{FF2B5EF4-FFF2-40B4-BE49-F238E27FC236}">
                      <a16:creationId xmlns:a16="http://schemas.microsoft.com/office/drawing/2014/main" id="{3672B46E-C581-EE0B-A1AC-484C9E46AF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Прямая соединительная линия 16">
                  <a:extLst>
                    <a:ext uri="{FF2B5EF4-FFF2-40B4-BE49-F238E27FC236}">
                      <a16:creationId xmlns:a16="http://schemas.microsoft.com/office/drawing/2014/main" id="{9159BD2B-B250-B729-3D87-1198328203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Группа 50">
                <a:extLst>
                  <a:ext uri="{FF2B5EF4-FFF2-40B4-BE49-F238E27FC236}">
                    <a16:creationId xmlns:a16="http://schemas.microsoft.com/office/drawing/2014/main" id="{CACEB48F-6D6A-E1EB-8600-087FE40FBB42}"/>
                  </a:ext>
                </a:extLst>
              </p:cNvPr>
              <p:cNvGrpSpPr/>
              <p:nvPr/>
            </p:nvGrpSpPr>
            <p:grpSpPr>
              <a:xfrm rot="10800000">
                <a:off x="152400" y="3035177"/>
                <a:ext cx="971680" cy="316024"/>
                <a:chOff x="4387850" y="3027845"/>
                <a:chExt cx="971680" cy="316024"/>
              </a:xfrm>
            </p:grpSpPr>
            <p:cxnSp>
              <p:nvCxnSpPr>
                <p:cNvPr id="52" name="Прямая соединительная линия 51">
                  <a:extLst>
                    <a:ext uri="{FF2B5EF4-FFF2-40B4-BE49-F238E27FC236}">
                      <a16:creationId xmlns:a16="http://schemas.microsoft.com/office/drawing/2014/main" id="{7150146D-B191-5A17-5EE5-804943035F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87850" y="3027845"/>
                  <a:ext cx="481039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Прямая соединительная линия 52">
                  <a:extLst>
                    <a:ext uri="{FF2B5EF4-FFF2-40B4-BE49-F238E27FC236}">
                      <a16:creationId xmlns:a16="http://schemas.microsoft.com/office/drawing/2014/main" id="{CB5093BA-5971-81A3-8CF4-2CD12F46CF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68889" y="3027845"/>
                  <a:ext cx="490641" cy="31602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5" name="Группа 84">
              <a:extLst>
                <a:ext uri="{FF2B5EF4-FFF2-40B4-BE49-F238E27FC236}">
                  <a16:creationId xmlns:a16="http://schemas.microsoft.com/office/drawing/2014/main" id="{3711ABBA-FEAA-079F-17DD-719D6E0A3B03}"/>
                </a:ext>
              </a:extLst>
            </p:cNvPr>
            <p:cNvGrpSpPr/>
            <p:nvPr/>
          </p:nvGrpSpPr>
          <p:grpSpPr>
            <a:xfrm rot="10800000">
              <a:off x="1757182" y="-1002650"/>
              <a:ext cx="2806248" cy="3224868"/>
              <a:chOff x="1757182" y="-971872"/>
              <a:chExt cx="2806248" cy="3224868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8591E4C-951B-CE2A-AD6D-6CC33B2AF703}"/>
                  </a:ext>
                </a:extLst>
              </p:cNvPr>
              <p:cNvSpPr txBox="1"/>
              <p:nvPr/>
            </p:nvSpPr>
            <p:spPr>
              <a:xfrm rot="10800000">
                <a:off x="1889778" y="-971872"/>
                <a:ext cx="254105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1</a:t>
                </a:r>
              </a:p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Качество данных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5853E89-313C-3EAF-E6B5-97474BCC60F8}"/>
                  </a:ext>
                </a:extLst>
              </p:cNvPr>
              <p:cNvSpPr txBox="1"/>
              <p:nvPr/>
            </p:nvSpPr>
            <p:spPr>
              <a:xfrm>
                <a:off x="1757182" y="1668221"/>
                <a:ext cx="280624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Шаг 4. Подсчёт частоты слов</a:t>
                </a:r>
              </a:p>
            </p:txBody>
          </p:sp>
        </p:grp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8753134-E481-4657-2874-F98D734CDB6D}"/>
              </a:ext>
            </a:extLst>
          </p:cNvPr>
          <p:cNvSpPr/>
          <p:nvPr/>
        </p:nvSpPr>
        <p:spPr>
          <a:xfrm>
            <a:off x="-246746" y="-220648"/>
            <a:ext cx="12685487" cy="131284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44000">
                <a:schemeClr val="tx2">
                  <a:lumMod val="90000"/>
                  <a:lumOff val="10000"/>
                </a:schemeClr>
              </a:gs>
            </a:gsLst>
            <a:lin ang="126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48D3B-97D8-797A-9CDA-1E677B73F207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Текстовые данные: анализ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93E9E60B-4432-74CE-E529-A0334EDE62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24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271BF0E-8A3C-4163-29B4-D6A9CFBE8A57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443D4499-D8E9-DFC5-7B3D-A0A2ECE0D9F2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80D5665F-0269-A039-9D4A-DAD6F73934AB}"/>
              </a:ext>
            </a:extLst>
          </p:cNvPr>
          <p:cNvCxnSpPr>
            <a:cxnSpLocks/>
          </p:cNvCxnSpPr>
          <p:nvPr/>
        </p:nvCxnSpPr>
        <p:spPr>
          <a:xfrm flipH="1">
            <a:off x="-495312" y="2705100"/>
            <a:ext cx="13163562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C31104CD-E7CA-7A40-830C-9FEDE9EF20BA}"/>
              </a:ext>
            </a:extLst>
          </p:cNvPr>
          <p:cNvGrpSpPr/>
          <p:nvPr/>
        </p:nvGrpSpPr>
        <p:grpSpPr>
          <a:xfrm>
            <a:off x="12330217" y="2705099"/>
            <a:ext cx="13163562" cy="3607987"/>
            <a:chOff x="-495312" y="2705100"/>
            <a:chExt cx="13163562" cy="3607987"/>
          </a:xfrm>
        </p:grpSpPr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7FC4C792-9006-266C-922B-EDE895A49351}"/>
                </a:ext>
              </a:extLst>
            </p:cNvPr>
            <p:cNvCxnSpPr>
              <a:cxnSpLocks/>
            </p:cNvCxnSpPr>
            <p:nvPr/>
          </p:nvCxnSpPr>
          <p:spPr>
            <a:xfrm>
              <a:off x="1226176" y="2705100"/>
              <a:ext cx="0" cy="343445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B0C4D2C1-FAC9-91AD-177C-B8CBEE2AEC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5312" y="4670426"/>
              <a:ext cx="13163562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9C168AF-758F-CDAD-F283-ED32DD483BE2}"/>
                </a:ext>
              </a:extLst>
            </p:cNvPr>
            <p:cNvSpPr txBox="1"/>
            <p:nvPr/>
          </p:nvSpPr>
          <p:spPr>
            <a:xfrm rot="3847950">
              <a:off x="-121036" y="3625376"/>
              <a:ext cx="1597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Результаты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7BAA870-75D8-BF55-67D5-16AAFAC4A077}"/>
                </a:ext>
              </a:extLst>
            </p:cNvPr>
            <p:cNvSpPr txBox="1"/>
            <p:nvPr/>
          </p:nvSpPr>
          <p:spPr>
            <a:xfrm rot="3847950">
              <a:off x="-49012" y="5368638"/>
              <a:ext cx="15195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Действия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0CBADCA-8F4C-C8E3-4439-C553D91DD262}"/>
                </a:ext>
              </a:extLst>
            </p:cNvPr>
            <p:cNvSpPr txBox="1"/>
            <p:nvPr/>
          </p:nvSpPr>
          <p:spPr>
            <a:xfrm>
              <a:off x="1396280" y="2738923"/>
              <a:ext cx="3167803" cy="7853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6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2 225 текстов, 5 категорий</a:t>
              </a: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6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Пропусков нет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482DB39-09EF-A9B7-0F7C-0CDAA0B72C87}"/>
                </a:ext>
              </a:extLst>
            </p:cNvPr>
            <p:cNvSpPr txBox="1"/>
            <p:nvPr/>
          </p:nvSpPr>
          <p:spPr>
            <a:xfrm>
              <a:off x="4564085" y="2743199"/>
              <a:ext cx="3810555" cy="15240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6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Удалено 201 153 из 5 033 391 </a:t>
              </a:r>
              <a:r>
                <a:rPr lang="ru-RU" sz="16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символов (</a:t>
              </a:r>
              <a:r>
                <a:rPr lang="ru-RU" sz="16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4%)</a:t>
              </a:r>
              <a:endParaRPr lang="ru-RU" sz="16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6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Средняя длина: до 2 262 </a:t>
              </a:r>
            </a:p>
            <a:p>
              <a:pPr>
                <a:lnSpc>
                  <a:spcPct val="150000"/>
                </a:lnSpc>
              </a:pPr>
              <a:r>
                <a:rPr lang="ru-RU" sz="16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после 2 172</a:t>
              </a:r>
              <a:endParaRPr lang="ru-RU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562E066-AD3C-A741-78FC-C33D3F5F757E}"/>
                </a:ext>
              </a:extLst>
            </p:cNvPr>
            <p:cNvSpPr txBox="1"/>
            <p:nvPr/>
          </p:nvSpPr>
          <p:spPr>
            <a:xfrm>
              <a:off x="8649726" y="2743198"/>
              <a:ext cx="3442447" cy="11546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>
                <a:lnSpc>
                  <a:spcPct val="150000"/>
                </a:lnSpc>
              </a:pPr>
              <a:r>
                <a:rPr lang="ru-RU" sz="16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Изменили форму 86 509 (10.3%) слов</a:t>
              </a:r>
            </a:p>
            <a:p>
              <a:pPr marL="285750">
                <a:lnSpc>
                  <a:spcPct val="150000"/>
                </a:lnSpc>
              </a:pPr>
              <a:r>
                <a:rPr lang="ru-RU" sz="16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«</a:t>
              </a:r>
              <a:r>
                <a:rPr lang="ru-RU" sz="1600" b="0" i="0" dirty="0" err="1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musicians</a:t>
              </a:r>
              <a:r>
                <a:rPr lang="ru-RU" sz="16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» → «</a:t>
              </a:r>
              <a:r>
                <a:rPr lang="ru-RU" sz="1600" b="0" i="0" dirty="0" err="1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musician</a:t>
              </a:r>
              <a:r>
                <a:rPr lang="ru-RU" sz="16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»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1E782AB-7320-BDA7-A6DE-A33E0514B8C8}"/>
                </a:ext>
              </a:extLst>
            </p:cNvPr>
            <p:cNvSpPr txBox="1"/>
            <p:nvPr/>
          </p:nvSpPr>
          <p:spPr>
            <a:xfrm>
              <a:off x="1406586" y="4788442"/>
              <a:ext cx="3088211" cy="375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Данные загружены без ошибок</a:t>
              </a:r>
              <a:endPara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677B2FF2-6C76-CCB8-7E7E-6FE40CDF4EDB}"/>
                </a:ext>
              </a:extLst>
            </p:cNvPr>
            <p:cNvSpPr txBox="1"/>
            <p:nvPr/>
          </p:nvSpPr>
          <p:spPr>
            <a:xfrm>
              <a:off x="4564089" y="4731523"/>
              <a:ext cx="4168573" cy="6987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Символы приведены к нижнему регистру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Удалены цифры, знаки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D6C15B5D-16B1-8874-724C-C5A6C7397A76}"/>
                </a:ext>
              </a:extLst>
            </p:cNvPr>
            <p:cNvSpPr txBox="1"/>
            <p:nvPr/>
          </p:nvSpPr>
          <p:spPr>
            <a:xfrm>
              <a:off x="8947738" y="4731523"/>
              <a:ext cx="2989310" cy="6987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>
                <a:lnSpc>
                  <a:spcPct val="150000"/>
                </a:lnSpc>
                <a:buFont typeface="Arial" panose="020B0604020202020204" pitchFamily="34" charset="0"/>
                <a:buChar char="–"/>
              </a:pPr>
              <a:r>
                <a:rPr lang="ru-RU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Слова приведены к словарной форме</a:t>
              </a:r>
            </a:p>
          </p:txBody>
        </p:sp>
      </p:grp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DBD9B161-99BA-74C7-D069-CDAD6B2E0EC8}"/>
              </a:ext>
            </a:extLst>
          </p:cNvPr>
          <p:cNvGrpSpPr/>
          <p:nvPr/>
        </p:nvGrpSpPr>
        <p:grpSpPr>
          <a:xfrm>
            <a:off x="-495312" y="2705099"/>
            <a:ext cx="13163562" cy="3607987"/>
            <a:chOff x="12275671" y="2705100"/>
            <a:chExt cx="13163562" cy="3607987"/>
          </a:xfrm>
        </p:grpSpPr>
        <p:cxnSp>
          <p:nvCxnSpPr>
            <p:cNvPr id="111" name="Прямая соединительная линия 110">
              <a:extLst>
                <a:ext uri="{FF2B5EF4-FFF2-40B4-BE49-F238E27FC236}">
                  <a16:creationId xmlns:a16="http://schemas.microsoft.com/office/drawing/2014/main" id="{BA9FA6F1-C9DD-C44A-0E2B-AA0A093A7A42}"/>
                </a:ext>
              </a:extLst>
            </p:cNvPr>
            <p:cNvCxnSpPr>
              <a:cxnSpLocks/>
            </p:cNvCxnSpPr>
            <p:nvPr/>
          </p:nvCxnSpPr>
          <p:spPr>
            <a:xfrm>
              <a:off x="13997159" y="2705100"/>
              <a:ext cx="0" cy="343445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Группа 120">
              <a:extLst>
                <a:ext uri="{FF2B5EF4-FFF2-40B4-BE49-F238E27FC236}">
                  <a16:creationId xmlns:a16="http://schemas.microsoft.com/office/drawing/2014/main" id="{8968CAEE-E5A6-3F87-221B-0D54EC0203EA}"/>
                </a:ext>
              </a:extLst>
            </p:cNvPr>
            <p:cNvGrpSpPr/>
            <p:nvPr/>
          </p:nvGrpSpPr>
          <p:grpSpPr>
            <a:xfrm>
              <a:off x="12275671" y="2705100"/>
              <a:ext cx="13163562" cy="3607987"/>
              <a:chOff x="12275671" y="2705100"/>
              <a:chExt cx="13163562" cy="3607987"/>
            </a:xfrm>
          </p:grpSpPr>
          <p:cxnSp>
            <p:nvCxnSpPr>
              <p:cNvPr id="112" name="Прямая соединительная линия 111">
                <a:extLst>
                  <a:ext uri="{FF2B5EF4-FFF2-40B4-BE49-F238E27FC236}">
                    <a16:creationId xmlns:a16="http://schemas.microsoft.com/office/drawing/2014/main" id="{E3F340B1-85F3-133D-CB0E-941324CAA7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275671" y="4670426"/>
                <a:ext cx="13163562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0B01069A-29C5-33C5-96A5-E49D9661F34D}"/>
                  </a:ext>
                </a:extLst>
              </p:cNvPr>
              <p:cNvSpPr txBox="1"/>
              <p:nvPr/>
            </p:nvSpPr>
            <p:spPr>
              <a:xfrm rot="3847950">
                <a:off x="12649947" y="3625376"/>
                <a:ext cx="1597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Результаты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55BA5CBC-BEB3-7ACC-19A2-DBFB991065D9}"/>
                  </a:ext>
                </a:extLst>
              </p:cNvPr>
              <p:cNvSpPr txBox="1"/>
              <p:nvPr/>
            </p:nvSpPr>
            <p:spPr>
              <a:xfrm rot="3847950">
                <a:off x="12721971" y="5368638"/>
                <a:ext cx="15195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Действия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14894EFA-ACA7-C0F4-F968-F283667AC3AD}"/>
                  </a:ext>
                </a:extLst>
              </p:cNvPr>
              <p:cNvSpPr txBox="1"/>
              <p:nvPr/>
            </p:nvSpPr>
            <p:spPr>
              <a:xfrm>
                <a:off x="14074343" y="2743199"/>
                <a:ext cx="3863630" cy="1668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Популярные слова: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en-US" sz="1400" dirty="0" err="1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До</a:t>
                </a: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очистки</a:t>
                </a: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the, to, a, of, and (</a:t>
                </a:r>
                <a:r>
                  <a:rPr lang="en-US" sz="1400" dirty="0" err="1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служебные</a:t>
                </a: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en-US" sz="1400" dirty="0" err="1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После</a:t>
                </a: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очистки </a:t>
                </a:r>
                <a:r>
                  <a:rPr lang="en-US" sz="1400" dirty="0" err="1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стоп-слов</a:t>
                </a: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said, year, people, game</a:t>
                </a:r>
                <a:endParaRPr lang="ru-RU" sz="1400" dirty="0">
                  <a:solidFill>
                    <a:srgbClr val="F9FAF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DFE7323-066E-F57A-700D-2A0689E2BF1E}"/>
                  </a:ext>
                </a:extLst>
              </p:cNvPr>
              <p:cNvSpPr txBox="1"/>
              <p:nvPr/>
            </p:nvSpPr>
            <p:spPr>
              <a:xfrm>
                <a:off x="18012063" y="2739324"/>
                <a:ext cx="3190587" cy="1021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Удалено 41.6% слов</a:t>
                </a: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Среднее: 321 → 187 слов на текст</a:t>
                </a:r>
                <a:endParaRPr lang="ru-RU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4B7A35C-1B54-0917-F54E-C8B92F6ACBD4}"/>
                  </a:ext>
                </a:extLst>
              </p:cNvPr>
              <p:cNvSpPr txBox="1"/>
              <p:nvPr/>
            </p:nvSpPr>
            <p:spPr>
              <a:xfrm>
                <a:off x="21647279" y="2705100"/>
                <a:ext cx="3088304" cy="1021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440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Словарь: 27 687 слов</a:t>
                </a:r>
              </a:p>
              <a:p>
                <a:pPr indent="-28440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Топ: </a:t>
                </a:r>
                <a:r>
                  <a:rPr lang="ru-RU" sz="1400" b="0" i="0" dirty="0" err="1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said</a:t>
                </a: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(86.47), </a:t>
                </a:r>
                <a:r>
                  <a:rPr lang="ru-RU" sz="1400" b="0" i="0" dirty="0" err="1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game</a:t>
                </a: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(37.55), </a:t>
                </a:r>
                <a:r>
                  <a:rPr lang="ru-RU" sz="1400" b="0" i="0" dirty="0" err="1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film</a:t>
                </a:r>
                <a:r>
                  <a:rPr lang="ru-RU" sz="1400" b="0" i="0" dirty="0">
                    <a:solidFill>
                      <a:srgbClr val="F9FAFB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(37.06)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70CD6DB-6A4A-75AF-C744-0473D900C04F}"/>
                  </a:ext>
                </a:extLst>
              </p:cNvPr>
              <p:cNvSpPr txBox="1"/>
              <p:nvPr/>
            </p:nvSpPr>
            <p:spPr>
              <a:xfrm>
                <a:off x="14106584" y="4735799"/>
                <a:ext cx="3735376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Построен график и облако слов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A531130-F53B-2659-3F51-DDC9A239D530}"/>
                  </a:ext>
                </a:extLst>
              </p:cNvPr>
              <p:cNvSpPr txBox="1"/>
              <p:nvPr/>
            </p:nvSpPr>
            <p:spPr>
              <a:xfrm>
                <a:off x="18012063" y="4788442"/>
                <a:ext cx="3263387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Убраны</a:t>
                </a: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the, a, is, at, which и </a:t>
                </a:r>
                <a:r>
                  <a:rPr lang="en-US" sz="1400" dirty="0" err="1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др</a:t>
                </a:r>
                <a:r>
                  <a:rPr lang="en-US" sz="1400" dirty="0">
                    <a:solidFill>
                      <a:srgbClr val="F9FAF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ru-RU" sz="1400" b="0" i="0" dirty="0">
                  <a:solidFill>
                    <a:srgbClr val="F9FAFB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83AE243C-23AD-E296-DD86-1A19D5B0940D}"/>
                  </a:ext>
                </a:extLst>
              </p:cNvPr>
              <p:cNvSpPr txBox="1"/>
              <p:nvPr/>
            </p:nvSpPr>
            <p:spPr>
              <a:xfrm>
                <a:off x="21647278" y="4696367"/>
                <a:ext cx="2989310" cy="698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–"/>
                </a:pPr>
                <a:r>
                  <a:rPr lang="ru-RU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Выделены ключевые слова по темам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49070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7A33E-2492-60F4-E329-7967AF79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69CF1F8-3DA6-AA7D-CEA2-DD5207F29D3B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455627-17E7-DF94-3DAD-0DDC7B2BE5DD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Текстовые данные: выводы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D65EB68B-D817-15AA-1D9C-1ACA4F0C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25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1F7563D-57B6-D198-340E-E9CD7FE5CF2A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8BD98AE9-C26F-E000-900D-A244DC671248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0DAA9C-FB01-B69A-28E8-B55BAF52E369}"/>
              </a:ext>
            </a:extLst>
          </p:cNvPr>
          <p:cNvSpPr txBox="1"/>
          <p:nvPr/>
        </p:nvSpPr>
        <p:spPr>
          <a:xfrm>
            <a:off x="341074" y="1039242"/>
            <a:ext cx="11509836" cy="4847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Пригодность: Датасет полностью готов к решению задачи классификации новостей. 2 225 статей равномерно распределены по пяти категориям — бизнес, спорт, политика, технологии и развлечения. Пропуски отсутствуют, тексты в машиночитаемом формате CSV. Очистка и лемматизация сократили словарный шум, удаление стоп-слов убрало служебные слова, оставив только значимые термины. TF-IDF-векторизация позволила выделить ключевые слова по каждой теме. Информационный поиск показал высокую точность система находит статьи по запросу.</a:t>
            </a:r>
          </a:p>
          <a:p>
            <a:pPr>
              <a:lnSpc>
                <a:spcPct val="150000"/>
              </a:lnSpc>
            </a:pPr>
            <a:endParaRPr lang="ru-RU" sz="1600" b="1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rgbClr val="F9FAF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Рекомендации по предварительной обработке перед обучением модели:</a:t>
            </a:r>
            <a:endParaRPr lang="ru-RU" sz="1600" b="1" i="0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Применить очистку текста (нижний регистр, удаление цифр и знаков препинания)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Выполнить </a:t>
            </a:r>
            <a:r>
              <a:rPr lang="ru-RU" sz="1600" b="1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лемматизацию</a:t>
            </a: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для приведения слов к словарной форме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Удалить стоп-слова (</a:t>
            </a:r>
            <a:r>
              <a:rPr lang="ru-RU" sz="1600" b="1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a, </a:t>
            </a:r>
            <a:r>
              <a:rPr lang="ru-RU" sz="1600" b="1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600" b="1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600" b="1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 др.)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Векторизовать тексты через TF-IDF для получения числовых признаков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Использовать логистическую регрессию или </a:t>
            </a:r>
            <a:r>
              <a:rPr lang="ru-RU" sz="1600" b="1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b="1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Forest</a:t>
            </a:r>
            <a:r>
              <a:rPr lang="ru-RU" sz="1600" b="1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как базовую модель</a:t>
            </a:r>
          </a:p>
        </p:txBody>
      </p:sp>
    </p:spTree>
    <p:extLst>
      <p:ext uri="{BB962C8B-B14F-4D97-AF65-F5344CB8AC3E}">
        <p14:creationId xmlns:p14="http://schemas.microsoft.com/office/powerpoint/2010/main" val="760670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76D1E-E125-E086-B22D-654130031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E92EB84-5B24-A654-FEB7-78B146CC5346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5FDD6-EB73-3021-A7D7-204ABA01E5BA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Основные результаты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3F77E58B-5BF1-2F51-DAB4-1CA9CDA9EC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26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C71D6DD-FDCE-17BB-9C4E-6B5386997816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8297890E-2AB5-85FF-CA9C-9DDB195EC508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593F7-8BEE-4800-32D7-0E0A82744CC0}"/>
              </a:ext>
            </a:extLst>
          </p:cNvPr>
          <p:cNvSpPr txBox="1"/>
          <p:nvPr/>
        </p:nvSpPr>
        <p:spPr>
          <a:xfrm>
            <a:off x="341074" y="1478081"/>
            <a:ext cx="11509836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подготовлено краткое описание выбранной задачи ИИ для каждого типа данных (таблицы, временные ряды, изображения, тексты);</a:t>
            </a:r>
          </a:p>
          <a:p>
            <a:pPr algn="just">
              <a:lnSpc>
                <a:spcPct val="150000"/>
              </a:lnSpc>
            </a:pPr>
            <a:r>
              <a:rPr lang="ru-RU" sz="24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подобраны и обоснован выбор наборов данных из открытых источников;</a:t>
            </a:r>
          </a:p>
          <a:p>
            <a:pPr algn="just">
              <a:lnSpc>
                <a:spcPct val="150000"/>
              </a:lnSpc>
            </a:pPr>
            <a:r>
              <a:rPr lang="ru-RU" sz="24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реализован комплекс программ на языке Python для первичного анализа;</a:t>
            </a:r>
          </a:p>
          <a:p>
            <a:pPr algn="just">
              <a:lnSpc>
                <a:spcPct val="150000"/>
              </a:lnSpc>
            </a:pPr>
            <a:r>
              <a:rPr lang="ru-RU" sz="24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сформулированы рекомендации по предобработке данных;</a:t>
            </a:r>
          </a:p>
          <a:p>
            <a:pPr>
              <a:lnSpc>
                <a:spcPct val="150000"/>
              </a:lnSpc>
            </a:pPr>
            <a:r>
              <a:rPr lang="ru-RU" sz="24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размещен исходный код в </a:t>
            </a:r>
            <a:r>
              <a:rPr lang="ru-RU" sz="240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ru-RU" sz="24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-репозитории: </a:t>
            </a:r>
            <a:r>
              <a:rPr lang="en-US" sz="20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https://github.com/KaKTyZ</a:t>
            </a:r>
            <a:r>
              <a:rPr lang="ru-RU" sz="20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ru-RU" sz="2000" i="0" dirty="0">
                <a:solidFill>
                  <a:srgbClr val="46788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KYRSOVAIA_RABOTA.git</a:t>
            </a:r>
            <a:r>
              <a:rPr lang="ru-RU" sz="200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0882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279F3-5ED2-EB6F-E7D4-47066E170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3522309-C3BC-B14B-01CD-ABC6C422AC2A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EFB838-1437-A540-A4AD-EB926BFE280A}"/>
              </a:ext>
            </a:extLst>
          </p:cNvPr>
          <p:cNvSpPr txBox="1"/>
          <p:nvPr/>
        </p:nvSpPr>
        <p:spPr>
          <a:xfrm>
            <a:off x="651244" y="256783"/>
            <a:ext cx="1088949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табличных данных: пропуски, выбросы и дубликаты</a:t>
            </a:r>
            <a:endParaRPr lang="ru-RU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A18A7D45-ACE3-D556-C370-CBE26FF485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27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4DD659A-7394-E276-1E38-41F386EF07BA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6CC3BE62-379D-FDFC-1F5B-F5C88A9B3201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04F92D-CADA-5648-199A-0E2BF552E1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rcRect t="67550" r="48503"/>
          <a:stretch>
            <a:fillRect/>
          </a:stretch>
        </p:blipFill>
        <p:spPr>
          <a:xfrm>
            <a:off x="5919110" y="2745665"/>
            <a:ext cx="5968090" cy="2919545"/>
          </a:xfrm>
          <a:prstGeom prst="rect">
            <a:avLst/>
          </a:prstGeom>
          <a:effectLst>
            <a:softEdge rad="63500"/>
          </a:effectLst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DB445FF5-70B5-E1D8-F575-B423168DC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38007"/>
              </p:ext>
            </p:extLst>
          </p:nvPr>
        </p:nvGraphicFramePr>
        <p:xfrm>
          <a:off x="404500" y="2745665"/>
          <a:ext cx="5285099" cy="29195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8013">
                  <a:extLst>
                    <a:ext uri="{9D8B030D-6E8A-4147-A177-3AD203B41FA5}">
                      <a16:colId xmlns:a16="http://schemas.microsoft.com/office/drawing/2014/main" val="2671938227"/>
                    </a:ext>
                  </a:extLst>
                </a:gridCol>
                <a:gridCol w="1298037">
                  <a:extLst>
                    <a:ext uri="{9D8B030D-6E8A-4147-A177-3AD203B41FA5}">
                      <a16:colId xmlns:a16="http://schemas.microsoft.com/office/drawing/2014/main" val="622966784"/>
                    </a:ext>
                  </a:extLst>
                </a:gridCol>
                <a:gridCol w="1329049">
                  <a:extLst>
                    <a:ext uri="{9D8B030D-6E8A-4147-A177-3AD203B41FA5}">
                      <a16:colId xmlns:a16="http://schemas.microsoft.com/office/drawing/2014/main" val="32494943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Признак</a:t>
                      </a:r>
                      <a:endParaRPr lang="ru-RU" sz="1200" b="1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Наличие выбросов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выбросов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883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50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daily_screen_time_hours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114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phone_usage_before_sleep_minutes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857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sleep_duration_hours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944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sleep_quality_score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33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stress_level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763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caffeine_intake_cups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901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physical_activity_minutes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893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notifications_received_per_day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07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mental_fatigue_score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38418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C3CDC11-7C3B-9B3B-E685-E202DC85E326}"/>
              </a:ext>
            </a:extLst>
          </p:cNvPr>
          <p:cNvSpPr txBox="1"/>
          <p:nvPr/>
        </p:nvSpPr>
        <p:spPr>
          <a:xfrm>
            <a:off x="404500" y="1195879"/>
            <a:ext cx="11913593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Пропуски в данных отсутствуют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Дубликаты в данных отсутствуют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Выбросы, найденные методом </a:t>
            </a:r>
            <a:r>
              <a:rPr lang="ru-RU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межквартильного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размаха, присутствуют в признаке sleep_quality_score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577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391FF-D35A-FD83-96D3-C3C0B708B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CB5C0FE-0E56-59BD-4BD2-057C52B307CE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62711-485C-2BEA-1CFE-AAA6837D83A7}"/>
              </a:ext>
            </a:extLst>
          </p:cNvPr>
          <p:cNvSpPr txBox="1"/>
          <p:nvPr/>
        </p:nvSpPr>
        <p:spPr>
          <a:xfrm>
            <a:off x="430389" y="256783"/>
            <a:ext cx="1133120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табличных данных: корреляция, диапазоны значений</a:t>
            </a:r>
            <a:endParaRPr lang="ru-RU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199F84F6-41AC-54CF-B3A2-954F74DA94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28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6E836AB-2AF1-F6ED-09EB-0B1C692C2920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CC69612B-E5BE-8FE9-8ED4-7E7CFB1B55CA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8201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0392D-F378-439B-46EF-C9F686A92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E49B963-5DCD-AEA2-53EC-ED5763F025A1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343185-B5DF-9CF3-E647-18CA768DAB79}"/>
              </a:ext>
            </a:extLst>
          </p:cNvPr>
          <p:cNvSpPr txBox="1"/>
          <p:nvPr/>
        </p:nvSpPr>
        <p:spPr>
          <a:xfrm>
            <a:off x="224711" y="256783"/>
            <a:ext cx="1174256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табличных данных: распределения числовых атрибутов </a:t>
            </a:r>
            <a:endParaRPr lang="ru-RU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A65F718C-58EB-6714-0FFC-BD5CA8DCC9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29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E59FC58-5CE8-1B50-8989-68239E95E5F7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C7AA44FF-9B53-1ACC-CDBC-CCD204777D2B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751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00AA1-335A-50E5-0AAD-6592090C6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B195BED-E67C-9C94-5B73-2B8E7D1BBD3C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C88CC7-CF1C-FBEE-A860-2F915BE75354}"/>
              </a:ext>
            </a:extLst>
          </p:cNvPr>
          <p:cNvSpPr txBox="1"/>
          <p:nvPr/>
        </p:nvSpPr>
        <p:spPr>
          <a:xfrm>
            <a:off x="224711" y="256783"/>
            <a:ext cx="1174256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табличных данных: распределения категор. атрибутов </a:t>
            </a:r>
            <a:endParaRPr lang="ru-RU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C81BF2F1-8EF2-3804-E628-FFF8941E3B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30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396A110-2B6B-D35E-E7D0-7F2DAD5513E6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6B06F16C-6382-EEE5-408A-D1895C78D0CC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8221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23345-6094-0B07-8F76-172C15C5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00CB93F-2573-7B6A-24D1-A8BED01D52B8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FD0D01-FC3F-36D4-A3CD-7A70D29B5B6F}"/>
              </a:ext>
            </a:extLst>
          </p:cNvPr>
          <p:cNvSpPr txBox="1"/>
          <p:nvPr/>
        </p:nvSpPr>
        <p:spPr>
          <a:xfrm>
            <a:off x="224711" y="256783"/>
            <a:ext cx="1174256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табличных данных: группировка </a:t>
            </a:r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risk_group</a:t>
            </a:r>
            <a:endParaRPr lang="ru-RU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7DF9139B-8B14-3471-DB46-A14CBCCB6D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31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3F5B74F-579B-3C34-A0A0-51F3108D5852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3260FDD7-259B-964C-8719-41E4D0B824EE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B2C785-DF09-71B6-2DCA-4594B2F64DF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2" y="1142995"/>
            <a:ext cx="7315215" cy="4572009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E16933-0711-C3CF-8611-9735D8263B90}"/>
              </a:ext>
            </a:extLst>
          </p:cNvPr>
          <p:cNvSpPr txBox="1"/>
          <p:nvPr/>
        </p:nvSpPr>
        <p:spPr>
          <a:xfrm>
            <a:off x="8085351" y="1276882"/>
            <a:ext cx="37256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Условия формирования:</a:t>
            </a:r>
          </a:p>
          <a:p>
            <a:pPr marL="285750" indent="-285750">
              <a:buFont typeface="Arial" panose="020B0604020202020204" pitchFamily="34" charset="0"/>
              <a:buChar char="–"/>
            </a:pPr>
            <a:r>
              <a:rPr lang="ru-RU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Высокий риск: стресс &gt; 7, качество сна &lt; 5, экранное время &gt; 8ч</a:t>
            </a:r>
          </a:p>
          <a:p>
            <a:pPr marL="285750" indent="-285750">
              <a:buFont typeface="Arial" panose="020B0604020202020204" pitchFamily="34" charset="0"/>
              <a:buChar char="–"/>
            </a:pP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–"/>
            </a:pPr>
            <a:r>
              <a:rPr lang="ru-RU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Средний риск: стресс 4-7, качество сна 4-7</a:t>
            </a:r>
          </a:p>
          <a:p>
            <a:pPr marL="285750" indent="-285750">
              <a:buFont typeface="Arial" panose="020B0604020202020204" pitchFamily="34" charset="0"/>
              <a:buChar char="–"/>
            </a:pP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–"/>
            </a:pPr>
            <a:r>
              <a:rPr lang="ru-RU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Низкий риск: стресс &lt; 4, качество сна &gt; 7</a:t>
            </a:r>
          </a:p>
        </p:txBody>
      </p:sp>
    </p:spTree>
    <p:extLst>
      <p:ext uri="{BB962C8B-B14F-4D97-AF65-F5344CB8AC3E}">
        <p14:creationId xmlns:p14="http://schemas.microsoft.com/office/powerpoint/2010/main" val="3767307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2821B-313D-CDFC-A567-E256FC97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E402117-D577-F86D-2BCD-9A72B07A0CF3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48A3A-9B08-EB18-5E14-ADF1694EFFB0}"/>
              </a:ext>
            </a:extLst>
          </p:cNvPr>
          <p:cNvSpPr txBox="1"/>
          <p:nvPr/>
        </p:nvSpPr>
        <p:spPr>
          <a:xfrm>
            <a:off x="224711" y="256783"/>
            <a:ext cx="1174256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табличных данных: кодирование</a:t>
            </a:r>
            <a:endParaRPr lang="ru-RU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77392FE4-5FCF-14C8-0738-3FF271A8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32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9949310-A8FB-6E03-70CF-1FE755DEDBC0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89A3801C-5AB9-6143-372B-0E25CC54D7CF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118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ACAB9-D2F2-2F8C-D06C-D5155B1BD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DEF4F77-90BE-7176-8B44-8764AC2BCAAE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0A49F0-FF9B-52F8-2BE8-3B91B509CD84}"/>
              </a:ext>
            </a:extLst>
          </p:cNvPr>
          <p:cNvSpPr txBox="1"/>
          <p:nvPr/>
        </p:nvSpPr>
        <p:spPr>
          <a:xfrm>
            <a:off x="651247" y="262877"/>
            <a:ext cx="1088949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временных рядов: статистика</a:t>
            </a:r>
            <a:endParaRPr lang="ru-RU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5E4A1DAB-E04D-7772-1CC1-C0ADBBD021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33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74850D3-BE1A-7010-BBD3-13F862E4AAEC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BC6E868B-79FB-8F3D-2D89-443B68D31D1F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0064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777C3-6E12-7B1B-CF5F-3AAA307FA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12204D0-EB7F-0BDC-EA21-6C4F26B2F4D4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568E12-8869-F689-6886-A8DD2CFD6A83}"/>
              </a:ext>
            </a:extLst>
          </p:cNvPr>
          <p:cNvSpPr txBox="1"/>
          <p:nvPr/>
        </p:nvSpPr>
        <p:spPr>
          <a:xfrm>
            <a:off x="651247" y="262878"/>
            <a:ext cx="1088949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временных рядов: распределения измерений</a:t>
            </a:r>
            <a:endParaRPr lang="ru-RU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FD87ACEC-4E11-595C-2A1F-8B0CB8C8A2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34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DF217DA-B86F-46F4-C308-D452CEAF098D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F9C5F837-8B0D-FF61-4FDD-06D2EC2BF06F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748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A4147-5335-B26C-ED3F-EA419F593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E3BDB52-0EFD-2375-DD7F-DB51A0F8E624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105579-090C-82B7-4C1B-0A4E0AB8DCF0}"/>
              </a:ext>
            </a:extLst>
          </p:cNvPr>
          <p:cNvSpPr txBox="1"/>
          <p:nvPr/>
        </p:nvSpPr>
        <p:spPr>
          <a:xfrm>
            <a:off x="651247" y="262878"/>
            <a:ext cx="1088949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временных рядов: пропуски и выбросы</a:t>
            </a: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8D78938D-EEF3-2171-8691-9B2CE83123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35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91BCD9A-0040-AE14-8FD7-8C404036BF71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F47A91E9-016E-8AC3-8080-27A27FC27EC4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7853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16A84-DC3B-9A15-16FA-275ED04E8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1362FFF-BF72-002A-2E85-976BA415A903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7FF59-59A8-FE7C-FBBD-ADB60651175E}"/>
              </a:ext>
            </a:extLst>
          </p:cNvPr>
          <p:cNvSpPr txBox="1"/>
          <p:nvPr/>
        </p:nvSpPr>
        <p:spPr>
          <a:xfrm>
            <a:off x="325615" y="256783"/>
            <a:ext cx="1154075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табличных данных: корреляция, диапазоны значений</a:t>
            </a: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F6B57126-69C9-86DD-D12D-05362730BC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36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F414EE-1A8B-5B12-B9E9-C962CA3C01E6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3AD6AD36-3F4E-F053-1708-61995479E2BB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9625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599D9-20B7-1FB2-1799-D743F8EA8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C64E76C-34E4-C1B4-062F-CC8BFEC5F37A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1E910-A7EC-E5DF-6325-62270FAECEFE}"/>
              </a:ext>
            </a:extLst>
          </p:cNvPr>
          <p:cNvSpPr txBox="1"/>
          <p:nvPr/>
        </p:nvSpPr>
        <p:spPr>
          <a:xfrm>
            <a:off x="325615" y="256783"/>
            <a:ext cx="1154075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временных рядов: декомпозиция</a:t>
            </a: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D4E87ECC-E130-0429-8D07-35E4A68FDE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37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E8A43AA-BCEB-0173-EA01-CF275309BE30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C828162A-760E-8B56-D28A-488318AF4C2B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5599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CE3C7-7C79-2BB6-1A5D-0C707B47B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EC47B47-7B8A-3B4D-E16A-B1FE0890ED2F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7AB73-A6D0-38A1-07DC-0CA69D7A6B6A}"/>
              </a:ext>
            </a:extLst>
          </p:cNvPr>
          <p:cNvSpPr txBox="1"/>
          <p:nvPr/>
        </p:nvSpPr>
        <p:spPr>
          <a:xfrm>
            <a:off x="325615" y="256783"/>
            <a:ext cx="1154075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временных рядов: распределения остатков</a:t>
            </a: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BE6C51A3-C638-F4A0-247D-7480AA501C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38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E08A57A-4A8D-191A-0102-B162CB078DC9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55F515FA-4698-4C19-D1CC-0100F9971C1D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3067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4827B-65BB-17D9-05DF-FFA154D19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D7B348B-636B-DBB2-2933-E6D52B556ED2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B24D27-6CE3-6178-F2F4-B588575CE574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Основные результаты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0D7F7F22-0945-DAB0-8FA0-90AE547B18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39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6E8610F-0AEA-7019-B472-27B7CBB4783A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F8819D78-1C82-EFDD-EA0F-695C5287374B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7813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4E400-BB2E-EB3D-14E8-13CE227E5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16A4893-5E19-65C7-BD7A-7A73E7BECFA9}"/>
              </a:ext>
            </a:extLst>
          </p:cNvPr>
          <p:cNvSpPr/>
          <p:nvPr/>
        </p:nvSpPr>
        <p:spPr>
          <a:xfrm>
            <a:off x="-246751" y="-220648"/>
            <a:ext cx="12685487" cy="729929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75000">
                <a:srgbClr val="122639"/>
              </a:gs>
              <a:gs pos="100000">
                <a:schemeClr val="tx1">
                  <a:lumMod val="95000"/>
                  <a:lumOff val="5000"/>
                </a:schemeClr>
              </a:gs>
              <a:gs pos="50000">
                <a:schemeClr val="tx2">
                  <a:lumMod val="90000"/>
                  <a:lumOff val="10000"/>
                </a:schemeClr>
              </a:gs>
            </a:gsLst>
            <a:lin ang="12000000" scaled="0"/>
            <a:tileRect/>
          </a:gra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ECCCF2-E027-4DAF-7BBC-663AAFA52028}"/>
              </a:ext>
            </a:extLst>
          </p:cNvPr>
          <p:cNvSpPr txBox="1"/>
          <p:nvPr/>
        </p:nvSpPr>
        <p:spPr>
          <a:xfrm>
            <a:off x="651247" y="232100"/>
            <a:ext cx="108894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Основные результаты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Дата 6">
            <a:extLst>
              <a:ext uri="{FF2B5EF4-FFF2-40B4-BE49-F238E27FC236}">
                <a16:creationId xmlns:a16="http://schemas.microsoft.com/office/drawing/2014/main" id="{46480854-7DE4-46A7-DBD7-11F491A454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80316" y="6284083"/>
            <a:ext cx="892634" cy="463875"/>
          </a:xfrm>
        </p:spPr>
        <p:txBody>
          <a:bodyPr/>
          <a:lstStyle/>
          <a:p>
            <a:pPr algn="ctr">
              <a:defRPr/>
            </a:pPr>
            <a:fld id="{D063FBCF-7873-4A49-B36C-1F912BB77786}" type="slidenum">
              <a:rPr lang="ru-RU" altLang="ru-RU" sz="2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defRPr/>
              </a:pPr>
              <a:t>40</a:t>
            </a:fld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/26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D0353E3-BCDC-EBB9-8E1D-1A0A091EF7FE}"/>
              </a:ext>
            </a:extLst>
          </p:cNvPr>
          <p:cNvSpPr/>
          <p:nvPr/>
        </p:nvSpPr>
        <p:spPr>
          <a:xfrm>
            <a:off x="-476262" y="937951"/>
            <a:ext cx="13144512" cy="520160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ата 6">
            <a:extLst>
              <a:ext uri="{FF2B5EF4-FFF2-40B4-BE49-F238E27FC236}">
                <a16:creationId xmlns:a16="http://schemas.microsoft.com/office/drawing/2014/main" id="{5265AC2A-6601-DECE-5EF3-1F7B8C542720}"/>
              </a:ext>
            </a:extLst>
          </p:cNvPr>
          <p:cNvSpPr txBox="1">
            <a:spLocks/>
          </p:cNvSpPr>
          <p:nvPr/>
        </p:nvSpPr>
        <p:spPr>
          <a:xfrm>
            <a:off x="38100" y="6284084"/>
            <a:ext cx="7785187" cy="46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alt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проект «Поиск и первичный анализ наборов данных»</a:t>
            </a:r>
            <a:endParaRPr lang="ru-RU" altLang="zh-CN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502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</TotalTime>
  <Words>4269</Words>
  <Application>Microsoft Office PowerPoint</Application>
  <PresentationFormat>Широкоэкранный</PresentationFormat>
  <Paragraphs>895</Paragraphs>
  <Slides>40</Slides>
  <Notes>40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6" baseType="lpstr">
      <vt:lpstr>Aptos</vt:lpstr>
      <vt:lpstr>Aptos Display</vt:lpstr>
      <vt:lpstr>Arial</vt:lpstr>
      <vt:lpstr>Arial Black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 Бобыкин</dc:creator>
  <cp:lastModifiedBy>Влад Бобыкин</cp:lastModifiedBy>
  <cp:revision>13</cp:revision>
  <dcterms:created xsi:type="dcterms:W3CDTF">2026-06-01T05:52:45Z</dcterms:created>
  <dcterms:modified xsi:type="dcterms:W3CDTF">2026-06-05T06:55:35Z</dcterms:modified>
</cp:coreProperties>
</file>