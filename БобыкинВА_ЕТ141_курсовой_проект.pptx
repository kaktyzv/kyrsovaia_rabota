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0" r:id="rId14"/>
    <p:sldId id="269" r:id="rId15"/>
    <p:sldId id="271" r:id="rId16"/>
    <p:sldId id="272" r:id="rId17"/>
    <p:sldId id="273" r:id="rId18"/>
    <p:sldId id="274" r:id="rId19"/>
    <p:sldId id="275" r:id="rId20"/>
    <p:sldId id="276" r:id="rId2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ступление" id="{400EED2A-2C0A-4719-89B8-F76F44E13437}">
          <p14:sldIdLst>
            <p14:sldId id="256"/>
            <p14:sldId id="257"/>
          </p14:sldIdLst>
        </p14:section>
        <p14:section name="Табличные_данные" id="{CB178731-8F14-48CE-9519-6F6C53616819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Временные_ряды" id="{82E9AFED-166D-4E34-B502-027EC9686783}">
          <p14:sldIdLst>
            <p14:sldId id="264"/>
            <p14:sldId id="265"/>
            <p14:sldId id="266"/>
            <p14:sldId id="267"/>
            <p14:sldId id="270"/>
            <p14:sldId id="269"/>
          </p14:sldIdLst>
        </p14:section>
        <p14:section name="Данные_с_изображениями" id="{E8CA9BBE-39A6-4A49-BC8B-C9822371601B}">
          <p14:sldIdLst>
            <p14:sldId id="271"/>
            <p14:sldId id="272"/>
            <p14:sldId id="273"/>
            <p14:sldId id="274"/>
            <p14:sldId id="275"/>
            <p14:sldId id="27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4053" autoAdjust="0"/>
  </p:normalViewPr>
  <p:slideViewPr>
    <p:cSldViewPr snapToGrid="0">
      <p:cViewPr>
        <p:scale>
          <a:sx n="75" d="100"/>
          <a:sy n="75" d="100"/>
        </p:scale>
        <p:origin x="456" y="7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00" d="100"/>
        <a:sy n="2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805A11-193B-4C07-A20A-B39EC8973A21}" type="datetimeFigureOut">
              <a:rPr lang="ru-RU" smtClean="0"/>
              <a:t>04.06.2026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8C5B02-561F-4307-93D6-A5A5DB3110E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45936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C5B02-561F-4307-93D6-A5A5DB3110ED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249080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949719-52EC-F4F7-8BAD-91124D1A85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7AAB9BB6-7A91-C6BA-1439-986D2A5BB8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3F28010E-9B47-2634-4227-203481279F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F32D288-0A67-76AC-01F0-4C27948E66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C5B02-561F-4307-93D6-A5A5DB3110ED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4106298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DB8AC8-B858-467A-130E-924F185A7A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5083AE9-BC18-1C62-D81F-4A35916794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9C729A96-F7E3-544B-E7E8-3AC62B8947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DDA2CCB-03C4-BFD7-33D8-99E3E0FEFA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C5B02-561F-4307-93D6-A5A5DB3110ED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009177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AEBF80-378B-51BD-2586-16D96D487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D29D1BAB-D7D5-EB37-098D-764266A21E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AA4C9578-D356-801A-602C-BAEC64C1A8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BF48C84-7806-C8F8-C6E3-8E5B019DE3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C5B02-561F-4307-93D6-A5A5DB3110ED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513141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4573B4-42CA-F1E2-DAA2-63BD7EE143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5AC6D8E8-B53C-32C7-3491-C747B88D9C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AE0D06F-D96E-0C4E-0DA5-2B9628889E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51EFE42-EB70-C7F2-E120-65377B3972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C5B02-561F-4307-93D6-A5A5DB3110ED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112709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790733-C057-56BD-C58C-0B59F72FA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0731C57B-3DAF-60C8-E1AF-5B1D82A122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2FAB16FA-8AD7-156C-0247-25D86F2C16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518118A-D0C7-92F8-3417-77F8212DEE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C5B02-561F-4307-93D6-A5A5DB3110ED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6419047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CF2B6A-1D09-007E-E0A2-E2541FC04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5648F9DE-33D1-13A9-0AD2-93D0122208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723315C4-3AF3-11C8-D486-15DA4D2F55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E64112E-C1D3-EF51-0F59-8A7331A5C1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C5B02-561F-4307-93D6-A5A5DB3110ED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2080071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D9364-043D-255E-E429-1C0E867B95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120A1002-1CB5-DA1D-B9DC-541774243E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73FCE6E0-B13F-FE1A-C94B-4C4A4F3DF4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097E2D2-8879-22B6-5541-528DD682B4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C5B02-561F-4307-93D6-A5A5DB3110ED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505713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847C0B-7659-9A4D-0BDB-9AFE15925C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3DB5645D-160C-D039-0677-1A65406F2A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B10599DE-B61A-D079-061A-59294F069E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CFAD7ED-EFBE-7F8C-8E1A-675B10D302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C5B02-561F-4307-93D6-A5A5DB3110ED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440482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EF6CA-8D2F-BE99-DA0F-D8F19D7DBD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87617FC-5D51-3717-0978-E53F314A7D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A4241ED7-54A3-5A95-2065-B5603D44C9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493A6C4-1195-FC9E-47F2-8A863D986B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C5B02-561F-4307-93D6-A5A5DB3110ED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4461913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7CFB25-6AB5-24CA-AAD5-75A714565C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F7E9C752-2BDC-C424-013E-8A5159CF79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95DF9A9B-D67A-5CBA-5C8A-56A4E1E74C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EA598DF-2E56-CEDB-E2F9-9AA55B1B1A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C5B02-561F-4307-93D6-A5A5DB3110ED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0068941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7AAA6-87E7-227D-6504-1873B8437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DC714F76-DBB6-5A87-350F-E437DA547C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8A4DE0D-03A2-9DC2-FAA2-AFEE8B8382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5336CDF-0334-1188-FD89-7414964ADF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C5B02-561F-4307-93D6-A5A5DB3110ED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288840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44103E-A48D-C7A1-C3E1-90DFFC71A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0A0B31C6-8542-0CE0-CE92-23E791805D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2E0D4E1A-BA17-29ED-0051-D16DAFDAA2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A8121B2-B487-B45C-863E-1121AAE6ED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C5B02-561F-4307-93D6-A5A5DB3110ED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2072570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F3671A-D4FB-FF4E-6AF5-D3F7DC6F39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5069800D-628D-C8EF-78DD-3F8D790D5D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5535B4FE-508F-BC88-882E-AAE43C0DD0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18666BF-76EF-BF68-6085-726136143B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C5B02-561F-4307-93D6-A5A5DB3110ED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6006984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4B4FD7-5B7B-384C-ED04-03C197D9B7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52DD02D2-B565-F90E-8ACA-5522B7837E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9E4735DA-DDD5-AC32-C4AA-94DA8DBF8F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745955F-62A3-2F58-8E11-8B0F5139FB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C5B02-561F-4307-93D6-A5A5DB3110ED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9369980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46DF62-A88C-0485-6CEE-78F6FC2FBE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AFB021B0-D460-7642-6A3A-2420C909DB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706BEC8C-947F-923F-40BB-1059C6D3AA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072E31F-8A11-78B9-2991-0FFB37222E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C5B02-561F-4307-93D6-A5A5DB3110ED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7842486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4A5233-37D1-1FBE-D954-AC3895B07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0920FB17-D6D0-674E-D5C0-62E3156453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D19E9F25-BFC5-DA0B-E273-3FA6F20BFC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1310611-92D5-DDB3-ACE3-B73763EFFC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C5B02-561F-4307-93D6-A5A5DB3110ED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0562559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4BC442-720D-F28B-20F8-663C34723B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6298243B-CC74-FE8B-A9D3-FEB2B520DA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C5E2988C-82C5-7A97-30C5-AA6FF38519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307D12A-B0E4-7495-3FAF-D31760FD03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C5B02-561F-4307-93D6-A5A5DB3110ED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6494675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F97868-7E7E-7606-8AC0-A6F9B5CDE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794060BA-58DD-F4E2-758D-379E202CD1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BD5B86A8-3834-6E97-FACA-D1AF16BAC4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C36CF98-7771-686D-2A40-4D51474816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C5B02-561F-4307-93D6-A5A5DB3110ED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9556525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B06C81-C8D4-166D-B0AB-9F85237E42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A90E64A-AB19-08CF-E486-A883E7FB90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18986D37-F122-EFC5-96D8-2AFF028DF3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BCEE432-A89E-5F38-2C48-CEF9517558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8C5B02-561F-4307-93D6-A5A5DB3110ED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31171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069CC74-665A-AD31-E9DC-95006BBCCF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194476D-7284-7BBE-446A-76FF39874B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B652C06-32D6-D7F8-0E4C-0683CC54D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11A73-851F-4AB9-9124-DFC91A9DB165}" type="datetimeFigureOut">
              <a:rPr lang="ru-RU" smtClean="0"/>
              <a:t>04.06.2026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954244B-426D-9BF9-96CF-FE9A06C36C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1991E66-AEBC-1C8A-CF94-B8F8E6FE5B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9FF4E1-6D5E-4E01-99C8-F7DDCC28169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808620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4494FD5-0C0C-BA83-A355-94DD9D4ED1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29BE3F5-E1C1-01CB-B98A-5EFAB22807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88EEC1A-0BDE-189B-6A8A-F4E51A37AE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11A73-851F-4AB9-9124-DFC91A9DB165}" type="datetimeFigureOut">
              <a:rPr lang="ru-RU" smtClean="0"/>
              <a:t>04.06.2026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69669C7-0542-D821-8F69-66CFE66881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69D0543-F934-FDAA-DD1A-DB4E6DF4E1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9FF4E1-6D5E-4E01-99C8-F7DDCC28169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176602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666DC49-CFC2-837D-CA6F-92E434B78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128E4FD-6E0E-1358-4040-93F3CE9B94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65A72A5-4D52-9236-6299-6412A092B7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11A73-851F-4AB9-9124-DFC91A9DB165}" type="datetimeFigureOut">
              <a:rPr lang="ru-RU" smtClean="0"/>
              <a:t>04.06.2026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BFE2396-B9D1-13CD-C8A8-506C3BC65C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BA76F3D-845B-DEFA-93C4-07322B3BF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9FF4E1-6D5E-4E01-99C8-F7DDCC28169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836702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AEE8E82-ADB6-D640-2D20-1F339C7FB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3B6B498-6BAA-E4C4-9DD0-95B8AFCC4B9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6F1244EF-1427-B976-AD97-B65090EBEB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BA66C3C-0EAA-2B0A-E48B-3AE1EA2679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11A73-851F-4AB9-9124-DFC91A9DB165}" type="datetimeFigureOut">
              <a:rPr lang="ru-RU" smtClean="0"/>
              <a:t>04.06.2026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8F010EE4-C2BE-52FB-9BE7-3C0741C009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54BCA40-FF57-4E25-F2EA-CB478C0481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9FF4E1-6D5E-4E01-99C8-F7DDCC28169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412175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1AAAA18-FF0E-B402-251E-1C19D0208B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F6268E10-9D48-5A27-5CB4-6D6B8CDF9B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ABE0ED1-FED6-E78E-19B9-B0FA564ED1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70EBC7F-F845-9ADF-A4C1-7D566B57B17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B0B3200A-FD9D-2D26-35E2-1D4DBE86D70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663A7D25-F234-6DDD-4673-29B2AFDE62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11A73-851F-4AB9-9124-DFC91A9DB165}" type="datetimeFigureOut">
              <a:rPr lang="ru-RU" smtClean="0"/>
              <a:t>04.06.2026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5918FF3F-5105-C091-5D2D-6D0E46AF4B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F1724460-A5F6-203B-33A8-24247E84A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9FF4E1-6D5E-4E01-99C8-F7DDCC28169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336189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286A887-B8B5-ED96-ABE6-7EB3BB1A02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A70693A2-4098-7A00-AF45-206C966E1B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11A73-851F-4AB9-9124-DFC91A9DB165}" type="datetimeFigureOut">
              <a:rPr lang="ru-RU" smtClean="0"/>
              <a:t>04.06.2026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0B4D88A9-DC34-7D73-4382-883830DFB1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5DDE3EE5-4FF9-C706-D12E-DEB055B354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9FF4E1-6D5E-4E01-99C8-F7DDCC28169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173842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63CBDB28-37DC-2F12-C0C5-9660B7CDBF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11A73-851F-4AB9-9124-DFC91A9DB165}" type="datetimeFigureOut">
              <a:rPr lang="ru-RU" smtClean="0"/>
              <a:t>04.06.2026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39B7C4A-DA23-84B7-3EC2-2604B52884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57681A9-22E0-5E06-CEDD-DC0E46ECB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9FF4E1-6D5E-4E01-99C8-F7DDCC28169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41978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FC1E48D-9150-9B70-614F-98BBF693C6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C58C948-FF4D-E038-A5E7-26DB23EC37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9479FDE6-EEB6-FEF7-B10B-BA73912A95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675CA86-718E-A76F-6144-770C71E4EC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11A73-851F-4AB9-9124-DFC91A9DB165}" type="datetimeFigureOut">
              <a:rPr lang="ru-RU" smtClean="0"/>
              <a:t>04.06.2026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E5348D2-4667-646F-F29C-AC72630F9E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95608ED-7429-070E-41D1-876446B580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9FF4E1-6D5E-4E01-99C8-F7DDCC28169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293572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1F8CE69-89BB-94C4-D2E9-8CE6E49F98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DC47B682-3305-818C-58AF-D660F7D243C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00CE882-7B61-FE0A-D9C7-10DF0FA910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3164D2A-B294-D5E4-380F-031D720367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11A73-851F-4AB9-9124-DFC91A9DB165}" type="datetimeFigureOut">
              <a:rPr lang="ru-RU" smtClean="0"/>
              <a:t>04.06.2026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6952D1E1-775C-1ECC-F2B5-62E7B29890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C7CA77D-A94F-3058-0874-7620B98B25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9FF4E1-6D5E-4E01-99C8-F7DDCC28169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22973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B87B016-E0A2-FD59-9492-1A3FE6D655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1E000EDE-56D3-F434-BE7A-1D30D8206C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E64B2EB-B40D-6111-D039-0B80E96CDB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11A73-851F-4AB9-9124-DFC91A9DB165}" type="datetimeFigureOut">
              <a:rPr lang="ru-RU" smtClean="0"/>
              <a:t>04.06.2026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9113B9C-49D7-F121-C150-1B1A4F8C9D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99BC5F1-CAE6-ED54-4F61-AA2FA7BAB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9FF4E1-6D5E-4E01-99C8-F7DDCC28169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067972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3AE1CE18-0A6E-B327-EB3D-97E08734974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F3EBE083-3103-97D0-9828-84A85BBE4A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34754D7-2D64-9BE2-1425-F85355B562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11A73-851F-4AB9-9124-DFC91A9DB165}" type="datetimeFigureOut">
              <a:rPr lang="ru-RU" smtClean="0"/>
              <a:t>04.06.2026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D34B0AE-9AFA-1DEB-2D00-4E5ED8A879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91CA0A7-31B1-BAF0-4F61-56A58678D5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9FF4E1-6D5E-4E01-99C8-F7DDCC28169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942695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65B15DC-FBD2-5656-AEA5-97F54761D5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8952FC0-D0BA-DF0C-F72B-F69FCA7FF7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D50FB97-73D0-C390-B0F9-6741026F10F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C11A73-851F-4AB9-9124-DFC91A9DB165}" type="datetimeFigureOut">
              <a:rPr lang="ru-RU" smtClean="0"/>
              <a:t>04.06.2026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114AE30-1B6B-CA22-1568-C85980F451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1D83B2D-4520-B769-061B-E6915B0B33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99FF4E1-6D5E-4E01-99C8-F7DDCC28169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895684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datasets/jayjoshi37/sleep-screen-time-and-stress-analysis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datasets/yuriykatser/skoltech-anomaly-benchmark-skab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A6AB19F8-85AC-0BC8-7B6A-C6F5F270F79D}"/>
              </a:ext>
            </a:extLst>
          </p:cNvPr>
          <p:cNvSpPr/>
          <p:nvPr/>
        </p:nvSpPr>
        <p:spPr>
          <a:xfrm>
            <a:off x="-246746" y="-220648"/>
            <a:ext cx="12685487" cy="7299296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50000"/>
                  <a:lumOff val="50000"/>
                </a:schemeClr>
              </a:gs>
              <a:gs pos="100000">
                <a:schemeClr val="tx1">
                  <a:lumMod val="95000"/>
                  <a:lumOff val="5000"/>
                </a:schemeClr>
              </a:gs>
              <a:gs pos="50000">
                <a:schemeClr val="tx2">
                  <a:lumMod val="90000"/>
                  <a:lumOff val="10000"/>
                </a:schemeClr>
              </a:gs>
            </a:gsLst>
            <a:lin ang="16200000" scaled="0"/>
            <a:tileRect/>
          </a:gra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33F6398D-60A1-76AD-0688-84AC3DC6B0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4946" y="281312"/>
            <a:ext cx="11262101" cy="1655762"/>
          </a:xfrm>
        </p:spPr>
        <p:txBody>
          <a:bodyPr>
            <a:normAutofit fontScale="92500" lnSpcReduction="10000"/>
          </a:bodyPr>
          <a:lstStyle/>
          <a:p>
            <a:r>
              <a:rPr lang="ru-RU" sz="170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МИНИСТЕРСТВО НАУКИ И ВЫСШЕГО ОБРАЗОВАНИЯ РОССИЙСКОЙ ФЕДЕРАЦИИ</a:t>
            </a:r>
          </a:p>
          <a:p>
            <a:r>
              <a:rPr lang="ru-RU" sz="170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Федеральное государственное автономное образовательное учреждение высшего образования</a:t>
            </a:r>
          </a:p>
          <a:p>
            <a:r>
              <a:rPr lang="ru-RU" sz="170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«</a:t>
            </a:r>
            <a:r>
              <a:rPr lang="ru-RU" sz="1700" dirty="0" err="1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Южно</a:t>
            </a:r>
            <a:r>
              <a:rPr lang="ru-RU" sz="170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–Уральский государственный университет (национальный исследовательский университет)»</a:t>
            </a:r>
            <a:endParaRPr lang="en-CA" sz="1700" dirty="0">
              <a:solidFill>
                <a:schemeClr val="bg1">
                  <a:lumMod val="8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ru-RU" sz="170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Институт естественных и точных наук</a:t>
            </a:r>
          </a:p>
          <a:p>
            <a:r>
              <a:rPr lang="ru-RU" sz="170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Центр «</a:t>
            </a:r>
            <a:r>
              <a:rPr lang="ru-RU" sz="1700" dirty="0" err="1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ВиртУм</a:t>
            </a:r>
            <a:r>
              <a:rPr lang="ru-RU" sz="170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»</a:t>
            </a:r>
          </a:p>
          <a:p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BBFD47E-561E-0900-A0D4-7C73B134E194}"/>
              </a:ext>
            </a:extLst>
          </p:cNvPr>
          <p:cNvSpPr txBox="1"/>
          <p:nvPr/>
        </p:nvSpPr>
        <p:spPr>
          <a:xfrm>
            <a:off x="651248" y="1937074"/>
            <a:ext cx="1088949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  <a:latin typeface="Arial Black" panose="020B0A04020102020204" pitchFamily="34" charset="0"/>
              </a:rPr>
              <a:t>Поиск и первичный анализ наборов данных </a:t>
            </a:r>
            <a:br>
              <a:rPr lang="ru-RU" sz="2800" dirty="0">
                <a:solidFill>
                  <a:schemeClr val="bg1"/>
                </a:solidFill>
                <a:latin typeface="Arial Black" panose="020B0A04020102020204" pitchFamily="34" charset="0"/>
              </a:rPr>
            </a:br>
            <a:r>
              <a:rPr lang="ru-RU" sz="2800" dirty="0">
                <a:solidFill>
                  <a:schemeClr val="bg1"/>
                </a:solidFill>
                <a:latin typeface="Arial Black" panose="020B0A04020102020204" pitchFamily="34" charset="0"/>
              </a:rPr>
              <a:t>по различным областям применения</a:t>
            </a:r>
          </a:p>
        </p:txBody>
      </p:sp>
      <p:sp>
        <p:nvSpPr>
          <p:cNvPr id="8" name="Подзаголовок 5">
            <a:extLst>
              <a:ext uri="{FF2B5EF4-FFF2-40B4-BE49-F238E27FC236}">
                <a16:creationId xmlns:a16="http://schemas.microsoft.com/office/drawing/2014/main" id="{9C3422C1-D2EB-47E1-7E58-018B735CE50A}"/>
              </a:ext>
            </a:extLst>
          </p:cNvPr>
          <p:cNvSpPr txBox="1">
            <a:spLocks/>
          </p:cNvSpPr>
          <p:nvPr/>
        </p:nvSpPr>
        <p:spPr>
          <a:xfrm>
            <a:off x="4199048" y="2839664"/>
            <a:ext cx="3793894" cy="56592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ru-RU" altLang="zh-CN" sz="160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09.03.04 «Программная инженерия»</a:t>
            </a:r>
          </a:p>
        </p:txBody>
      </p:sp>
      <p:sp>
        <p:nvSpPr>
          <p:cNvPr id="9" name="Текст 7">
            <a:extLst>
              <a:ext uri="{FF2B5EF4-FFF2-40B4-BE49-F238E27FC236}">
                <a16:creationId xmlns:a16="http://schemas.microsoft.com/office/drawing/2014/main" id="{5506FDE5-FCFD-B58B-DD71-E6098F48FC18}"/>
              </a:ext>
            </a:extLst>
          </p:cNvPr>
          <p:cNvSpPr txBox="1">
            <a:spLocks/>
          </p:cNvSpPr>
          <p:nvPr/>
        </p:nvSpPr>
        <p:spPr>
          <a:xfrm>
            <a:off x="8398106" y="3429000"/>
            <a:ext cx="3793894" cy="25329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160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Научный руководитель:</a:t>
            </a:r>
          </a:p>
          <a:p>
            <a:pPr algn="l"/>
            <a:r>
              <a:rPr lang="ru-RU" sz="1600" dirty="0" err="1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к.ф</a:t>
            </a:r>
            <a:r>
              <a:rPr lang="ru-RU" sz="160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.–</a:t>
            </a:r>
            <a:r>
              <a:rPr lang="ru-RU" sz="1600" dirty="0" err="1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м.н</a:t>
            </a:r>
            <a:r>
              <a:rPr lang="ru-RU" sz="160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., доцент центра «</a:t>
            </a:r>
            <a:r>
              <a:rPr lang="ru-RU" sz="1600" dirty="0" err="1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ВиртУм</a:t>
            </a:r>
            <a:r>
              <a:rPr lang="ru-RU" sz="160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»</a:t>
            </a:r>
            <a:r>
              <a:rPr lang="ru-RU" altLang="zh-CN" sz="160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br>
              <a:rPr lang="ru-RU" altLang="zh-CN" sz="160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ru-RU" sz="160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Я. А. Краева</a:t>
            </a:r>
          </a:p>
          <a:p>
            <a:pPr algn="l"/>
            <a:endParaRPr lang="ru-RU" altLang="zh-CN" sz="1600" dirty="0">
              <a:solidFill>
                <a:schemeClr val="bg1">
                  <a:lumMod val="8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>
              <a:spcBef>
                <a:spcPct val="0"/>
              </a:spcBef>
              <a:defRPr/>
            </a:pPr>
            <a:r>
              <a:rPr lang="ru-RU" altLang="zh-CN" sz="160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Автор:</a:t>
            </a:r>
          </a:p>
          <a:p>
            <a:pPr algn="l">
              <a:spcBef>
                <a:spcPct val="0"/>
              </a:spcBef>
              <a:defRPr/>
            </a:pPr>
            <a:r>
              <a:rPr lang="ru-RU" altLang="zh-CN" sz="160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студент группы ЕТ–141</a:t>
            </a:r>
          </a:p>
          <a:p>
            <a:pPr algn="l">
              <a:spcBef>
                <a:spcPct val="0"/>
              </a:spcBef>
              <a:defRPr/>
            </a:pPr>
            <a:r>
              <a:rPr lang="ru-RU" sz="160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В. А. Бобыкин</a:t>
            </a:r>
          </a:p>
        </p:txBody>
      </p:sp>
      <p:sp>
        <p:nvSpPr>
          <p:cNvPr id="13" name="Дата 6">
            <a:extLst>
              <a:ext uri="{FF2B5EF4-FFF2-40B4-BE49-F238E27FC236}">
                <a16:creationId xmlns:a16="http://schemas.microsoft.com/office/drawing/2014/main" id="{89FBBBC7-0066-0F54-9D37-F53D3EB0022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136566" y="6394125"/>
            <a:ext cx="3918858" cy="365125"/>
          </a:xfrm>
        </p:spPr>
        <p:txBody>
          <a:bodyPr/>
          <a:lstStyle/>
          <a:p>
            <a:pPr algn="ctr">
              <a:defRPr/>
            </a:pPr>
            <a:r>
              <a:rPr lang="ru-RU" altLang="zh-CN" sz="1600" dirty="0">
                <a:solidFill>
                  <a:schemeClr val="bg1">
                    <a:lumMod val="8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Челябинск, 2026 г.</a:t>
            </a:r>
          </a:p>
        </p:txBody>
      </p:sp>
    </p:spTree>
    <p:extLst>
      <p:ext uri="{BB962C8B-B14F-4D97-AF65-F5344CB8AC3E}">
        <p14:creationId xmlns:p14="http://schemas.microsoft.com/office/powerpoint/2010/main" val="40681428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896186-33FE-D848-1A8E-943C33CC66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05BC23B4-0947-834F-1BA6-6F40FDC5E7DA}"/>
              </a:ext>
            </a:extLst>
          </p:cNvPr>
          <p:cNvSpPr/>
          <p:nvPr/>
        </p:nvSpPr>
        <p:spPr>
          <a:xfrm>
            <a:off x="-246746" y="-220648"/>
            <a:ext cx="12685487" cy="7299296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50000"/>
                  <a:lumOff val="50000"/>
                </a:schemeClr>
              </a:gs>
              <a:gs pos="75000">
                <a:srgbClr val="122639"/>
              </a:gs>
              <a:gs pos="100000">
                <a:schemeClr val="tx1">
                  <a:lumMod val="95000"/>
                  <a:lumOff val="5000"/>
                </a:schemeClr>
              </a:gs>
              <a:gs pos="50000">
                <a:schemeClr val="tx2">
                  <a:lumMod val="90000"/>
                  <a:lumOff val="10000"/>
                </a:schemeClr>
              </a:gs>
            </a:gsLst>
            <a:lin ang="15600000" scaled="0"/>
            <a:tileRect/>
          </a:gra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638EAAF-1ECE-B927-EFF3-4366B45EFD4E}"/>
              </a:ext>
            </a:extLst>
          </p:cNvPr>
          <p:cNvSpPr txBox="1"/>
          <p:nvPr/>
        </p:nvSpPr>
        <p:spPr>
          <a:xfrm>
            <a:off x="651247" y="232100"/>
            <a:ext cx="10889495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kumimoji="0" lang="ru-RU" sz="280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Arial Black" panose="020B0A04020102020204" pitchFamily="34" charset="0"/>
                <a:ea typeface="+mj-ea"/>
                <a:cs typeface="+mj-cs"/>
              </a:rPr>
              <a:t>Актуальность: необходимость первичного анализа</a:t>
            </a:r>
            <a:endParaRPr lang="ru-RU" sz="2000" dirty="0">
              <a:solidFill>
                <a:schemeClr val="bg1">
                  <a:lumMod val="8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13" name="Дата 6">
            <a:extLst>
              <a:ext uri="{FF2B5EF4-FFF2-40B4-BE49-F238E27FC236}">
                <a16:creationId xmlns:a16="http://schemas.microsoft.com/office/drawing/2014/main" id="{8FC6E632-BAC9-95D7-9673-18C8824ADC2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280316" y="6284083"/>
            <a:ext cx="892634" cy="463875"/>
          </a:xfrm>
        </p:spPr>
        <p:txBody>
          <a:bodyPr/>
          <a:lstStyle/>
          <a:p>
            <a:pPr algn="ctr">
              <a:defRPr/>
            </a:pPr>
            <a:fld id="{D063FBCF-7873-4A49-B36C-1F912BB77786}" type="slidenum">
              <a:rPr lang="ru-RU" altLang="ru-RU" sz="2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ctr">
                <a:defRPr/>
              </a:pPr>
              <a:t>2</a:t>
            </a:fld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/13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ACD6188E-386C-1164-CAE9-40656CAAA09C}"/>
              </a:ext>
            </a:extLst>
          </p:cNvPr>
          <p:cNvSpPr/>
          <p:nvPr/>
        </p:nvSpPr>
        <p:spPr>
          <a:xfrm>
            <a:off x="-476262" y="937951"/>
            <a:ext cx="13144512" cy="5201601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Дата 6">
            <a:extLst>
              <a:ext uri="{FF2B5EF4-FFF2-40B4-BE49-F238E27FC236}">
                <a16:creationId xmlns:a16="http://schemas.microsoft.com/office/drawing/2014/main" id="{3AE06DB1-5F52-AED9-DDCC-16D43A72EB92}"/>
              </a:ext>
            </a:extLst>
          </p:cNvPr>
          <p:cNvSpPr txBox="1">
            <a:spLocks/>
          </p:cNvSpPr>
          <p:nvPr/>
        </p:nvSpPr>
        <p:spPr>
          <a:xfrm>
            <a:off x="38100" y="6284084"/>
            <a:ext cx="7785187" cy="463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Курсовой проект «Поиск и первичный анализ наборов данных»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B2780F8-0F97-67B1-126C-E14B70CDD0AE}"/>
              </a:ext>
            </a:extLst>
          </p:cNvPr>
          <p:cNvSpPr txBox="1"/>
          <p:nvPr/>
        </p:nvSpPr>
        <p:spPr>
          <a:xfrm>
            <a:off x="586665" y="1114754"/>
            <a:ext cx="11018658" cy="48479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  <a:buNone/>
            </a:pPr>
            <a:r>
              <a:rPr lang="ru-RU" sz="16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Технологии искусственного интеллекта применяются в медицине, финансах, транспорте и промышленности. Однако качество работы ИИ–модели напрямую зависит от качества данных, на которых она обучается. Как отмечается </a:t>
            </a:r>
            <a:r>
              <a:rPr lang="ru-RU" sz="1600" dirty="0">
                <a:solidFill>
                  <a:srgbClr val="F9FAF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</a:t>
            </a:r>
            <a:r>
              <a:rPr lang="ru-RU" sz="16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исследовании</a:t>
            </a:r>
            <a:r>
              <a:rPr lang="ru-RU" sz="1600" dirty="0">
                <a:solidFill>
                  <a:srgbClr val="F9FAF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</a:t>
            </a:r>
            <a:r>
              <a:rPr lang="en-CA" sz="1600" dirty="0" err="1">
                <a:solidFill>
                  <a:srgbClr val="F9FAF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edir</a:t>
            </a:r>
            <a:r>
              <a:rPr lang="ru-RU" sz="16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600" i="0" dirty="0" err="1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Mohammed</a:t>
            </a:r>
            <a:r>
              <a:rPr lang="ru-RU" sz="16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(2025) на примере данных о клиентах телеком–компании изучено, как дефекты данных влияют на точность прогнозов. Основные выводы:</a:t>
            </a:r>
          </a:p>
          <a:p>
            <a:pPr algn="just">
              <a:lnSpc>
                <a:spcPct val="150000"/>
              </a:lnSpc>
              <a:buNone/>
            </a:pPr>
            <a:endParaRPr lang="ru-RU" sz="1600" i="0" dirty="0">
              <a:solidFill>
                <a:srgbClr val="F9FAFB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00100" lvl="1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6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	Пропуски в данных: при отсутствии более половины значений модель перестаёт работать.</a:t>
            </a:r>
          </a:p>
          <a:p>
            <a:pPr marL="800100" lvl="1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ru-RU" sz="1600" i="0" dirty="0">
              <a:solidFill>
                <a:srgbClr val="F9FAFB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00100" lvl="1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6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	Ошибки в целевой переменной: при 20% неверных меток точность падает на 10%.</a:t>
            </a:r>
          </a:p>
          <a:p>
            <a:pPr marL="800100" lvl="1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ru-RU" sz="1600" i="0" dirty="0">
              <a:solidFill>
                <a:srgbClr val="F9FAFB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00100" lvl="1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6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	Нарушение форматов и дубликаты почти не влияют на результат.</a:t>
            </a:r>
          </a:p>
          <a:p>
            <a:pPr marL="800100" lvl="1" indent="-34290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ru-RU" sz="1600" i="0" dirty="0">
              <a:solidFill>
                <a:srgbClr val="F9FAFB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lnSpc>
                <a:spcPct val="150000"/>
              </a:lnSpc>
              <a:buNone/>
            </a:pPr>
            <a:r>
              <a:rPr lang="ru-RU" sz="16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 итоге предварительный анализ и оценка качества данных являются обязательным этапом перед построением любой ИИ–модели.</a:t>
            </a:r>
          </a:p>
        </p:txBody>
      </p:sp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6EF93C17-1DC7-8864-8777-65F03C064F5F}"/>
              </a:ext>
            </a:extLst>
          </p:cNvPr>
          <p:cNvSpPr/>
          <p:nvPr/>
        </p:nvSpPr>
        <p:spPr>
          <a:xfrm>
            <a:off x="586665" y="2917371"/>
            <a:ext cx="11018658" cy="511629"/>
          </a:xfrm>
          <a:prstGeom prst="round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Прямоугольник: скругленные углы 2">
            <a:extLst>
              <a:ext uri="{FF2B5EF4-FFF2-40B4-BE49-F238E27FC236}">
                <a16:creationId xmlns:a16="http://schemas.microsoft.com/office/drawing/2014/main" id="{6E76C744-C799-7037-B455-C40BE47FA59E}"/>
              </a:ext>
            </a:extLst>
          </p:cNvPr>
          <p:cNvSpPr/>
          <p:nvPr/>
        </p:nvSpPr>
        <p:spPr>
          <a:xfrm>
            <a:off x="586665" y="3686222"/>
            <a:ext cx="11018658" cy="511629"/>
          </a:xfrm>
          <a:prstGeom prst="round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649784E2-C2BF-0A0D-49FB-F2EFFBA82D0C}"/>
              </a:ext>
            </a:extLst>
          </p:cNvPr>
          <p:cNvSpPr/>
          <p:nvPr/>
        </p:nvSpPr>
        <p:spPr>
          <a:xfrm>
            <a:off x="586665" y="4425046"/>
            <a:ext cx="11018658" cy="511629"/>
          </a:xfrm>
          <a:prstGeom prst="round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815960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64E0BB-0F8D-1C17-9109-908BC290D2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9C3D35F0-E6B7-E111-79CD-4FC4074EE3B0}"/>
              </a:ext>
            </a:extLst>
          </p:cNvPr>
          <p:cNvSpPr/>
          <p:nvPr/>
        </p:nvSpPr>
        <p:spPr>
          <a:xfrm>
            <a:off x="-246746" y="-220648"/>
            <a:ext cx="12685487" cy="7299296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50000"/>
                  <a:lumOff val="50000"/>
                </a:schemeClr>
              </a:gs>
              <a:gs pos="75000">
                <a:srgbClr val="122639"/>
              </a:gs>
              <a:gs pos="100000">
                <a:schemeClr val="tx1">
                  <a:lumMod val="95000"/>
                  <a:lumOff val="5000"/>
                </a:schemeClr>
              </a:gs>
              <a:gs pos="50000">
                <a:schemeClr val="tx2">
                  <a:lumMod val="90000"/>
                  <a:lumOff val="10000"/>
                </a:schemeClr>
              </a:gs>
            </a:gsLst>
            <a:lin ang="15000000" scaled="0"/>
            <a:tileRect/>
          </a:gra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AEF8EA-CD73-4442-1304-4BF4905F94EB}"/>
              </a:ext>
            </a:extLst>
          </p:cNvPr>
          <p:cNvSpPr txBox="1"/>
          <p:nvPr/>
        </p:nvSpPr>
        <p:spPr>
          <a:xfrm>
            <a:off x="651247" y="232100"/>
            <a:ext cx="10889495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Табличные данные: задача и описание данных</a:t>
            </a:r>
            <a:endParaRPr lang="ru-RU" sz="2000" dirty="0">
              <a:solidFill>
                <a:schemeClr val="bg1"/>
              </a:solidFill>
              <a:latin typeface="Arial Black" panose="020B0A040201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Дата 6">
            <a:extLst>
              <a:ext uri="{FF2B5EF4-FFF2-40B4-BE49-F238E27FC236}">
                <a16:creationId xmlns:a16="http://schemas.microsoft.com/office/drawing/2014/main" id="{2228C747-96CA-8B98-8936-6A5A3972900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280316" y="6284083"/>
            <a:ext cx="892634" cy="463875"/>
          </a:xfrm>
        </p:spPr>
        <p:txBody>
          <a:bodyPr/>
          <a:lstStyle/>
          <a:p>
            <a:pPr algn="ctr">
              <a:defRPr/>
            </a:pPr>
            <a:fld id="{D063FBCF-7873-4A49-B36C-1F912BB77786}" type="slidenum">
              <a:rPr lang="ru-RU" altLang="ru-RU" sz="2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ctr">
                <a:defRPr/>
              </a:pPr>
              <a:t>3</a:t>
            </a:fld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/13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084EB758-3A46-FAA5-4C5D-D028FC441330}"/>
              </a:ext>
            </a:extLst>
          </p:cNvPr>
          <p:cNvSpPr/>
          <p:nvPr/>
        </p:nvSpPr>
        <p:spPr>
          <a:xfrm>
            <a:off x="-476262" y="937951"/>
            <a:ext cx="13144512" cy="5201601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Дата 6">
            <a:extLst>
              <a:ext uri="{FF2B5EF4-FFF2-40B4-BE49-F238E27FC236}">
                <a16:creationId xmlns:a16="http://schemas.microsoft.com/office/drawing/2014/main" id="{5A9B5C19-9070-9C51-0886-025C1A66E53E}"/>
              </a:ext>
            </a:extLst>
          </p:cNvPr>
          <p:cNvSpPr txBox="1">
            <a:spLocks/>
          </p:cNvSpPr>
          <p:nvPr/>
        </p:nvSpPr>
        <p:spPr>
          <a:xfrm>
            <a:off x="38100" y="6284084"/>
            <a:ext cx="7785187" cy="463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Курсовой проект «Поиск и первичный анализ наборов данных»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B4F3D47-7B13-CD29-1D96-D00C32120C15}"/>
              </a:ext>
            </a:extLst>
          </p:cNvPr>
          <p:cNvSpPr txBox="1"/>
          <p:nvPr/>
        </p:nvSpPr>
        <p:spPr>
          <a:xfrm>
            <a:off x="413651" y="981929"/>
            <a:ext cx="11364686" cy="51136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000" b="1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Задача:</a:t>
            </a: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Прогнозирование уровня стресса, качества сна </a:t>
            </a:r>
          </a:p>
          <a:p>
            <a:pPr algn="just">
              <a:lnSpc>
                <a:spcPct val="150000"/>
              </a:lnSpc>
            </a:pP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и умственной усталости по поведенческим факторам </a:t>
            </a:r>
          </a:p>
          <a:p>
            <a:pPr algn="just">
              <a:lnSpc>
                <a:spcPct val="150000"/>
              </a:lnSpc>
            </a:pP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(возраст, пол, профессия, экранное время, кофеин, </a:t>
            </a:r>
          </a:p>
          <a:p>
            <a:pPr algn="just">
              <a:lnSpc>
                <a:spcPct val="150000"/>
              </a:lnSpc>
            </a:pP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физическая активность, уведомления)</a:t>
            </a:r>
          </a:p>
          <a:p>
            <a:pPr algn="just">
              <a:lnSpc>
                <a:spcPct val="150000"/>
              </a:lnSpc>
            </a:pPr>
            <a:r>
              <a:rPr lang="ru-RU" sz="2000" b="1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Набор данных:</a:t>
            </a:r>
            <a:endParaRPr lang="ru-RU" sz="2000" i="0" dirty="0">
              <a:solidFill>
                <a:srgbClr val="F9FAFB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lvl="2" indent="432000" algn="just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Название, источник: </a:t>
            </a:r>
            <a:r>
              <a:rPr lang="ru-RU" sz="2000" i="0" dirty="0" err="1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Sleep</a:t>
            </a: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ru-RU" sz="2000" i="0" dirty="0" err="1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Screen</a:t>
            </a: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Time </a:t>
            </a:r>
            <a:r>
              <a:rPr lang="ru-RU" sz="2000" i="0" dirty="0" err="1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000" i="0" dirty="0" err="1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Stress</a:t>
            </a: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Analysis, </a:t>
            </a:r>
            <a:r>
              <a:rPr lang="ru-RU" sz="2000" i="0" dirty="0" err="1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Kaggle</a:t>
            </a:r>
            <a:endParaRPr lang="ru-RU" sz="2000" i="0" dirty="0">
              <a:solidFill>
                <a:srgbClr val="F9FAFB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lvl="2" indent="432000" algn="just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URL:</a:t>
            </a:r>
            <a:r>
              <a:rPr lang="ru-RU" sz="2000" i="0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ru-RU" sz="2000" i="0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https://www.kaggle.com/datasets/jayjoshi37/sleep–screen–time–and–stress–analysis</a:t>
            </a:r>
            <a:endParaRPr lang="ru-RU" sz="2000" i="0" dirty="0">
              <a:solidFill>
                <a:schemeClr val="bg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lvl="2" indent="432000" algn="just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Автор: </a:t>
            </a:r>
            <a:r>
              <a:rPr lang="ru-RU" sz="2000" i="0" dirty="0" err="1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Jay</a:t>
            </a: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000" i="0" dirty="0" err="1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Joshi</a:t>
            </a: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2026 г.</a:t>
            </a:r>
          </a:p>
          <a:p>
            <a:pPr marL="457200" lvl="2" indent="432000" algn="just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Описание: синтетические данные о сне, экранном времени и уровне стресса</a:t>
            </a:r>
          </a:p>
          <a:p>
            <a:pPr marL="457200" lvl="2" indent="432000" algn="just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Размерность: 15 000 объектов, 13 признаков (3 целевых)</a:t>
            </a:r>
          </a:p>
          <a:p>
            <a:pPr marL="457200" lvl="2" indent="432000" algn="just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2000" dirty="0">
                <a:solidFill>
                  <a:srgbClr val="F9FAF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Целевые признаки: уровень стресса, качество сна, умственная усталость</a:t>
            </a:r>
            <a:endParaRPr lang="ru-RU" sz="2000" i="0" dirty="0">
              <a:solidFill>
                <a:srgbClr val="F9FAFB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Рисунок 3" descr="Влияние гаджетов на сон">
            <a:extLst>
              <a:ext uri="{FF2B5EF4-FFF2-40B4-BE49-F238E27FC236}">
                <a16:creationId xmlns:a16="http://schemas.microsoft.com/office/drawing/2014/main" id="{9B3EA208-06E5-84BC-2F5B-65E4936EDC02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0000"/>
          </a:blip>
          <a:stretch>
            <a:fillRect/>
          </a:stretch>
        </p:blipFill>
        <p:spPr>
          <a:xfrm>
            <a:off x="8069943" y="981929"/>
            <a:ext cx="3598633" cy="2400886"/>
          </a:xfrm>
          <a:prstGeom prst="rect">
            <a:avLst/>
          </a:prstGeom>
          <a:effectLst>
            <a:softEdge rad="63500"/>
          </a:effectLst>
        </p:spPr>
      </p:pic>
    </p:spTree>
    <p:extLst>
      <p:ext uri="{BB962C8B-B14F-4D97-AF65-F5344CB8AC3E}">
        <p14:creationId xmlns:p14="http://schemas.microsoft.com/office/powerpoint/2010/main" val="17071176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28C5D-FBDD-67D8-989D-ACE93A14C7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619678CD-680C-4AA5-B4A9-306DCA108AF1}"/>
              </a:ext>
            </a:extLst>
          </p:cNvPr>
          <p:cNvSpPr/>
          <p:nvPr/>
        </p:nvSpPr>
        <p:spPr>
          <a:xfrm>
            <a:off x="-246746" y="-220648"/>
            <a:ext cx="12685487" cy="7299296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50000"/>
                  <a:lumOff val="50000"/>
                </a:schemeClr>
              </a:gs>
              <a:gs pos="75000">
                <a:srgbClr val="122639"/>
              </a:gs>
              <a:gs pos="100000">
                <a:schemeClr val="tx1">
                  <a:lumMod val="95000"/>
                  <a:lumOff val="5000"/>
                </a:schemeClr>
              </a:gs>
              <a:gs pos="50000">
                <a:schemeClr val="tx2">
                  <a:lumMod val="90000"/>
                  <a:lumOff val="10000"/>
                </a:schemeClr>
              </a:gs>
            </a:gsLst>
            <a:lin ang="14400000" scaled="0"/>
            <a:tileRect/>
          </a:gra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06837DC-A132-5658-D331-CDB7ADB99ACA}"/>
              </a:ext>
            </a:extLst>
          </p:cNvPr>
          <p:cNvSpPr txBox="1"/>
          <p:nvPr/>
        </p:nvSpPr>
        <p:spPr>
          <a:xfrm>
            <a:off x="651247" y="232100"/>
            <a:ext cx="10889495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Табличные данные: атрибуты</a:t>
            </a:r>
          </a:p>
        </p:txBody>
      </p:sp>
      <p:sp>
        <p:nvSpPr>
          <p:cNvPr id="13" name="Дата 6">
            <a:extLst>
              <a:ext uri="{FF2B5EF4-FFF2-40B4-BE49-F238E27FC236}">
                <a16:creationId xmlns:a16="http://schemas.microsoft.com/office/drawing/2014/main" id="{30C53E0F-1BB8-9602-6898-8FCD1F33C4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280316" y="6284083"/>
            <a:ext cx="892634" cy="463875"/>
          </a:xfrm>
        </p:spPr>
        <p:txBody>
          <a:bodyPr/>
          <a:lstStyle/>
          <a:p>
            <a:pPr algn="ctr">
              <a:defRPr/>
            </a:pPr>
            <a:fld id="{D063FBCF-7873-4A49-B36C-1F912BB77786}" type="slidenum">
              <a:rPr lang="ru-RU" altLang="ru-RU" sz="2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ctr">
                <a:defRPr/>
              </a:pPr>
              <a:t>4</a:t>
            </a:fld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/13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E9A75A88-F9EF-7C09-1A94-183C0D246603}"/>
              </a:ext>
            </a:extLst>
          </p:cNvPr>
          <p:cNvSpPr/>
          <p:nvPr/>
        </p:nvSpPr>
        <p:spPr>
          <a:xfrm>
            <a:off x="-476262" y="937951"/>
            <a:ext cx="13144512" cy="5201601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Дата 6">
            <a:extLst>
              <a:ext uri="{FF2B5EF4-FFF2-40B4-BE49-F238E27FC236}">
                <a16:creationId xmlns:a16="http://schemas.microsoft.com/office/drawing/2014/main" id="{8785677C-D908-6A7E-E810-9E16D4562026}"/>
              </a:ext>
            </a:extLst>
          </p:cNvPr>
          <p:cNvSpPr txBox="1">
            <a:spLocks/>
          </p:cNvSpPr>
          <p:nvPr/>
        </p:nvSpPr>
        <p:spPr>
          <a:xfrm>
            <a:off x="38100" y="6284084"/>
            <a:ext cx="7785187" cy="463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Курсовой проект «Поиск и первичный анализ наборов данных»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8" name="Таблица 7">
            <a:extLst>
              <a:ext uri="{FF2B5EF4-FFF2-40B4-BE49-F238E27FC236}">
                <a16:creationId xmlns:a16="http://schemas.microsoft.com/office/drawing/2014/main" id="{2258C6FE-AE95-85A7-551F-F2BF2F2092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370259"/>
              </p:ext>
            </p:extLst>
          </p:nvPr>
        </p:nvGraphicFramePr>
        <p:xfrm>
          <a:off x="393713" y="948802"/>
          <a:ext cx="5585899" cy="519074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0756">
                  <a:extLst>
                    <a:ext uri="{9D8B030D-6E8A-4147-A177-3AD203B41FA5}">
                      <a16:colId xmlns:a16="http://schemas.microsoft.com/office/drawing/2014/main" val="1015900073"/>
                    </a:ext>
                  </a:extLst>
                </a:gridCol>
                <a:gridCol w="1048931">
                  <a:extLst>
                    <a:ext uri="{9D8B030D-6E8A-4147-A177-3AD203B41FA5}">
                      <a16:colId xmlns:a16="http://schemas.microsoft.com/office/drawing/2014/main" val="452573460"/>
                    </a:ext>
                  </a:extLst>
                </a:gridCol>
                <a:gridCol w="1447800">
                  <a:extLst>
                    <a:ext uri="{9D8B030D-6E8A-4147-A177-3AD203B41FA5}">
                      <a16:colId xmlns:a16="http://schemas.microsoft.com/office/drawing/2014/main" val="2242938945"/>
                    </a:ext>
                  </a:extLst>
                </a:gridCol>
                <a:gridCol w="1460500">
                  <a:extLst>
                    <a:ext uri="{9D8B030D-6E8A-4147-A177-3AD203B41FA5}">
                      <a16:colId xmlns:a16="http://schemas.microsoft.com/office/drawing/2014/main" val="3697788141"/>
                    </a:ext>
                  </a:extLst>
                </a:gridCol>
                <a:gridCol w="1267912">
                  <a:extLst>
                    <a:ext uri="{9D8B030D-6E8A-4147-A177-3AD203B41FA5}">
                      <a16:colId xmlns:a16="http://schemas.microsoft.com/office/drawing/2014/main" val="138882774"/>
                    </a:ext>
                  </a:extLst>
                </a:gridCol>
              </a:tblGrid>
              <a:tr h="670179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№</a:t>
                      </a:r>
                    </a:p>
                  </a:txBody>
                  <a:tcPr marR="152400" marT="95250" marB="9525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Название</a:t>
                      </a:r>
                    </a:p>
                  </a:txBody>
                  <a:tcPr marL="152400" marR="152400" marT="95250" marB="9525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Семантика</a:t>
                      </a:r>
                    </a:p>
                  </a:txBody>
                  <a:tcPr marL="152400" marR="152400" marT="95250" marB="9525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Тип</a:t>
                      </a:r>
                    </a:p>
                  </a:txBody>
                  <a:tcPr marL="152400" marR="152400" marT="95250" marB="9525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Допустимые значения</a:t>
                      </a:r>
                    </a:p>
                  </a:txBody>
                  <a:tcPr marL="152400" marR="152400" marT="95250" marB="9525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5554565"/>
                  </a:ext>
                </a:extLst>
              </a:tr>
              <a:tr h="670179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R="152400" marT="95250" marB="9525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user_id</a:t>
                      </a:r>
                      <a:endParaRPr lang="ru-RU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400" marR="152400" marT="95250" marB="9525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Уникальный идентификатор</a:t>
                      </a:r>
                    </a:p>
                  </a:txBody>
                  <a:tcPr marL="152400" marR="152400" marT="95250" marB="9525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числовой</a:t>
                      </a:r>
                    </a:p>
                  </a:txBody>
                  <a:tcPr marL="152400" marR="152400" marT="95250" marB="9525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1–15 000</a:t>
                      </a:r>
                    </a:p>
                  </a:txBody>
                  <a:tcPr marL="152400" marT="95250" marB="9525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06226786"/>
                  </a:ext>
                </a:extLst>
              </a:tr>
              <a:tr h="420431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age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Возраст (лет)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числовой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18–59</a:t>
                      </a:r>
                    </a:p>
                  </a:txBody>
                  <a:tcPr marL="152400" marT="95250" marB="9525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268196"/>
                  </a:ext>
                </a:extLst>
              </a:tr>
              <a:tr h="670179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gender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Пол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категориальный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Female</a:t>
                      </a: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</a:t>
                      </a:r>
                      <a:r>
                        <a:rPr lang="ru-RU" sz="12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Male</a:t>
                      </a: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</a:t>
                      </a:r>
                      <a:r>
                        <a:rPr lang="ru-RU" sz="12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Other</a:t>
                      </a:r>
                      <a:endParaRPr lang="ru-RU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400" marT="95250" marB="9525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4573889"/>
                  </a:ext>
                </a:extLst>
              </a:tr>
              <a:tr h="670179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occupation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Профессия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категориальный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 значений</a:t>
                      </a:r>
                    </a:p>
                  </a:txBody>
                  <a:tcPr marL="152400" marT="95250" marB="9525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42517128"/>
                  </a:ext>
                </a:extLst>
              </a:tr>
              <a:tr h="919927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daily_screen_time</a:t>
                      </a: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_ </a:t>
                      </a:r>
                      <a:r>
                        <a:rPr lang="ru-RU" sz="12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hours</a:t>
                      </a:r>
                      <a:endParaRPr lang="ru-RU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Экранное время (ч)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числовой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1–10</a:t>
                      </a:r>
                    </a:p>
                  </a:txBody>
                  <a:tcPr marL="152400" marT="95250" marB="9525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8698193"/>
                  </a:ext>
                </a:extLst>
              </a:tr>
              <a:tr h="1169675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</a:t>
                      </a:r>
                    </a:p>
                  </a:txBody>
                  <a:tcPr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phone_usage_before_sleep</a:t>
                      </a: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_ </a:t>
                      </a:r>
                      <a:r>
                        <a:rPr lang="ru-RU" sz="12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minutes</a:t>
                      </a:r>
                      <a:endParaRPr lang="ru-RU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Телефон перед сном (мин)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числовой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0–119</a:t>
                      </a:r>
                    </a:p>
                  </a:txBody>
                  <a:tcPr marL="152400" marT="95250" marB="9525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32022475"/>
                  </a:ext>
                </a:extLst>
              </a:tr>
            </a:tbl>
          </a:graphicData>
        </a:graphic>
      </p:graphicFrame>
      <p:graphicFrame>
        <p:nvGraphicFramePr>
          <p:cNvPr id="9" name="Таблица 8">
            <a:extLst>
              <a:ext uri="{FF2B5EF4-FFF2-40B4-BE49-F238E27FC236}">
                <a16:creationId xmlns:a16="http://schemas.microsoft.com/office/drawing/2014/main" id="{E7C3D01E-8444-F4CC-3913-BE02D937BC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2133679"/>
              </p:ext>
            </p:extLst>
          </p:nvPr>
        </p:nvGraphicFramePr>
        <p:xfrm>
          <a:off x="6209121" y="948803"/>
          <a:ext cx="5651500" cy="520160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44500">
                  <a:extLst>
                    <a:ext uri="{9D8B030D-6E8A-4147-A177-3AD203B41FA5}">
                      <a16:colId xmlns:a16="http://schemas.microsoft.com/office/drawing/2014/main" val="586533814"/>
                    </a:ext>
                  </a:extLst>
                </a:gridCol>
                <a:gridCol w="1212850">
                  <a:extLst>
                    <a:ext uri="{9D8B030D-6E8A-4147-A177-3AD203B41FA5}">
                      <a16:colId xmlns:a16="http://schemas.microsoft.com/office/drawing/2014/main" val="3895204415"/>
                    </a:ext>
                  </a:extLst>
                </a:gridCol>
                <a:gridCol w="2001429">
                  <a:extLst>
                    <a:ext uri="{9D8B030D-6E8A-4147-A177-3AD203B41FA5}">
                      <a16:colId xmlns:a16="http://schemas.microsoft.com/office/drawing/2014/main" val="4246933073"/>
                    </a:ext>
                  </a:extLst>
                </a:gridCol>
                <a:gridCol w="1040221">
                  <a:extLst>
                    <a:ext uri="{9D8B030D-6E8A-4147-A177-3AD203B41FA5}">
                      <a16:colId xmlns:a16="http://schemas.microsoft.com/office/drawing/2014/main" val="4117556164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4035850811"/>
                    </a:ext>
                  </a:extLst>
                </a:gridCol>
              </a:tblGrid>
              <a:tr h="671155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</a:t>
                      </a: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sleep_duration_hours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Длительность сна (ч)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числовой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4–9</a:t>
                      </a:r>
                    </a:p>
                  </a:txBody>
                  <a:tcPr marL="152400" marT="95250" marB="952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01802282"/>
                  </a:ext>
                </a:extLst>
              </a:tr>
              <a:tr h="671155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</a:t>
                      </a:r>
                    </a:p>
                  </a:txBody>
                  <a:tcPr marR="152400" marT="95250" marB="95250" anchor="ctr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sleep_quality_score</a:t>
                      </a:r>
                    </a:p>
                  </a:txBody>
                  <a:tcPr marL="152400" marR="152400" marT="95250" marB="95250" anchor="ctr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Качество сна (1–10)</a:t>
                      </a:r>
                    </a:p>
                  </a:txBody>
                  <a:tcPr marL="152400" marR="152400" marT="95250" marB="95250" anchor="ctr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целевой</a:t>
                      </a:r>
                    </a:p>
                  </a:txBody>
                  <a:tcPr marL="152400" marR="152400" marT="95250" marB="95250" anchor="ctr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1–10</a:t>
                      </a:r>
                    </a:p>
                  </a:txBody>
                  <a:tcPr marL="152400" marT="95250" marB="95250" anchor="ctr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7519303"/>
                  </a:ext>
                </a:extLst>
              </a:tr>
              <a:tr h="421043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9</a:t>
                      </a:r>
                    </a:p>
                  </a:txBody>
                  <a:tcPr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stress_level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Уровень стресса (1–10)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целевой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1–10</a:t>
                      </a:r>
                    </a:p>
                  </a:txBody>
                  <a:tcPr marL="152400" marT="95250" marB="9525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34397231"/>
                  </a:ext>
                </a:extLst>
              </a:tr>
              <a:tr h="671155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</a:t>
                      </a:r>
                    </a:p>
                  </a:txBody>
                  <a:tcPr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caffeine_intake_cups</a:t>
                      </a:r>
                      <a:endParaRPr lang="ru-RU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Кофеин (чашек/день)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числовой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0–4</a:t>
                      </a:r>
                    </a:p>
                  </a:txBody>
                  <a:tcPr marL="152400" marT="95250" marB="9525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1077848"/>
                  </a:ext>
                </a:extLst>
              </a:tr>
              <a:tr h="671155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11</a:t>
                      </a:r>
                    </a:p>
                  </a:txBody>
                  <a:tcPr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physical_activity_minutes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Физ. активность (мин)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числовой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0–119</a:t>
                      </a:r>
                    </a:p>
                  </a:txBody>
                  <a:tcPr marL="152400" marT="95250" marB="9525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4439064"/>
                  </a:ext>
                </a:extLst>
              </a:tr>
              <a:tr h="921266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</a:t>
                      </a:r>
                    </a:p>
                  </a:txBody>
                  <a:tcPr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notifications_received_per_day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Уведомлений/день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числовой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20–299</a:t>
                      </a:r>
                    </a:p>
                  </a:txBody>
                  <a:tcPr marL="152400" marT="95250" marB="9525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99281645"/>
                  </a:ext>
                </a:extLst>
              </a:tr>
              <a:tr h="1174673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13</a:t>
                      </a:r>
                    </a:p>
                  </a:txBody>
                  <a:tcPr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mental_fatigue_score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Умственная усталость (1–10)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целевой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1–10</a:t>
                      </a:r>
                    </a:p>
                  </a:txBody>
                  <a:tcPr marL="152400" marT="95250" marB="9525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2423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149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1290A7-47A3-BE98-6B3D-89DC4D9834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51230294-BFA3-5210-06FB-841DA8C25385}"/>
              </a:ext>
            </a:extLst>
          </p:cNvPr>
          <p:cNvSpPr/>
          <p:nvPr/>
        </p:nvSpPr>
        <p:spPr>
          <a:xfrm>
            <a:off x="-246746" y="-220648"/>
            <a:ext cx="12685487" cy="7299296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50000"/>
                  <a:lumOff val="50000"/>
                </a:schemeClr>
              </a:gs>
              <a:gs pos="75000">
                <a:srgbClr val="122639"/>
              </a:gs>
              <a:gs pos="100000">
                <a:schemeClr val="tx1">
                  <a:lumMod val="95000"/>
                  <a:lumOff val="5000"/>
                </a:schemeClr>
              </a:gs>
              <a:gs pos="50000">
                <a:schemeClr val="tx2">
                  <a:lumMod val="90000"/>
                  <a:lumOff val="10000"/>
                </a:schemeClr>
              </a:gs>
            </a:gsLst>
            <a:lin ang="13800000" scaled="0"/>
            <a:tileRect/>
          </a:gra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137B58B9-295E-8ABC-C6F5-BC661F42C5EA}"/>
              </a:ext>
            </a:extLst>
          </p:cNvPr>
          <p:cNvSpPr/>
          <p:nvPr/>
        </p:nvSpPr>
        <p:spPr>
          <a:xfrm>
            <a:off x="-246746" y="-220648"/>
            <a:ext cx="12685487" cy="1312847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75000"/>
                  <a:lumOff val="25000"/>
                </a:schemeClr>
              </a:gs>
              <a:gs pos="75000">
                <a:srgbClr val="122639"/>
              </a:gs>
              <a:gs pos="100000">
                <a:schemeClr val="tx1">
                  <a:lumMod val="95000"/>
                  <a:lumOff val="5000"/>
                </a:schemeClr>
              </a:gs>
              <a:gs pos="43000">
                <a:schemeClr val="tx2">
                  <a:lumMod val="90000"/>
                  <a:lumOff val="10000"/>
                </a:schemeClr>
              </a:gs>
            </a:gsLst>
            <a:lin ang="13200000" scaled="0"/>
            <a:tileRect/>
          </a:gra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4C970EB-587E-612C-F799-38D70E19BE74}"/>
              </a:ext>
            </a:extLst>
          </p:cNvPr>
          <p:cNvSpPr txBox="1"/>
          <p:nvPr/>
        </p:nvSpPr>
        <p:spPr>
          <a:xfrm>
            <a:off x="651247" y="232100"/>
            <a:ext cx="10889495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Табличные данные: пример</a:t>
            </a:r>
            <a:endParaRPr lang="ru-RU" sz="2000" dirty="0">
              <a:solidFill>
                <a:schemeClr val="bg1"/>
              </a:solidFill>
              <a:latin typeface="Arial Black" panose="020B0A040201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Дата 6">
            <a:extLst>
              <a:ext uri="{FF2B5EF4-FFF2-40B4-BE49-F238E27FC236}">
                <a16:creationId xmlns:a16="http://schemas.microsoft.com/office/drawing/2014/main" id="{6827DC6F-EA4F-085B-4600-CED626AACE6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280316" y="6284083"/>
            <a:ext cx="892634" cy="463875"/>
          </a:xfrm>
        </p:spPr>
        <p:txBody>
          <a:bodyPr/>
          <a:lstStyle/>
          <a:p>
            <a:pPr algn="ctr">
              <a:defRPr/>
            </a:pPr>
            <a:fld id="{D063FBCF-7873-4A49-B36C-1F912BB77786}" type="slidenum">
              <a:rPr lang="ru-RU" altLang="ru-RU" sz="2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ctr">
                <a:defRPr/>
              </a:pPr>
              <a:t>5</a:t>
            </a:fld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/13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D0506E74-868C-F46F-009E-64C69ABDF49E}"/>
              </a:ext>
            </a:extLst>
          </p:cNvPr>
          <p:cNvSpPr/>
          <p:nvPr/>
        </p:nvSpPr>
        <p:spPr>
          <a:xfrm>
            <a:off x="-476262" y="937951"/>
            <a:ext cx="13144512" cy="5201601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Дата 6">
            <a:extLst>
              <a:ext uri="{FF2B5EF4-FFF2-40B4-BE49-F238E27FC236}">
                <a16:creationId xmlns:a16="http://schemas.microsoft.com/office/drawing/2014/main" id="{F75AA02B-885E-C636-B1CC-5545E7F44129}"/>
              </a:ext>
            </a:extLst>
          </p:cNvPr>
          <p:cNvSpPr txBox="1">
            <a:spLocks/>
          </p:cNvSpPr>
          <p:nvPr/>
        </p:nvSpPr>
        <p:spPr>
          <a:xfrm>
            <a:off x="38100" y="6284084"/>
            <a:ext cx="7785187" cy="463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Курсовой проект «Поиск и первичный анализ наборов данных»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8" name="Таблица 7">
            <a:extLst>
              <a:ext uri="{FF2B5EF4-FFF2-40B4-BE49-F238E27FC236}">
                <a16:creationId xmlns:a16="http://schemas.microsoft.com/office/drawing/2014/main" id="{1166673A-D10C-B32A-B05D-6402CCD936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4686697"/>
              </p:ext>
            </p:extLst>
          </p:nvPr>
        </p:nvGraphicFramePr>
        <p:xfrm>
          <a:off x="336636" y="1444989"/>
          <a:ext cx="11518716" cy="41875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5065">
                  <a:extLst>
                    <a:ext uri="{9D8B030D-6E8A-4147-A177-3AD203B41FA5}">
                      <a16:colId xmlns:a16="http://schemas.microsoft.com/office/drawing/2014/main" val="1569345488"/>
                    </a:ext>
                  </a:extLst>
                </a:gridCol>
                <a:gridCol w="624115">
                  <a:extLst>
                    <a:ext uri="{9D8B030D-6E8A-4147-A177-3AD203B41FA5}">
                      <a16:colId xmlns:a16="http://schemas.microsoft.com/office/drawing/2014/main" val="111735924"/>
                    </a:ext>
                  </a:extLst>
                </a:gridCol>
                <a:gridCol w="827314">
                  <a:extLst>
                    <a:ext uri="{9D8B030D-6E8A-4147-A177-3AD203B41FA5}">
                      <a16:colId xmlns:a16="http://schemas.microsoft.com/office/drawing/2014/main" val="286224351"/>
                    </a:ext>
                  </a:extLst>
                </a:gridCol>
                <a:gridCol w="1132114">
                  <a:extLst>
                    <a:ext uri="{9D8B030D-6E8A-4147-A177-3AD203B41FA5}">
                      <a16:colId xmlns:a16="http://schemas.microsoft.com/office/drawing/2014/main" val="4258581387"/>
                    </a:ext>
                  </a:extLst>
                </a:gridCol>
                <a:gridCol w="979657">
                  <a:extLst>
                    <a:ext uri="{9D8B030D-6E8A-4147-A177-3AD203B41FA5}">
                      <a16:colId xmlns:a16="http://schemas.microsoft.com/office/drawing/2014/main" val="2896454625"/>
                    </a:ext>
                  </a:extLst>
                </a:gridCol>
                <a:gridCol w="878172">
                  <a:extLst>
                    <a:ext uri="{9D8B030D-6E8A-4147-A177-3AD203B41FA5}">
                      <a16:colId xmlns:a16="http://schemas.microsoft.com/office/drawing/2014/main" val="1130887205"/>
                    </a:ext>
                  </a:extLst>
                </a:gridCol>
                <a:gridCol w="943428">
                  <a:extLst>
                    <a:ext uri="{9D8B030D-6E8A-4147-A177-3AD203B41FA5}">
                      <a16:colId xmlns:a16="http://schemas.microsoft.com/office/drawing/2014/main" val="3807391186"/>
                    </a:ext>
                  </a:extLst>
                </a:gridCol>
                <a:gridCol w="899886">
                  <a:extLst>
                    <a:ext uri="{9D8B030D-6E8A-4147-A177-3AD203B41FA5}">
                      <a16:colId xmlns:a16="http://schemas.microsoft.com/office/drawing/2014/main" val="304095080"/>
                    </a:ext>
                  </a:extLst>
                </a:gridCol>
                <a:gridCol w="754743">
                  <a:extLst>
                    <a:ext uri="{9D8B030D-6E8A-4147-A177-3AD203B41FA5}">
                      <a16:colId xmlns:a16="http://schemas.microsoft.com/office/drawing/2014/main" val="910461317"/>
                    </a:ext>
                  </a:extLst>
                </a:gridCol>
                <a:gridCol w="922337">
                  <a:extLst>
                    <a:ext uri="{9D8B030D-6E8A-4147-A177-3AD203B41FA5}">
                      <a16:colId xmlns:a16="http://schemas.microsoft.com/office/drawing/2014/main" val="3653009250"/>
                    </a:ext>
                  </a:extLst>
                </a:gridCol>
                <a:gridCol w="833892">
                  <a:extLst>
                    <a:ext uri="{9D8B030D-6E8A-4147-A177-3AD203B41FA5}">
                      <a16:colId xmlns:a16="http://schemas.microsoft.com/office/drawing/2014/main" val="2026676986"/>
                    </a:ext>
                  </a:extLst>
                </a:gridCol>
                <a:gridCol w="1248228">
                  <a:extLst>
                    <a:ext uri="{9D8B030D-6E8A-4147-A177-3AD203B41FA5}">
                      <a16:colId xmlns:a16="http://schemas.microsoft.com/office/drawing/2014/main" val="139242865"/>
                    </a:ext>
                  </a:extLst>
                </a:gridCol>
                <a:gridCol w="849765">
                  <a:extLst>
                    <a:ext uri="{9D8B030D-6E8A-4147-A177-3AD203B41FA5}">
                      <a16:colId xmlns:a16="http://schemas.microsoft.com/office/drawing/2014/main" val="883981109"/>
                    </a:ext>
                  </a:extLst>
                </a:gridCol>
              </a:tblGrid>
              <a:tr h="1019884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</a:t>
                      </a:r>
                      <a:r>
                        <a:rPr lang="ru-RU" sz="12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ser</a:t>
                      </a:r>
                      <a:r>
                        <a:rPr lang="ru-RU" sz="12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ru-RU" sz="12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id</a:t>
                      </a:r>
                      <a:endParaRPr lang="ru-RU" sz="1200" b="1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R="152400" marT="95250" marB="9525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age</a:t>
                      </a:r>
                    </a:p>
                  </a:txBody>
                  <a:tcPr marL="152400" marR="152400" marT="95250" marB="9525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gender</a:t>
                      </a:r>
                      <a:endParaRPr lang="ru-RU" sz="1200" b="1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400" marR="152400" marT="95250" marB="9525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occupation</a:t>
                      </a:r>
                      <a:endParaRPr lang="ru-RU" sz="1200" b="1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400" marR="152400" marT="95250" marB="9525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screen</a:t>
                      </a:r>
                      <a:r>
                        <a:rPr lang="ru-RU" sz="12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ru-RU" sz="12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time</a:t>
                      </a:r>
                      <a:endParaRPr lang="ru-RU" sz="1200" b="1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400" marR="152400" marT="95250" marB="9525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lang="ru-RU" sz="12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hone</a:t>
                      </a:r>
                      <a:r>
                        <a:rPr lang="ru-RU" sz="12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ru-RU" sz="12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before</a:t>
                      </a:r>
                      <a:r>
                        <a:rPr lang="ru-RU" sz="12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 </a:t>
                      </a:r>
                      <a:r>
                        <a:rPr lang="ru-RU" sz="12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sleep</a:t>
                      </a:r>
                      <a:endParaRPr lang="ru-RU" sz="1200" b="1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400" marR="152400" marT="95250" marB="9525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sleep</a:t>
                      </a:r>
                      <a:r>
                        <a:rPr lang="ru-RU" sz="12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ru-RU" sz="12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duration</a:t>
                      </a:r>
                      <a:r>
                        <a:rPr lang="ru-RU" sz="12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</a:p>
                  </a:txBody>
                  <a:tcPr marL="152400" marR="152400" marT="95250" marB="9525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ru-RU" sz="12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leep</a:t>
                      </a:r>
                      <a:r>
                        <a:rPr lang="ru-RU" sz="12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ru-RU" sz="12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quality</a:t>
                      </a:r>
                      <a:endParaRPr lang="ru-RU" sz="1200" b="1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400" marR="152400" marT="95250" marB="9525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stress</a:t>
                      </a:r>
                      <a:r>
                        <a:rPr lang="ru-RU" sz="12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ru-RU" sz="12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level</a:t>
                      </a:r>
                      <a:endParaRPr lang="ru-RU" sz="1200" b="1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400" marR="152400" marT="95250" marB="9525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caffeine</a:t>
                      </a:r>
                      <a:endParaRPr lang="ru-RU" sz="1200" b="1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400" marR="152400" marT="95250" marB="9525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activity</a:t>
                      </a:r>
                      <a:endParaRPr lang="ru-RU" sz="1200" b="1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400" marR="152400" marT="95250" marB="9525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notifications</a:t>
                      </a:r>
                      <a:endParaRPr lang="ru-RU" sz="1200" b="1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400" marR="152400" marT="95250" marB="9525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mental</a:t>
                      </a:r>
                      <a:r>
                        <a:rPr lang="ru-RU" sz="12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ru-RU" sz="12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fatigue</a:t>
                      </a:r>
                      <a:endParaRPr lang="ru-RU" sz="1200" b="1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400" marR="152400" marT="95250" marB="9525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174507"/>
                  </a:ext>
                </a:extLst>
              </a:tr>
              <a:tr h="869870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R="152400" marT="95250" marB="9525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56</a:t>
                      </a:r>
                    </a:p>
                  </a:txBody>
                  <a:tcPr marL="152400" marR="152400" marT="95250" marB="9525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Female</a:t>
                      </a:r>
                    </a:p>
                  </a:txBody>
                  <a:tcPr marL="152400" marR="152400" marT="95250" marB="9525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Designer</a:t>
                      </a:r>
                      <a:endParaRPr lang="ru-RU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400" marR="152400" marT="95250" marB="9525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3.26</a:t>
                      </a:r>
                    </a:p>
                  </a:txBody>
                  <a:tcPr marL="152400" marR="152400" marT="95250" marB="9525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86</a:t>
                      </a:r>
                    </a:p>
                  </a:txBody>
                  <a:tcPr marL="152400" marR="152400" marT="95250" marB="9525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5.31</a:t>
                      </a:r>
                    </a:p>
                  </a:txBody>
                  <a:tcPr marL="152400" marR="152400" marT="95250" marB="9525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7.72</a:t>
                      </a:r>
                    </a:p>
                  </a:txBody>
                  <a:tcPr marL="152400" marR="152400" marT="95250" marB="9525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3.49</a:t>
                      </a:r>
                    </a:p>
                  </a:txBody>
                  <a:tcPr marL="152400" marR="152400" marT="95250" marB="9525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</a:t>
                      </a:r>
                    </a:p>
                  </a:txBody>
                  <a:tcPr marL="152400" marR="152400" marT="95250" marB="9525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35</a:t>
                      </a:r>
                    </a:p>
                  </a:txBody>
                  <a:tcPr marL="152400" marR="152400" marT="95250" marB="9525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119</a:t>
                      </a:r>
                    </a:p>
                  </a:txBody>
                  <a:tcPr marL="152400" marR="152400" marT="95250" marB="9525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3.57</a:t>
                      </a:r>
                    </a:p>
                  </a:txBody>
                  <a:tcPr marL="152400" marT="95250" marB="9525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1605181"/>
                  </a:ext>
                </a:extLst>
              </a:tr>
              <a:tr h="869870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23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Male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Engineer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7.50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45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6.80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2.15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8.20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60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8.90</a:t>
                      </a:r>
                    </a:p>
                  </a:txBody>
                  <a:tcPr marL="152400" marT="95250" marB="9525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7665481"/>
                  </a:ext>
                </a:extLst>
              </a:tr>
              <a:tr h="869870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41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Other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Teacher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5.10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120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7.00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5.00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5.60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80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150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5.40</a:t>
                      </a:r>
                    </a:p>
                  </a:txBody>
                  <a:tcPr marL="152400" marT="95250" marB="9525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81632463"/>
                  </a:ext>
                </a:extLst>
              </a:tr>
              <a:tr h="558030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...</a:t>
                      </a:r>
                    </a:p>
                  </a:txBody>
                  <a:tcPr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...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...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...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...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...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...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...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...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...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...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...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...</a:t>
                      </a:r>
                    </a:p>
                  </a:txBody>
                  <a:tcPr marL="152400" marT="95250" marB="9525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23632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993513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1B051B-7904-848E-B8A4-534BE6995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EB033576-C8E6-B85D-9E40-33316FD3C8DF}"/>
              </a:ext>
            </a:extLst>
          </p:cNvPr>
          <p:cNvSpPr/>
          <p:nvPr/>
        </p:nvSpPr>
        <p:spPr>
          <a:xfrm>
            <a:off x="-227696" y="-220648"/>
            <a:ext cx="12685487" cy="7299296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50000"/>
                  <a:lumOff val="50000"/>
                </a:schemeClr>
              </a:gs>
              <a:gs pos="75000">
                <a:srgbClr val="122639"/>
              </a:gs>
              <a:gs pos="100000">
                <a:schemeClr val="tx1">
                  <a:lumMod val="95000"/>
                  <a:lumOff val="5000"/>
                </a:schemeClr>
              </a:gs>
              <a:gs pos="50000">
                <a:schemeClr val="tx2">
                  <a:lumMod val="90000"/>
                  <a:lumOff val="10000"/>
                </a:schemeClr>
              </a:gs>
            </a:gsLst>
            <a:lin ang="13200000" scaled="0"/>
            <a:tileRect/>
          </a:gra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100" name="Группа 99">
            <a:extLst>
              <a:ext uri="{FF2B5EF4-FFF2-40B4-BE49-F238E27FC236}">
                <a16:creationId xmlns:a16="http://schemas.microsoft.com/office/drawing/2014/main" id="{13132AAB-7FDC-6648-FA70-53D1D11C7C5C}"/>
              </a:ext>
            </a:extLst>
          </p:cNvPr>
          <p:cNvGrpSpPr/>
          <p:nvPr/>
        </p:nvGrpSpPr>
        <p:grpSpPr>
          <a:xfrm>
            <a:off x="8379802" y="-1343198"/>
            <a:ext cx="4125183" cy="3903766"/>
            <a:chOff x="8597992" y="-1343198"/>
            <a:chExt cx="4125183" cy="3903766"/>
          </a:xfrm>
        </p:grpSpPr>
        <p:grpSp>
          <p:nvGrpSpPr>
            <p:cNvPr id="95" name="Группа 94">
              <a:extLst>
                <a:ext uri="{FF2B5EF4-FFF2-40B4-BE49-F238E27FC236}">
                  <a16:creationId xmlns:a16="http://schemas.microsoft.com/office/drawing/2014/main" id="{0CB5002B-1BCA-5EDC-F5D7-370AEE9912E1}"/>
                </a:ext>
              </a:extLst>
            </p:cNvPr>
            <p:cNvGrpSpPr/>
            <p:nvPr/>
          </p:nvGrpSpPr>
          <p:grpSpPr>
            <a:xfrm>
              <a:off x="8670670" y="-1343198"/>
              <a:ext cx="3903766" cy="3903766"/>
              <a:chOff x="8746731" y="-1343198"/>
              <a:chExt cx="3903766" cy="3903766"/>
            </a:xfrm>
          </p:grpSpPr>
          <p:grpSp>
            <p:nvGrpSpPr>
              <p:cNvPr id="63" name="Группа 62">
                <a:extLst>
                  <a:ext uri="{FF2B5EF4-FFF2-40B4-BE49-F238E27FC236}">
                    <a16:creationId xmlns:a16="http://schemas.microsoft.com/office/drawing/2014/main" id="{94BA2C9E-464A-E1D1-2DA9-EF4FE2408996}"/>
                  </a:ext>
                </a:extLst>
              </p:cNvPr>
              <p:cNvGrpSpPr/>
              <p:nvPr/>
            </p:nvGrpSpPr>
            <p:grpSpPr>
              <a:xfrm>
                <a:off x="8746731" y="-1343198"/>
                <a:ext cx="3903766" cy="3903766"/>
                <a:chOff x="152400" y="1057655"/>
                <a:chExt cx="3903766" cy="3903766"/>
              </a:xfrm>
            </p:grpSpPr>
            <p:sp>
              <p:nvSpPr>
                <p:cNvPr id="64" name="Полилиния: фигура 63">
                  <a:extLst>
                    <a:ext uri="{FF2B5EF4-FFF2-40B4-BE49-F238E27FC236}">
                      <a16:creationId xmlns:a16="http://schemas.microsoft.com/office/drawing/2014/main" id="{FF064AE3-704C-90F0-E126-909376871FBC}"/>
                    </a:ext>
                  </a:extLst>
                </p:cNvPr>
                <p:cNvSpPr/>
                <p:nvPr/>
              </p:nvSpPr>
              <p:spPr>
                <a:xfrm>
                  <a:off x="152400" y="1057655"/>
                  <a:ext cx="3903766" cy="3903766"/>
                </a:xfrm>
                <a:custGeom>
                  <a:avLst/>
                  <a:gdLst>
                    <a:gd name="csX0" fmla="*/ 2492829 w 4985658"/>
                    <a:gd name="csY0" fmla="*/ 1240972 h 4985658"/>
                    <a:gd name="csX1" fmla="*/ 1240972 w 4985658"/>
                    <a:gd name="csY1" fmla="*/ 2492829 h 4985658"/>
                    <a:gd name="csX2" fmla="*/ 2492829 w 4985658"/>
                    <a:gd name="csY2" fmla="*/ 3744686 h 4985658"/>
                    <a:gd name="csX3" fmla="*/ 3744686 w 4985658"/>
                    <a:gd name="csY3" fmla="*/ 2492829 h 4985658"/>
                    <a:gd name="csX4" fmla="*/ 2492829 w 4985658"/>
                    <a:gd name="csY4" fmla="*/ 1240972 h 4985658"/>
                    <a:gd name="csX5" fmla="*/ 2492829 w 4985658"/>
                    <a:gd name="csY5" fmla="*/ 0 h 4985658"/>
                    <a:gd name="csX6" fmla="*/ 4985658 w 4985658"/>
                    <a:gd name="csY6" fmla="*/ 2492829 h 4985658"/>
                    <a:gd name="csX7" fmla="*/ 2492829 w 4985658"/>
                    <a:gd name="csY7" fmla="*/ 4985658 h 4985658"/>
                    <a:gd name="csX8" fmla="*/ 0 w 4985658"/>
                    <a:gd name="csY8" fmla="*/ 2492829 h 4985658"/>
                    <a:gd name="csX9" fmla="*/ 2492829 w 4985658"/>
                    <a:gd name="csY9" fmla="*/ 0 h 498565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</a:cxnLst>
                  <a:rect l="l" t="t" r="r" b="b"/>
                  <a:pathLst>
                    <a:path w="4985658" h="4985658">
                      <a:moveTo>
                        <a:pt x="2492829" y="1240972"/>
                      </a:moveTo>
                      <a:cubicBezTo>
                        <a:pt x="1801447" y="1240972"/>
                        <a:pt x="1240972" y="1801447"/>
                        <a:pt x="1240972" y="2492829"/>
                      </a:cubicBezTo>
                      <a:cubicBezTo>
                        <a:pt x="1240972" y="3184211"/>
                        <a:pt x="1801447" y="3744686"/>
                        <a:pt x="2492829" y="3744686"/>
                      </a:cubicBezTo>
                      <a:cubicBezTo>
                        <a:pt x="3184211" y="3744686"/>
                        <a:pt x="3744686" y="3184211"/>
                        <a:pt x="3744686" y="2492829"/>
                      </a:cubicBezTo>
                      <a:cubicBezTo>
                        <a:pt x="3744686" y="1801447"/>
                        <a:pt x="3184211" y="1240972"/>
                        <a:pt x="2492829" y="1240972"/>
                      </a:cubicBezTo>
                      <a:close/>
                      <a:moveTo>
                        <a:pt x="2492829" y="0"/>
                      </a:moveTo>
                      <a:cubicBezTo>
                        <a:pt x="3869580" y="0"/>
                        <a:pt x="4985658" y="1116078"/>
                        <a:pt x="4985658" y="2492829"/>
                      </a:cubicBezTo>
                      <a:cubicBezTo>
                        <a:pt x="4985658" y="3869580"/>
                        <a:pt x="3869580" y="4985658"/>
                        <a:pt x="2492829" y="4985658"/>
                      </a:cubicBezTo>
                      <a:cubicBezTo>
                        <a:pt x="1116078" y="4985658"/>
                        <a:pt x="0" y="3869580"/>
                        <a:pt x="0" y="2492829"/>
                      </a:cubicBezTo>
                      <a:cubicBezTo>
                        <a:pt x="0" y="1116078"/>
                        <a:pt x="1116078" y="0"/>
                        <a:pt x="2492829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tx2">
                        <a:lumMod val="50000"/>
                        <a:lumOff val="50000"/>
                      </a:schemeClr>
                    </a:gs>
                    <a:gs pos="75000">
                      <a:srgbClr val="122639"/>
                    </a:gs>
                    <a:gs pos="100000">
                      <a:schemeClr val="tx1">
                        <a:lumMod val="95000"/>
                        <a:lumOff val="5000"/>
                      </a:schemeClr>
                    </a:gs>
                    <a:gs pos="44000">
                      <a:schemeClr val="tx2">
                        <a:lumMod val="90000"/>
                        <a:lumOff val="10000"/>
                      </a:schemeClr>
                    </a:gs>
                  </a:gsLst>
                  <a:lin ang="12600000" scaled="0"/>
                </a:gra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ru-RU" dirty="0"/>
                </a:p>
              </p:txBody>
            </p:sp>
            <p:grpSp>
              <p:nvGrpSpPr>
                <p:cNvPr id="65" name="Группа 64">
                  <a:extLst>
                    <a:ext uri="{FF2B5EF4-FFF2-40B4-BE49-F238E27FC236}">
                      <a16:creationId xmlns:a16="http://schemas.microsoft.com/office/drawing/2014/main" id="{4F68D035-CAA6-2B3D-36C1-3EF5EED3BAC7}"/>
                    </a:ext>
                  </a:extLst>
                </p:cNvPr>
                <p:cNvGrpSpPr/>
                <p:nvPr/>
              </p:nvGrpSpPr>
              <p:grpSpPr>
                <a:xfrm>
                  <a:off x="3084486" y="2719153"/>
                  <a:ext cx="971680" cy="316024"/>
                  <a:chOff x="4387850" y="3027845"/>
                  <a:chExt cx="971680" cy="316024"/>
                </a:xfrm>
              </p:grpSpPr>
              <p:cxnSp>
                <p:nvCxnSpPr>
                  <p:cNvPr id="69" name="Прямая соединительная линия 68">
                    <a:extLst>
                      <a:ext uri="{FF2B5EF4-FFF2-40B4-BE49-F238E27FC236}">
                        <a16:creationId xmlns:a16="http://schemas.microsoft.com/office/drawing/2014/main" id="{9080DD78-4321-D77C-11AD-B5B48DBD381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387850" y="3027845"/>
                    <a:ext cx="481039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0" name="Прямая соединительная линия 69">
                    <a:extLst>
                      <a:ext uri="{FF2B5EF4-FFF2-40B4-BE49-F238E27FC236}">
                        <a16:creationId xmlns:a16="http://schemas.microsoft.com/office/drawing/2014/main" id="{1490E25F-2A04-E0C2-7368-50DC2B7B697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4868889" y="3027845"/>
                    <a:ext cx="490641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6" name="Группа 65">
                  <a:extLst>
                    <a:ext uri="{FF2B5EF4-FFF2-40B4-BE49-F238E27FC236}">
                      <a16:creationId xmlns:a16="http://schemas.microsoft.com/office/drawing/2014/main" id="{698E65FD-3C68-5B89-C22A-A1BDD8ABAB3D}"/>
                    </a:ext>
                  </a:extLst>
                </p:cNvPr>
                <p:cNvGrpSpPr/>
                <p:nvPr/>
              </p:nvGrpSpPr>
              <p:grpSpPr>
                <a:xfrm rot="10800000">
                  <a:off x="152400" y="3035177"/>
                  <a:ext cx="971680" cy="316024"/>
                  <a:chOff x="4387850" y="3027845"/>
                  <a:chExt cx="971680" cy="316024"/>
                </a:xfrm>
              </p:grpSpPr>
              <p:cxnSp>
                <p:nvCxnSpPr>
                  <p:cNvPr id="67" name="Прямая соединительная линия 66">
                    <a:extLst>
                      <a:ext uri="{FF2B5EF4-FFF2-40B4-BE49-F238E27FC236}">
                        <a16:creationId xmlns:a16="http://schemas.microsoft.com/office/drawing/2014/main" id="{8E5D6DD4-22BA-F53C-9918-50477B1E200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387850" y="3027845"/>
                    <a:ext cx="481039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8" name="Прямая соединительная линия 67">
                    <a:extLst>
                      <a:ext uri="{FF2B5EF4-FFF2-40B4-BE49-F238E27FC236}">
                        <a16:creationId xmlns:a16="http://schemas.microsoft.com/office/drawing/2014/main" id="{DE8E8508-5A13-FF83-B357-21270548043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4868889" y="3027845"/>
                    <a:ext cx="490641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0F190613-896E-F85D-DBD3-27C62F16E8F8}"/>
                  </a:ext>
                </a:extLst>
              </p:cNvPr>
              <p:cNvSpPr txBox="1"/>
              <p:nvPr/>
            </p:nvSpPr>
            <p:spPr>
              <a:xfrm>
                <a:off x="9256187" y="1628588"/>
                <a:ext cx="2960914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Шаг 3. Проверка</a:t>
                </a:r>
              </a:p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на диапазоны </a:t>
                </a:r>
              </a:p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значений</a:t>
                </a:r>
              </a:p>
            </p:txBody>
          </p:sp>
        </p:grp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9BDE2D41-99FA-3148-77B3-008790E7C092}"/>
                </a:ext>
              </a:extLst>
            </p:cNvPr>
            <p:cNvSpPr txBox="1"/>
            <p:nvPr/>
          </p:nvSpPr>
          <p:spPr>
            <a:xfrm rot="10800000">
              <a:off x="8597992" y="-1050811"/>
              <a:ext cx="4125183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ru-RU" sz="16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Шаг 6. Кодирование </a:t>
              </a:r>
            </a:p>
            <a:p>
              <a:pPr algn="ctr"/>
              <a:r>
                <a:rPr lang="ru-RU" sz="1600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категор</a:t>
              </a:r>
              <a:r>
                <a:rPr lang="ru-RU" sz="16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 атрибутов</a:t>
              </a:r>
            </a:p>
          </p:txBody>
        </p:sp>
      </p:grpSp>
      <p:grpSp>
        <p:nvGrpSpPr>
          <p:cNvPr id="99" name="Группа 98">
            <a:extLst>
              <a:ext uri="{FF2B5EF4-FFF2-40B4-BE49-F238E27FC236}">
                <a16:creationId xmlns:a16="http://schemas.microsoft.com/office/drawing/2014/main" id="{2B2DE113-4176-EF28-58EA-0B82817DBA06}"/>
              </a:ext>
            </a:extLst>
          </p:cNvPr>
          <p:cNvGrpSpPr/>
          <p:nvPr/>
        </p:nvGrpSpPr>
        <p:grpSpPr>
          <a:xfrm>
            <a:off x="4809846" y="-1343198"/>
            <a:ext cx="3922816" cy="3903766"/>
            <a:chOff x="5028036" y="-1343198"/>
            <a:chExt cx="3922816" cy="3903766"/>
          </a:xfrm>
        </p:grpSpPr>
        <p:grpSp>
          <p:nvGrpSpPr>
            <p:cNvPr id="89" name="Группа 88">
              <a:extLst>
                <a:ext uri="{FF2B5EF4-FFF2-40B4-BE49-F238E27FC236}">
                  <a16:creationId xmlns:a16="http://schemas.microsoft.com/office/drawing/2014/main" id="{A5FC6953-035F-4AE6-324B-6BE48378B4F1}"/>
                </a:ext>
              </a:extLst>
            </p:cNvPr>
            <p:cNvGrpSpPr/>
            <p:nvPr/>
          </p:nvGrpSpPr>
          <p:grpSpPr>
            <a:xfrm>
              <a:off x="5047086" y="-1343198"/>
              <a:ext cx="3903766" cy="3903766"/>
              <a:chOff x="5013346" y="-1343198"/>
              <a:chExt cx="3903766" cy="3903766"/>
            </a:xfrm>
          </p:grpSpPr>
          <p:grpSp>
            <p:nvGrpSpPr>
              <p:cNvPr id="55" name="Группа 54">
                <a:extLst>
                  <a:ext uri="{FF2B5EF4-FFF2-40B4-BE49-F238E27FC236}">
                    <a16:creationId xmlns:a16="http://schemas.microsoft.com/office/drawing/2014/main" id="{FB6FC887-A246-3A84-0E97-42136DFE15CE}"/>
                  </a:ext>
                </a:extLst>
              </p:cNvPr>
              <p:cNvGrpSpPr/>
              <p:nvPr/>
            </p:nvGrpSpPr>
            <p:grpSpPr>
              <a:xfrm>
                <a:off x="5013346" y="-1343198"/>
                <a:ext cx="3903766" cy="3903766"/>
                <a:chOff x="152400" y="1057655"/>
                <a:chExt cx="3903766" cy="3903766"/>
              </a:xfrm>
            </p:grpSpPr>
            <p:sp>
              <p:nvSpPr>
                <p:cNvPr id="56" name="Полилиния: фигура 55">
                  <a:extLst>
                    <a:ext uri="{FF2B5EF4-FFF2-40B4-BE49-F238E27FC236}">
                      <a16:creationId xmlns:a16="http://schemas.microsoft.com/office/drawing/2014/main" id="{4CF73232-4184-7C1B-5746-985B025F4AC2}"/>
                    </a:ext>
                  </a:extLst>
                </p:cNvPr>
                <p:cNvSpPr/>
                <p:nvPr/>
              </p:nvSpPr>
              <p:spPr>
                <a:xfrm>
                  <a:off x="152400" y="1057655"/>
                  <a:ext cx="3903766" cy="3903766"/>
                </a:xfrm>
                <a:custGeom>
                  <a:avLst/>
                  <a:gdLst>
                    <a:gd name="csX0" fmla="*/ 2492829 w 4985658"/>
                    <a:gd name="csY0" fmla="*/ 1240972 h 4985658"/>
                    <a:gd name="csX1" fmla="*/ 1240972 w 4985658"/>
                    <a:gd name="csY1" fmla="*/ 2492829 h 4985658"/>
                    <a:gd name="csX2" fmla="*/ 2492829 w 4985658"/>
                    <a:gd name="csY2" fmla="*/ 3744686 h 4985658"/>
                    <a:gd name="csX3" fmla="*/ 3744686 w 4985658"/>
                    <a:gd name="csY3" fmla="*/ 2492829 h 4985658"/>
                    <a:gd name="csX4" fmla="*/ 2492829 w 4985658"/>
                    <a:gd name="csY4" fmla="*/ 1240972 h 4985658"/>
                    <a:gd name="csX5" fmla="*/ 2492829 w 4985658"/>
                    <a:gd name="csY5" fmla="*/ 0 h 4985658"/>
                    <a:gd name="csX6" fmla="*/ 4985658 w 4985658"/>
                    <a:gd name="csY6" fmla="*/ 2492829 h 4985658"/>
                    <a:gd name="csX7" fmla="*/ 2492829 w 4985658"/>
                    <a:gd name="csY7" fmla="*/ 4985658 h 4985658"/>
                    <a:gd name="csX8" fmla="*/ 0 w 4985658"/>
                    <a:gd name="csY8" fmla="*/ 2492829 h 4985658"/>
                    <a:gd name="csX9" fmla="*/ 2492829 w 4985658"/>
                    <a:gd name="csY9" fmla="*/ 0 h 498565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</a:cxnLst>
                  <a:rect l="l" t="t" r="r" b="b"/>
                  <a:pathLst>
                    <a:path w="4985658" h="4985658">
                      <a:moveTo>
                        <a:pt x="2492829" y="1240972"/>
                      </a:moveTo>
                      <a:cubicBezTo>
                        <a:pt x="1801447" y="1240972"/>
                        <a:pt x="1240972" y="1801447"/>
                        <a:pt x="1240972" y="2492829"/>
                      </a:cubicBezTo>
                      <a:cubicBezTo>
                        <a:pt x="1240972" y="3184211"/>
                        <a:pt x="1801447" y="3744686"/>
                        <a:pt x="2492829" y="3744686"/>
                      </a:cubicBezTo>
                      <a:cubicBezTo>
                        <a:pt x="3184211" y="3744686"/>
                        <a:pt x="3744686" y="3184211"/>
                        <a:pt x="3744686" y="2492829"/>
                      </a:cubicBezTo>
                      <a:cubicBezTo>
                        <a:pt x="3744686" y="1801447"/>
                        <a:pt x="3184211" y="1240972"/>
                        <a:pt x="2492829" y="1240972"/>
                      </a:cubicBezTo>
                      <a:close/>
                      <a:moveTo>
                        <a:pt x="2492829" y="0"/>
                      </a:moveTo>
                      <a:cubicBezTo>
                        <a:pt x="3869580" y="0"/>
                        <a:pt x="4985658" y="1116078"/>
                        <a:pt x="4985658" y="2492829"/>
                      </a:cubicBezTo>
                      <a:cubicBezTo>
                        <a:pt x="4985658" y="3869580"/>
                        <a:pt x="3869580" y="4985658"/>
                        <a:pt x="2492829" y="4985658"/>
                      </a:cubicBezTo>
                      <a:cubicBezTo>
                        <a:pt x="1116078" y="4985658"/>
                        <a:pt x="0" y="3869580"/>
                        <a:pt x="0" y="2492829"/>
                      </a:cubicBezTo>
                      <a:cubicBezTo>
                        <a:pt x="0" y="1116078"/>
                        <a:pt x="1116078" y="0"/>
                        <a:pt x="2492829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tx2">
                        <a:lumMod val="50000"/>
                        <a:lumOff val="50000"/>
                      </a:schemeClr>
                    </a:gs>
                    <a:gs pos="75000">
                      <a:srgbClr val="122639"/>
                    </a:gs>
                    <a:gs pos="100000">
                      <a:schemeClr val="tx1">
                        <a:lumMod val="95000"/>
                        <a:lumOff val="5000"/>
                      </a:schemeClr>
                    </a:gs>
                    <a:gs pos="44000">
                      <a:schemeClr val="tx2">
                        <a:lumMod val="90000"/>
                        <a:lumOff val="10000"/>
                      </a:schemeClr>
                    </a:gs>
                  </a:gsLst>
                  <a:lin ang="12600000" scaled="0"/>
                </a:gra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ru-RU" dirty="0"/>
                </a:p>
              </p:txBody>
            </p:sp>
            <p:grpSp>
              <p:nvGrpSpPr>
                <p:cNvPr id="57" name="Группа 56">
                  <a:extLst>
                    <a:ext uri="{FF2B5EF4-FFF2-40B4-BE49-F238E27FC236}">
                      <a16:creationId xmlns:a16="http://schemas.microsoft.com/office/drawing/2014/main" id="{0630B67E-78F4-331F-F7F5-3D136EA73814}"/>
                    </a:ext>
                  </a:extLst>
                </p:cNvPr>
                <p:cNvGrpSpPr/>
                <p:nvPr/>
              </p:nvGrpSpPr>
              <p:grpSpPr>
                <a:xfrm>
                  <a:off x="3084486" y="2719153"/>
                  <a:ext cx="971680" cy="316024"/>
                  <a:chOff x="4387850" y="3027845"/>
                  <a:chExt cx="971680" cy="316024"/>
                </a:xfrm>
              </p:grpSpPr>
              <p:cxnSp>
                <p:nvCxnSpPr>
                  <p:cNvPr id="61" name="Прямая соединительная линия 60">
                    <a:extLst>
                      <a:ext uri="{FF2B5EF4-FFF2-40B4-BE49-F238E27FC236}">
                        <a16:creationId xmlns:a16="http://schemas.microsoft.com/office/drawing/2014/main" id="{5B2D1B97-355F-D02A-7956-F3CFAC11DE5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387850" y="3027845"/>
                    <a:ext cx="481039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Прямая соединительная линия 61">
                    <a:extLst>
                      <a:ext uri="{FF2B5EF4-FFF2-40B4-BE49-F238E27FC236}">
                        <a16:creationId xmlns:a16="http://schemas.microsoft.com/office/drawing/2014/main" id="{7ED1BB1C-0C37-AAF6-C3DD-2E9A5B29929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4868889" y="3027845"/>
                    <a:ext cx="490641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8" name="Группа 57">
                  <a:extLst>
                    <a:ext uri="{FF2B5EF4-FFF2-40B4-BE49-F238E27FC236}">
                      <a16:creationId xmlns:a16="http://schemas.microsoft.com/office/drawing/2014/main" id="{E1365FF9-5842-0CF9-7381-D15DEC186025}"/>
                    </a:ext>
                  </a:extLst>
                </p:cNvPr>
                <p:cNvGrpSpPr/>
                <p:nvPr/>
              </p:nvGrpSpPr>
              <p:grpSpPr>
                <a:xfrm rot="10800000">
                  <a:off x="152400" y="3035177"/>
                  <a:ext cx="971680" cy="316024"/>
                  <a:chOff x="4387850" y="3027845"/>
                  <a:chExt cx="971680" cy="316024"/>
                </a:xfrm>
              </p:grpSpPr>
              <p:cxnSp>
                <p:nvCxnSpPr>
                  <p:cNvPr id="59" name="Прямая соединительная линия 58">
                    <a:extLst>
                      <a:ext uri="{FF2B5EF4-FFF2-40B4-BE49-F238E27FC236}">
                        <a16:creationId xmlns:a16="http://schemas.microsoft.com/office/drawing/2014/main" id="{D6776D5F-9D4A-B61E-5AAD-C44955BFEEA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387850" y="3027845"/>
                    <a:ext cx="481039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0" name="Прямая соединительная линия 59">
                    <a:extLst>
                      <a:ext uri="{FF2B5EF4-FFF2-40B4-BE49-F238E27FC236}">
                        <a16:creationId xmlns:a16="http://schemas.microsoft.com/office/drawing/2014/main" id="{90D89D03-B1DE-1ACF-C7E7-ED8C375EC44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4868889" y="3027845"/>
                    <a:ext cx="490641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0DE55CB7-59B4-600D-0ECF-D61621CCB364}"/>
                  </a:ext>
                </a:extLst>
              </p:cNvPr>
              <p:cNvSpPr txBox="1"/>
              <p:nvPr/>
            </p:nvSpPr>
            <p:spPr>
              <a:xfrm>
                <a:off x="5013346" y="1623950"/>
                <a:ext cx="3903766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Шаг 2</a:t>
                </a:r>
              </a:p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Корреляционный </a:t>
                </a:r>
              </a:p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анализ</a:t>
                </a:r>
              </a:p>
            </p:txBody>
          </p:sp>
        </p:grp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E54F7E8E-48FB-128B-8A05-24BF2EB091FF}"/>
                </a:ext>
              </a:extLst>
            </p:cNvPr>
            <p:cNvSpPr txBox="1"/>
            <p:nvPr/>
          </p:nvSpPr>
          <p:spPr>
            <a:xfrm rot="10800000">
              <a:off x="5028036" y="-1025829"/>
              <a:ext cx="3903766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ru-RU" sz="16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Шаг 5. Распределения </a:t>
              </a:r>
            </a:p>
            <a:p>
              <a:pPr algn="ctr"/>
              <a:r>
                <a:rPr lang="ru-RU" sz="1600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категор</a:t>
              </a:r>
              <a:r>
                <a:rPr lang="ru-RU" sz="16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 атрибутов </a:t>
              </a:r>
            </a:p>
          </p:txBody>
        </p:sp>
      </p:grpSp>
      <p:grpSp>
        <p:nvGrpSpPr>
          <p:cNvPr id="86" name="Группа 85">
            <a:extLst>
              <a:ext uri="{FF2B5EF4-FFF2-40B4-BE49-F238E27FC236}">
                <a16:creationId xmlns:a16="http://schemas.microsoft.com/office/drawing/2014/main" id="{0B2416FF-70B8-3C77-F9CE-AAC6DCC2A005}"/>
              </a:ext>
            </a:extLst>
          </p:cNvPr>
          <p:cNvGrpSpPr/>
          <p:nvPr/>
        </p:nvGrpSpPr>
        <p:grpSpPr>
          <a:xfrm>
            <a:off x="1150960" y="-1343198"/>
            <a:ext cx="3903766" cy="3903766"/>
            <a:chOff x="1208423" y="-1343198"/>
            <a:chExt cx="3903766" cy="3903766"/>
          </a:xfrm>
        </p:grpSpPr>
        <p:grpSp>
          <p:nvGrpSpPr>
            <p:cNvPr id="54" name="Группа 53">
              <a:extLst>
                <a:ext uri="{FF2B5EF4-FFF2-40B4-BE49-F238E27FC236}">
                  <a16:creationId xmlns:a16="http://schemas.microsoft.com/office/drawing/2014/main" id="{CEF8457B-5AB3-2D10-16C9-35A2E9A79DBC}"/>
                </a:ext>
              </a:extLst>
            </p:cNvPr>
            <p:cNvGrpSpPr/>
            <p:nvPr/>
          </p:nvGrpSpPr>
          <p:grpSpPr>
            <a:xfrm>
              <a:off x="1208423" y="-1343198"/>
              <a:ext cx="3903766" cy="3903766"/>
              <a:chOff x="152400" y="1057655"/>
              <a:chExt cx="3903766" cy="3903766"/>
            </a:xfrm>
          </p:grpSpPr>
          <p:sp>
            <p:nvSpPr>
              <p:cNvPr id="9" name="Полилиния: фигура 8">
                <a:extLst>
                  <a:ext uri="{FF2B5EF4-FFF2-40B4-BE49-F238E27FC236}">
                    <a16:creationId xmlns:a16="http://schemas.microsoft.com/office/drawing/2014/main" id="{541972C5-A7F9-61E0-FE86-F2F12953E133}"/>
                  </a:ext>
                </a:extLst>
              </p:cNvPr>
              <p:cNvSpPr/>
              <p:nvPr/>
            </p:nvSpPr>
            <p:spPr>
              <a:xfrm>
                <a:off x="152400" y="1057655"/>
                <a:ext cx="3903766" cy="3903766"/>
              </a:xfrm>
              <a:custGeom>
                <a:avLst/>
                <a:gdLst>
                  <a:gd name="csX0" fmla="*/ 2492829 w 4985658"/>
                  <a:gd name="csY0" fmla="*/ 1240972 h 4985658"/>
                  <a:gd name="csX1" fmla="*/ 1240972 w 4985658"/>
                  <a:gd name="csY1" fmla="*/ 2492829 h 4985658"/>
                  <a:gd name="csX2" fmla="*/ 2492829 w 4985658"/>
                  <a:gd name="csY2" fmla="*/ 3744686 h 4985658"/>
                  <a:gd name="csX3" fmla="*/ 3744686 w 4985658"/>
                  <a:gd name="csY3" fmla="*/ 2492829 h 4985658"/>
                  <a:gd name="csX4" fmla="*/ 2492829 w 4985658"/>
                  <a:gd name="csY4" fmla="*/ 1240972 h 4985658"/>
                  <a:gd name="csX5" fmla="*/ 2492829 w 4985658"/>
                  <a:gd name="csY5" fmla="*/ 0 h 4985658"/>
                  <a:gd name="csX6" fmla="*/ 4985658 w 4985658"/>
                  <a:gd name="csY6" fmla="*/ 2492829 h 4985658"/>
                  <a:gd name="csX7" fmla="*/ 2492829 w 4985658"/>
                  <a:gd name="csY7" fmla="*/ 4985658 h 4985658"/>
                  <a:gd name="csX8" fmla="*/ 0 w 4985658"/>
                  <a:gd name="csY8" fmla="*/ 2492829 h 4985658"/>
                  <a:gd name="csX9" fmla="*/ 2492829 w 4985658"/>
                  <a:gd name="csY9" fmla="*/ 0 h 498565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4985658" h="4985658">
                    <a:moveTo>
                      <a:pt x="2492829" y="1240972"/>
                    </a:moveTo>
                    <a:cubicBezTo>
                      <a:pt x="1801447" y="1240972"/>
                      <a:pt x="1240972" y="1801447"/>
                      <a:pt x="1240972" y="2492829"/>
                    </a:cubicBezTo>
                    <a:cubicBezTo>
                      <a:pt x="1240972" y="3184211"/>
                      <a:pt x="1801447" y="3744686"/>
                      <a:pt x="2492829" y="3744686"/>
                    </a:cubicBezTo>
                    <a:cubicBezTo>
                      <a:pt x="3184211" y="3744686"/>
                      <a:pt x="3744686" y="3184211"/>
                      <a:pt x="3744686" y="2492829"/>
                    </a:cubicBezTo>
                    <a:cubicBezTo>
                      <a:pt x="3744686" y="1801447"/>
                      <a:pt x="3184211" y="1240972"/>
                      <a:pt x="2492829" y="1240972"/>
                    </a:cubicBezTo>
                    <a:close/>
                    <a:moveTo>
                      <a:pt x="2492829" y="0"/>
                    </a:moveTo>
                    <a:cubicBezTo>
                      <a:pt x="3869580" y="0"/>
                      <a:pt x="4985658" y="1116078"/>
                      <a:pt x="4985658" y="2492829"/>
                    </a:cubicBezTo>
                    <a:cubicBezTo>
                      <a:pt x="4985658" y="3869580"/>
                      <a:pt x="3869580" y="4985658"/>
                      <a:pt x="2492829" y="4985658"/>
                    </a:cubicBezTo>
                    <a:cubicBezTo>
                      <a:pt x="1116078" y="4985658"/>
                      <a:pt x="0" y="3869580"/>
                      <a:pt x="0" y="2492829"/>
                    </a:cubicBezTo>
                    <a:cubicBezTo>
                      <a:pt x="0" y="1116078"/>
                      <a:pt x="1116078" y="0"/>
                      <a:pt x="2492829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tx2">
                      <a:lumMod val="50000"/>
                      <a:lumOff val="50000"/>
                    </a:schemeClr>
                  </a:gs>
                  <a:gs pos="75000">
                    <a:srgbClr val="122639"/>
                  </a:gs>
                  <a:gs pos="100000">
                    <a:schemeClr val="tx1">
                      <a:lumMod val="95000"/>
                      <a:lumOff val="5000"/>
                    </a:schemeClr>
                  </a:gs>
                  <a:gs pos="44000">
                    <a:schemeClr val="tx2">
                      <a:lumMod val="90000"/>
                      <a:lumOff val="10000"/>
                    </a:schemeClr>
                  </a:gs>
                </a:gsLst>
                <a:lin ang="12600000" scaled="0"/>
              </a:gra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ru-RU" dirty="0"/>
              </a:p>
            </p:txBody>
          </p:sp>
          <p:grpSp>
            <p:nvGrpSpPr>
              <p:cNvPr id="50" name="Группа 49">
                <a:extLst>
                  <a:ext uri="{FF2B5EF4-FFF2-40B4-BE49-F238E27FC236}">
                    <a16:creationId xmlns:a16="http://schemas.microsoft.com/office/drawing/2014/main" id="{F27818A6-A26E-8255-B649-D06153D89CBD}"/>
                  </a:ext>
                </a:extLst>
              </p:cNvPr>
              <p:cNvGrpSpPr/>
              <p:nvPr/>
            </p:nvGrpSpPr>
            <p:grpSpPr>
              <a:xfrm>
                <a:off x="3084486" y="2719153"/>
                <a:ext cx="971680" cy="316024"/>
                <a:chOff x="4387850" y="3027845"/>
                <a:chExt cx="971680" cy="316024"/>
              </a:xfrm>
            </p:grpSpPr>
            <p:cxnSp>
              <p:nvCxnSpPr>
                <p:cNvPr id="15" name="Прямая соединительная линия 14">
                  <a:extLst>
                    <a:ext uri="{FF2B5EF4-FFF2-40B4-BE49-F238E27FC236}">
                      <a16:creationId xmlns:a16="http://schemas.microsoft.com/office/drawing/2014/main" id="{4F561166-E8D0-B188-6BC4-1C9C9F8C0EA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387850" y="3027845"/>
                  <a:ext cx="481039" cy="316024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Прямая соединительная линия 16">
                  <a:extLst>
                    <a:ext uri="{FF2B5EF4-FFF2-40B4-BE49-F238E27FC236}">
                      <a16:creationId xmlns:a16="http://schemas.microsoft.com/office/drawing/2014/main" id="{B1FFA3E6-84F5-6593-E42D-A2963251797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868889" y="3027845"/>
                  <a:ext cx="490641" cy="316024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1" name="Группа 50">
                <a:extLst>
                  <a:ext uri="{FF2B5EF4-FFF2-40B4-BE49-F238E27FC236}">
                    <a16:creationId xmlns:a16="http://schemas.microsoft.com/office/drawing/2014/main" id="{2F7153F3-6318-909C-B8ED-A4F5A56348B1}"/>
                  </a:ext>
                </a:extLst>
              </p:cNvPr>
              <p:cNvGrpSpPr/>
              <p:nvPr/>
            </p:nvGrpSpPr>
            <p:grpSpPr>
              <a:xfrm rot="10800000">
                <a:off x="152400" y="3035177"/>
                <a:ext cx="971680" cy="316024"/>
                <a:chOff x="4387850" y="3027845"/>
                <a:chExt cx="971680" cy="316024"/>
              </a:xfrm>
            </p:grpSpPr>
            <p:cxnSp>
              <p:nvCxnSpPr>
                <p:cNvPr id="52" name="Прямая соединительная линия 51">
                  <a:extLst>
                    <a:ext uri="{FF2B5EF4-FFF2-40B4-BE49-F238E27FC236}">
                      <a16:creationId xmlns:a16="http://schemas.microsoft.com/office/drawing/2014/main" id="{FEBF21B7-87E7-97B7-8147-A1B3CD97F43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387850" y="3027845"/>
                  <a:ext cx="481039" cy="316024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Прямая соединительная линия 52">
                  <a:extLst>
                    <a:ext uri="{FF2B5EF4-FFF2-40B4-BE49-F238E27FC236}">
                      <a16:creationId xmlns:a16="http://schemas.microsoft.com/office/drawing/2014/main" id="{75E4BB71-E799-A94D-5D52-A82A7575A1C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868889" y="3027845"/>
                  <a:ext cx="490641" cy="316024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85" name="Группа 84">
              <a:extLst>
                <a:ext uri="{FF2B5EF4-FFF2-40B4-BE49-F238E27FC236}">
                  <a16:creationId xmlns:a16="http://schemas.microsoft.com/office/drawing/2014/main" id="{9442E7E5-D3A8-5400-3E7C-40321074B8A7}"/>
                </a:ext>
              </a:extLst>
            </p:cNvPr>
            <p:cNvGrpSpPr/>
            <p:nvPr/>
          </p:nvGrpSpPr>
          <p:grpSpPr>
            <a:xfrm rot="10800000">
              <a:off x="1757182" y="-1002650"/>
              <a:ext cx="2806248" cy="3224868"/>
              <a:chOff x="1757182" y="-971872"/>
              <a:chExt cx="2806248" cy="3224868"/>
            </a:xfrm>
          </p:grpSpPr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51C7BE51-FDB6-4291-9250-372B51F3C308}"/>
                  </a:ext>
                </a:extLst>
              </p:cNvPr>
              <p:cNvSpPr txBox="1"/>
              <p:nvPr/>
            </p:nvSpPr>
            <p:spPr>
              <a:xfrm rot="10800000">
                <a:off x="1889778" y="-971872"/>
                <a:ext cx="2541057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Шаг 1</a:t>
                </a:r>
              </a:p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Качество данных</a:t>
                </a:r>
              </a:p>
            </p:txBody>
          </p:sp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61E79584-717E-F56F-1390-3051E6D19F96}"/>
                  </a:ext>
                </a:extLst>
              </p:cNvPr>
              <p:cNvSpPr txBox="1"/>
              <p:nvPr/>
            </p:nvSpPr>
            <p:spPr>
              <a:xfrm>
                <a:off x="1757182" y="1668221"/>
                <a:ext cx="2806248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Шаг 4. Распределения</a:t>
                </a:r>
              </a:p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числовых атрибутов</a:t>
                </a:r>
              </a:p>
            </p:txBody>
          </p:sp>
        </p:grpSp>
      </p:grp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EEF8591C-7D0D-224F-F91F-1E961117BDFC}"/>
              </a:ext>
            </a:extLst>
          </p:cNvPr>
          <p:cNvSpPr/>
          <p:nvPr/>
        </p:nvSpPr>
        <p:spPr>
          <a:xfrm>
            <a:off x="-246746" y="-220648"/>
            <a:ext cx="12685487" cy="1312847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75000"/>
                  <a:lumOff val="25000"/>
                </a:schemeClr>
              </a:gs>
              <a:gs pos="75000">
                <a:srgbClr val="122639"/>
              </a:gs>
              <a:gs pos="100000">
                <a:schemeClr val="tx1">
                  <a:lumMod val="95000"/>
                  <a:lumOff val="5000"/>
                </a:schemeClr>
              </a:gs>
              <a:gs pos="44000">
                <a:schemeClr val="tx2">
                  <a:lumMod val="90000"/>
                  <a:lumOff val="10000"/>
                </a:schemeClr>
              </a:gs>
            </a:gsLst>
            <a:lin ang="12600000" scaled="0"/>
            <a:tileRect/>
          </a:gra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500865-2FF3-09FF-4C76-D60CCCE702BF}"/>
              </a:ext>
            </a:extLst>
          </p:cNvPr>
          <p:cNvSpPr txBox="1"/>
          <p:nvPr/>
        </p:nvSpPr>
        <p:spPr>
          <a:xfrm>
            <a:off x="651247" y="232100"/>
            <a:ext cx="10889495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Табличные данные: анализ</a:t>
            </a:r>
            <a:endParaRPr lang="ru-RU" sz="2000" dirty="0">
              <a:solidFill>
                <a:schemeClr val="bg1"/>
              </a:solidFill>
              <a:latin typeface="Arial Black" panose="020B0A040201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Дата 6">
            <a:extLst>
              <a:ext uri="{FF2B5EF4-FFF2-40B4-BE49-F238E27FC236}">
                <a16:creationId xmlns:a16="http://schemas.microsoft.com/office/drawing/2014/main" id="{1C82F713-7E84-9A0D-FDF3-10E8D6FB1D4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280316" y="6284083"/>
            <a:ext cx="892634" cy="463875"/>
          </a:xfrm>
        </p:spPr>
        <p:txBody>
          <a:bodyPr/>
          <a:lstStyle/>
          <a:p>
            <a:pPr algn="ctr">
              <a:defRPr/>
            </a:pPr>
            <a:fld id="{D063FBCF-7873-4A49-B36C-1F912BB77786}" type="slidenum">
              <a:rPr lang="ru-RU" altLang="ru-RU" sz="2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ctr">
                <a:defRPr/>
              </a:pPr>
              <a:t>6</a:t>
            </a:fld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/13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F820D4D2-5063-51E5-35F9-772B9A938C9B}"/>
              </a:ext>
            </a:extLst>
          </p:cNvPr>
          <p:cNvSpPr/>
          <p:nvPr/>
        </p:nvSpPr>
        <p:spPr>
          <a:xfrm>
            <a:off x="-476262" y="937951"/>
            <a:ext cx="13144512" cy="5201601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Дата 6">
            <a:extLst>
              <a:ext uri="{FF2B5EF4-FFF2-40B4-BE49-F238E27FC236}">
                <a16:creationId xmlns:a16="http://schemas.microsoft.com/office/drawing/2014/main" id="{D228E16B-E6CF-49CC-EEDB-50F6BA16A486}"/>
              </a:ext>
            </a:extLst>
          </p:cNvPr>
          <p:cNvSpPr txBox="1">
            <a:spLocks/>
          </p:cNvSpPr>
          <p:nvPr/>
        </p:nvSpPr>
        <p:spPr>
          <a:xfrm>
            <a:off x="38100" y="6284084"/>
            <a:ext cx="7785187" cy="463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Курсовой проект «Поиск и первичный анализ наборов данных»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cxnSp>
        <p:nvCxnSpPr>
          <p:cNvPr id="79" name="Прямая соединительная линия 78">
            <a:extLst>
              <a:ext uri="{FF2B5EF4-FFF2-40B4-BE49-F238E27FC236}">
                <a16:creationId xmlns:a16="http://schemas.microsoft.com/office/drawing/2014/main" id="{793772B4-2630-BEA0-7B7E-60FF4FDADC4E}"/>
              </a:ext>
            </a:extLst>
          </p:cNvPr>
          <p:cNvCxnSpPr>
            <a:cxnSpLocks/>
          </p:cNvCxnSpPr>
          <p:nvPr/>
        </p:nvCxnSpPr>
        <p:spPr>
          <a:xfrm flipH="1">
            <a:off x="-495312" y="2705100"/>
            <a:ext cx="13163562" cy="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3" name="Группа 122">
            <a:extLst>
              <a:ext uri="{FF2B5EF4-FFF2-40B4-BE49-F238E27FC236}">
                <a16:creationId xmlns:a16="http://schemas.microsoft.com/office/drawing/2014/main" id="{0334041E-2E47-0C64-4403-45D9FF521C7E}"/>
              </a:ext>
            </a:extLst>
          </p:cNvPr>
          <p:cNvGrpSpPr/>
          <p:nvPr/>
        </p:nvGrpSpPr>
        <p:grpSpPr>
          <a:xfrm>
            <a:off x="-495312" y="2705100"/>
            <a:ext cx="13163562" cy="3607987"/>
            <a:chOff x="-495312" y="2705100"/>
            <a:chExt cx="13163562" cy="3607987"/>
          </a:xfrm>
        </p:grpSpPr>
        <p:cxnSp>
          <p:nvCxnSpPr>
            <p:cNvPr id="72" name="Прямая соединительная линия 71">
              <a:extLst>
                <a:ext uri="{FF2B5EF4-FFF2-40B4-BE49-F238E27FC236}">
                  <a16:creationId xmlns:a16="http://schemas.microsoft.com/office/drawing/2014/main" id="{FF44F429-82E8-6408-448C-925568E95698}"/>
                </a:ext>
              </a:extLst>
            </p:cNvPr>
            <p:cNvCxnSpPr>
              <a:cxnSpLocks/>
            </p:cNvCxnSpPr>
            <p:nvPr/>
          </p:nvCxnSpPr>
          <p:spPr>
            <a:xfrm>
              <a:off x="1226176" y="2705100"/>
              <a:ext cx="0" cy="3434452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Прямая соединительная линия 73">
              <a:extLst>
                <a:ext uri="{FF2B5EF4-FFF2-40B4-BE49-F238E27FC236}">
                  <a16:creationId xmlns:a16="http://schemas.microsoft.com/office/drawing/2014/main" id="{F61BEA13-260F-35DC-AD14-B1A7CE326DB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495312" y="4670426"/>
              <a:ext cx="13163562" cy="0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F17BC482-5520-55C5-E2D0-F7578AB2E3C0}"/>
                </a:ext>
              </a:extLst>
            </p:cNvPr>
            <p:cNvSpPr txBox="1"/>
            <p:nvPr/>
          </p:nvSpPr>
          <p:spPr>
            <a:xfrm rot="3847950">
              <a:off x="-121036" y="3625376"/>
              <a:ext cx="15975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Результаты</a:t>
              </a: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CE201F20-523C-4470-4C15-BE9738276D96}"/>
                </a:ext>
              </a:extLst>
            </p:cNvPr>
            <p:cNvSpPr txBox="1"/>
            <p:nvPr/>
          </p:nvSpPr>
          <p:spPr>
            <a:xfrm rot="3847950">
              <a:off x="-49012" y="5368638"/>
              <a:ext cx="151956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Действия</a:t>
              </a:r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EF94A634-6078-8739-56CE-F60B84A3C6DE}"/>
                </a:ext>
              </a:extLst>
            </p:cNvPr>
            <p:cNvSpPr txBox="1"/>
            <p:nvPr/>
          </p:nvSpPr>
          <p:spPr>
            <a:xfrm>
              <a:off x="1396280" y="2738923"/>
              <a:ext cx="3098519" cy="14345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5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Отсутствие п</a:t>
              </a:r>
              <a:r>
                <a: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ропусков и дубликатов;</a:t>
              </a:r>
            </a:p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Выбросы только в признаке качество сна (9 шт., 0.06%).</a:t>
              </a:r>
              <a:endParaRPr lang="ru-RU" sz="15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466787DB-CE39-505C-2544-7E645FBB72C0}"/>
                </a:ext>
              </a:extLst>
            </p:cNvPr>
            <p:cNvSpPr txBox="1"/>
            <p:nvPr/>
          </p:nvSpPr>
          <p:spPr>
            <a:xfrm>
              <a:off x="4564085" y="2743199"/>
              <a:ext cx="4278218" cy="178080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Сильные: стресс и умственная усталость (+0.95), стресс и качество сна (-0.86), Стресс и экранное время: (+0.88);</a:t>
              </a:r>
            </a:p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500" b="0" i="0" dirty="0" err="1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Мультиколлинеарности</a:t>
              </a:r>
              <a:r>
                <a: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 входных признаков нет (&lt; 0.75).</a:t>
              </a:r>
              <a:endParaRPr lang="ru-RU" sz="15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8291DB68-CFB5-0FA1-E4FC-29EE08E89111}"/>
                </a:ext>
              </a:extLst>
            </p:cNvPr>
            <p:cNvSpPr txBox="1"/>
            <p:nvPr/>
          </p:nvSpPr>
          <p:spPr>
            <a:xfrm>
              <a:off x="8586491" y="2743199"/>
              <a:ext cx="3442447" cy="178080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285750">
                <a:lnSpc>
                  <a:spcPct val="150000"/>
                </a:lnSpc>
              </a:pPr>
              <a:r>
                <a: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Значительное различие в </a:t>
              </a:r>
            </a:p>
            <a:p>
              <a:pPr marL="285750">
                <a:lnSpc>
                  <a:spcPct val="150000"/>
                </a:lnSpc>
              </a:pPr>
              <a:r>
                <a: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масштабах признаков:</a:t>
              </a:r>
            </a:p>
            <a:p>
              <a:pPr marL="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en-CA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r>
                <a:rPr lang="en-CA" sz="15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8</a:t>
              </a:r>
              <a:r>
                <a: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CA" sz="15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≤ </a:t>
              </a:r>
              <a:r>
                <a:rPr lang="ru-RU" sz="15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возраст</a:t>
              </a:r>
              <a:r>
                <a:rPr lang="en-CA" sz="15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≤ </a:t>
              </a:r>
              <a:r>
                <a:rPr lang="en-CA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59;</a:t>
              </a:r>
              <a:endParaRPr lang="ru-RU" sz="1500" b="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marL="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en-CA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 0 ≤ </a:t>
              </a:r>
              <a:r>
                <a:rPr lang="ru-RU" sz="1500" b="0" i="0" dirty="0" err="1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чашки_кофе</a:t>
              </a:r>
              <a:r>
                <a: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CA" sz="15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≤</a:t>
              </a:r>
              <a:r>
                <a:rPr lang="ru-RU" sz="15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4;</a:t>
              </a:r>
              <a:endParaRPr lang="ru-RU" sz="1500" b="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marL="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 20 </a:t>
              </a:r>
              <a:r>
                <a:rPr lang="en-CA" sz="15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≤</a:t>
              </a:r>
              <a:r>
                <a:rPr lang="ru-RU" sz="15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уведомления </a:t>
              </a:r>
              <a:r>
                <a:rPr lang="en-CA" sz="15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≤ </a:t>
              </a:r>
              <a:r>
                <a:rPr lang="ru-RU" sz="15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299.</a:t>
              </a:r>
              <a:endParaRPr lang="ru-RU" sz="1500" b="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C164128F-D0F6-4155-2A37-B4642C0B867F}"/>
                </a:ext>
              </a:extLst>
            </p:cNvPr>
            <p:cNvSpPr txBox="1"/>
            <p:nvPr/>
          </p:nvSpPr>
          <p:spPr>
            <a:xfrm>
              <a:off x="1406586" y="4788442"/>
              <a:ext cx="2977089" cy="69871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4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Оставить выбросы как экстремальные случаи</a:t>
              </a:r>
              <a:endParaRPr lang="ru-RU" sz="14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A0F9DB9E-98CB-1A93-42EA-2FABFB6B61F4}"/>
                </a:ext>
              </a:extLst>
            </p:cNvPr>
            <p:cNvSpPr txBox="1"/>
            <p:nvPr/>
          </p:nvSpPr>
          <p:spPr>
            <a:xfrm>
              <a:off x="4564086" y="4848782"/>
              <a:ext cx="3549400" cy="5539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–"/>
              </a:pPr>
              <a:r>
                <a: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Использовать все признаки для</a:t>
              </a:r>
            </a:p>
            <a:p>
              <a:r>
                <a: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построения ИИ-модели</a:t>
              </a: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3D88ABD5-10DF-CB2C-0B91-4C8E01ADF079}"/>
                </a:ext>
              </a:extLst>
            </p:cNvPr>
            <p:cNvSpPr txBox="1"/>
            <p:nvPr/>
          </p:nvSpPr>
          <p:spPr>
            <a:xfrm>
              <a:off x="8876295" y="4789078"/>
              <a:ext cx="2989310" cy="108831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5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Применить </a:t>
              </a:r>
              <a:r>
                <a:rPr lang="ru-RU" sz="1500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StandardScaler</a:t>
              </a:r>
              <a:r>
                <a:rPr lang="ru-RU" sz="15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, для приведения всех числовых признаков к единому масштабу</a:t>
              </a:r>
            </a:p>
          </p:txBody>
        </p:sp>
      </p:grpSp>
      <p:grpSp>
        <p:nvGrpSpPr>
          <p:cNvPr id="122" name="Группа 121">
            <a:extLst>
              <a:ext uri="{FF2B5EF4-FFF2-40B4-BE49-F238E27FC236}">
                <a16:creationId xmlns:a16="http://schemas.microsoft.com/office/drawing/2014/main" id="{15AF9514-5A42-5ACD-242A-D5394C9BC005}"/>
              </a:ext>
            </a:extLst>
          </p:cNvPr>
          <p:cNvGrpSpPr/>
          <p:nvPr/>
        </p:nvGrpSpPr>
        <p:grpSpPr>
          <a:xfrm>
            <a:off x="-13320841" y="2705100"/>
            <a:ext cx="13163562" cy="3607987"/>
            <a:chOff x="12275671" y="2705100"/>
            <a:chExt cx="13163562" cy="3607987"/>
          </a:xfrm>
        </p:grpSpPr>
        <p:cxnSp>
          <p:nvCxnSpPr>
            <p:cNvPr id="111" name="Прямая соединительная линия 110">
              <a:extLst>
                <a:ext uri="{FF2B5EF4-FFF2-40B4-BE49-F238E27FC236}">
                  <a16:creationId xmlns:a16="http://schemas.microsoft.com/office/drawing/2014/main" id="{89E56FB7-E1C5-2185-C6CE-53BA9777D7A1}"/>
                </a:ext>
              </a:extLst>
            </p:cNvPr>
            <p:cNvCxnSpPr>
              <a:cxnSpLocks/>
            </p:cNvCxnSpPr>
            <p:nvPr/>
          </p:nvCxnSpPr>
          <p:spPr>
            <a:xfrm>
              <a:off x="13997159" y="2705100"/>
              <a:ext cx="0" cy="3434452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21" name="Группа 120">
              <a:extLst>
                <a:ext uri="{FF2B5EF4-FFF2-40B4-BE49-F238E27FC236}">
                  <a16:creationId xmlns:a16="http://schemas.microsoft.com/office/drawing/2014/main" id="{2435279A-BCC6-3275-DA86-94B9ED86FBD4}"/>
                </a:ext>
              </a:extLst>
            </p:cNvPr>
            <p:cNvGrpSpPr/>
            <p:nvPr/>
          </p:nvGrpSpPr>
          <p:grpSpPr>
            <a:xfrm>
              <a:off x="12275671" y="2705100"/>
              <a:ext cx="13163562" cy="3607987"/>
              <a:chOff x="12275671" y="2705100"/>
              <a:chExt cx="13163562" cy="3607987"/>
            </a:xfrm>
          </p:grpSpPr>
          <p:cxnSp>
            <p:nvCxnSpPr>
              <p:cNvPr id="112" name="Прямая соединительная линия 111">
                <a:extLst>
                  <a:ext uri="{FF2B5EF4-FFF2-40B4-BE49-F238E27FC236}">
                    <a16:creationId xmlns:a16="http://schemas.microsoft.com/office/drawing/2014/main" id="{E5F17D2B-CE90-14B8-2919-28389BAA0D6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2275671" y="4670426"/>
                <a:ext cx="13163562" cy="0"/>
              </a:xfrm>
              <a:prstGeom prst="line">
                <a:avLst/>
              </a:prstGeom>
              <a:ln w="25400"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3" name="TextBox 112">
                <a:extLst>
                  <a:ext uri="{FF2B5EF4-FFF2-40B4-BE49-F238E27FC236}">
                    <a16:creationId xmlns:a16="http://schemas.microsoft.com/office/drawing/2014/main" id="{A11E4FC6-DF7F-FF24-6C02-A61363361194}"/>
                  </a:ext>
                </a:extLst>
              </p:cNvPr>
              <p:cNvSpPr txBox="1"/>
              <p:nvPr/>
            </p:nvSpPr>
            <p:spPr>
              <a:xfrm rot="3847950">
                <a:off x="12649947" y="3625376"/>
                <a:ext cx="15975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Результаты</a:t>
                </a:r>
              </a:p>
            </p:txBody>
          </p:sp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C37A3884-63A9-0331-F761-F6C8EDBA7B66}"/>
                  </a:ext>
                </a:extLst>
              </p:cNvPr>
              <p:cNvSpPr txBox="1"/>
              <p:nvPr/>
            </p:nvSpPr>
            <p:spPr>
              <a:xfrm rot="3847950">
                <a:off x="12721971" y="5368638"/>
                <a:ext cx="151956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Действия</a:t>
                </a:r>
              </a:p>
            </p:txBody>
          </p:sp>
          <p:sp>
            <p:nvSpPr>
              <p:cNvPr id="115" name="TextBox 114">
                <a:extLst>
                  <a:ext uri="{FF2B5EF4-FFF2-40B4-BE49-F238E27FC236}">
                    <a16:creationId xmlns:a16="http://schemas.microsoft.com/office/drawing/2014/main" id="{CAD58872-5730-1928-37DF-D673E4BB1CB7}"/>
                  </a:ext>
                </a:extLst>
              </p:cNvPr>
              <p:cNvSpPr txBox="1"/>
              <p:nvPr/>
            </p:nvSpPr>
            <p:spPr>
              <a:xfrm>
                <a:off x="14074343" y="2743199"/>
                <a:ext cx="3863630" cy="17808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5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Качество сна: Близко к нормальному;</a:t>
                </a:r>
              </a:p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5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Уровень стресса и умственная усталость: Левосторонняя асимметрия;</a:t>
                </a:r>
              </a:p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5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Кофеин: Дискретное;</a:t>
                </a:r>
              </a:p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5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Остальные признаки: Равномерное.</a:t>
                </a:r>
              </a:p>
            </p:txBody>
          </p:sp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716A7E44-E7F1-7D5A-1702-F7F7D2908B31}"/>
                  </a:ext>
                </a:extLst>
              </p:cNvPr>
              <p:cNvSpPr txBox="1"/>
              <p:nvPr/>
            </p:nvSpPr>
            <p:spPr>
              <a:xfrm>
                <a:off x="18012063" y="2739324"/>
                <a:ext cx="3190587" cy="74206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Пол: Дисбаланс;</a:t>
                </a:r>
              </a:p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5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Профессия: равномерное.</a:t>
                </a:r>
                <a:endParaRPr lang="ru-RU" sz="15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17" name="TextBox 116">
                <a:extLst>
                  <a:ext uri="{FF2B5EF4-FFF2-40B4-BE49-F238E27FC236}">
                    <a16:creationId xmlns:a16="http://schemas.microsoft.com/office/drawing/2014/main" id="{066D1632-60F6-6A88-B0D9-798AFA7B0CE3}"/>
                  </a:ext>
                </a:extLst>
              </p:cNvPr>
              <p:cNvSpPr txBox="1"/>
              <p:nvPr/>
            </p:nvSpPr>
            <p:spPr>
              <a:xfrm>
                <a:off x="21647278" y="2705100"/>
                <a:ext cx="3442447" cy="10883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indent="-28440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Пол: </a:t>
                </a:r>
                <a:r>
                  <a:rPr lang="ru-RU" sz="1500" b="0" i="0" dirty="0" err="1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Female</a:t>
                </a:r>
                <a:r>
                  <a:rPr lang="ru-RU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:r>
                  <a:rPr lang="ru-RU" sz="1500" b="0" i="0" dirty="0" err="1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Male</a:t>
                </a:r>
                <a:r>
                  <a:rPr lang="ru-RU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:r>
                  <a:rPr lang="ru-RU" sz="1500" b="0" i="0" dirty="0" err="1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Other</a:t>
                </a:r>
                <a:r>
                  <a:rPr lang="ru-RU" sz="15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. </a:t>
                </a:r>
              </a:p>
              <a:p>
                <a:pPr indent="-284400">
                  <a:lnSpc>
                    <a:spcPct val="150000"/>
                  </a:lnSpc>
                </a:pPr>
                <a:r>
                  <a:rPr lang="en-CA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{</a:t>
                </a:r>
                <a:r>
                  <a:rPr lang="ru-RU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0, 2</a:t>
                </a:r>
                <a:r>
                  <a:rPr lang="en-CA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}</a:t>
                </a:r>
                <a:endPara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indent="-28440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Профессия: 8 категорий </a:t>
                </a:r>
                <a:r>
                  <a:rPr lang="en-CA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{</a:t>
                </a:r>
                <a:r>
                  <a:rPr lang="ru-RU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0, 7</a:t>
                </a:r>
                <a:r>
                  <a:rPr lang="en-CA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}</a:t>
                </a:r>
                <a:endPara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E4139227-7D48-62F6-87F3-697AA012DADC}"/>
                  </a:ext>
                </a:extLst>
              </p:cNvPr>
              <p:cNvSpPr txBox="1"/>
              <p:nvPr/>
            </p:nvSpPr>
            <p:spPr>
              <a:xfrm>
                <a:off x="14106584" y="4735799"/>
                <a:ext cx="3735376" cy="10218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4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Уровень стресса и умственная усталость: </a:t>
                </a:r>
                <a:r>
                  <a:rPr lang="ru-RU" sz="14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Группировка редких</a:t>
                </a:r>
              </a:p>
              <a:p>
                <a:pPr>
                  <a:lnSpc>
                    <a:spcPct val="150000"/>
                  </a:lnSpc>
                </a:pPr>
                <a:r>
                  <a:rPr lang="ru-RU" sz="14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значений</a:t>
                </a:r>
              </a:p>
            </p:txBody>
          </p:sp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B05CCDDC-9A9F-5092-9980-9CB89776E376}"/>
                  </a:ext>
                </a:extLst>
              </p:cNvPr>
              <p:cNvSpPr txBox="1"/>
              <p:nvPr/>
            </p:nvSpPr>
            <p:spPr>
              <a:xfrm>
                <a:off x="18012063" y="4788442"/>
                <a:ext cx="2977089" cy="5539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–"/>
                </a:pPr>
                <a:r>
                  <a:rPr lang="ru-RU" sz="15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Пол: </a:t>
                </a:r>
                <a:r>
                  <a:rPr lang="ru-RU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Учет дисбаланса</a:t>
                </a:r>
              </a:p>
              <a:p>
                <a:r>
                  <a:rPr lang="ru-RU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при обучении модели</a:t>
                </a:r>
              </a:p>
            </p:txBody>
          </p:sp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7A9412D9-38C4-5115-A778-FF6FA671783C}"/>
                  </a:ext>
                </a:extLst>
              </p:cNvPr>
              <p:cNvSpPr txBox="1"/>
              <p:nvPr/>
            </p:nvSpPr>
            <p:spPr>
              <a:xfrm>
                <a:off x="21647278" y="4696367"/>
                <a:ext cx="2989310" cy="39581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en-US" sz="15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Label Encoding</a:t>
                </a:r>
                <a:endParaRPr lang="ru-RU" sz="15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9772821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AFA7FA-214D-8881-E634-C048A1B2A5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ADEEC0E5-6096-2B71-9850-EEF34A443CA5}"/>
              </a:ext>
            </a:extLst>
          </p:cNvPr>
          <p:cNvSpPr/>
          <p:nvPr/>
        </p:nvSpPr>
        <p:spPr>
          <a:xfrm>
            <a:off x="-227696" y="-220648"/>
            <a:ext cx="12685487" cy="7299296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50000"/>
                  <a:lumOff val="50000"/>
                </a:schemeClr>
              </a:gs>
              <a:gs pos="75000">
                <a:srgbClr val="122639"/>
              </a:gs>
              <a:gs pos="100000">
                <a:schemeClr val="tx1">
                  <a:lumMod val="95000"/>
                  <a:lumOff val="5000"/>
                </a:schemeClr>
              </a:gs>
              <a:gs pos="50000">
                <a:schemeClr val="tx2">
                  <a:lumMod val="90000"/>
                  <a:lumOff val="10000"/>
                </a:schemeClr>
              </a:gs>
            </a:gsLst>
            <a:lin ang="12600000" scaled="0"/>
            <a:tileRect/>
          </a:gra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100" name="Группа 99">
            <a:extLst>
              <a:ext uri="{FF2B5EF4-FFF2-40B4-BE49-F238E27FC236}">
                <a16:creationId xmlns:a16="http://schemas.microsoft.com/office/drawing/2014/main" id="{3A1E6AAE-7DD7-1BBD-074B-07FC4BF5B653}"/>
              </a:ext>
            </a:extLst>
          </p:cNvPr>
          <p:cNvGrpSpPr/>
          <p:nvPr/>
        </p:nvGrpSpPr>
        <p:grpSpPr>
          <a:xfrm rot="10800000">
            <a:off x="8597992" y="-1343198"/>
            <a:ext cx="4125183" cy="3903766"/>
            <a:chOff x="8597992" y="-1343198"/>
            <a:chExt cx="4125183" cy="3903766"/>
          </a:xfrm>
        </p:grpSpPr>
        <p:grpSp>
          <p:nvGrpSpPr>
            <p:cNvPr id="95" name="Группа 94">
              <a:extLst>
                <a:ext uri="{FF2B5EF4-FFF2-40B4-BE49-F238E27FC236}">
                  <a16:creationId xmlns:a16="http://schemas.microsoft.com/office/drawing/2014/main" id="{207F0012-3F3F-0AC5-EC8F-A4575FF05ABE}"/>
                </a:ext>
              </a:extLst>
            </p:cNvPr>
            <p:cNvGrpSpPr/>
            <p:nvPr/>
          </p:nvGrpSpPr>
          <p:grpSpPr>
            <a:xfrm>
              <a:off x="8670670" y="-1343198"/>
              <a:ext cx="3903766" cy="3903766"/>
              <a:chOff x="8746731" y="-1343198"/>
              <a:chExt cx="3903766" cy="3903766"/>
            </a:xfrm>
          </p:grpSpPr>
          <p:grpSp>
            <p:nvGrpSpPr>
              <p:cNvPr id="63" name="Группа 62">
                <a:extLst>
                  <a:ext uri="{FF2B5EF4-FFF2-40B4-BE49-F238E27FC236}">
                    <a16:creationId xmlns:a16="http://schemas.microsoft.com/office/drawing/2014/main" id="{5954B2AC-80E5-174E-DE4E-0920BA45B2FD}"/>
                  </a:ext>
                </a:extLst>
              </p:cNvPr>
              <p:cNvGrpSpPr/>
              <p:nvPr/>
            </p:nvGrpSpPr>
            <p:grpSpPr>
              <a:xfrm>
                <a:off x="8746731" y="-1343198"/>
                <a:ext cx="3903766" cy="3903766"/>
                <a:chOff x="152400" y="1057655"/>
                <a:chExt cx="3903766" cy="3903766"/>
              </a:xfrm>
            </p:grpSpPr>
            <p:sp>
              <p:nvSpPr>
                <p:cNvPr id="64" name="Полилиния: фигура 63">
                  <a:extLst>
                    <a:ext uri="{FF2B5EF4-FFF2-40B4-BE49-F238E27FC236}">
                      <a16:creationId xmlns:a16="http://schemas.microsoft.com/office/drawing/2014/main" id="{4DC59E8B-F5A9-C937-4623-2D8ED4D7FD3B}"/>
                    </a:ext>
                  </a:extLst>
                </p:cNvPr>
                <p:cNvSpPr/>
                <p:nvPr/>
              </p:nvSpPr>
              <p:spPr>
                <a:xfrm>
                  <a:off x="152400" y="1057655"/>
                  <a:ext cx="3903766" cy="3903766"/>
                </a:xfrm>
                <a:custGeom>
                  <a:avLst/>
                  <a:gdLst>
                    <a:gd name="csX0" fmla="*/ 2492829 w 4985658"/>
                    <a:gd name="csY0" fmla="*/ 1240972 h 4985658"/>
                    <a:gd name="csX1" fmla="*/ 1240972 w 4985658"/>
                    <a:gd name="csY1" fmla="*/ 2492829 h 4985658"/>
                    <a:gd name="csX2" fmla="*/ 2492829 w 4985658"/>
                    <a:gd name="csY2" fmla="*/ 3744686 h 4985658"/>
                    <a:gd name="csX3" fmla="*/ 3744686 w 4985658"/>
                    <a:gd name="csY3" fmla="*/ 2492829 h 4985658"/>
                    <a:gd name="csX4" fmla="*/ 2492829 w 4985658"/>
                    <a:gd name="csY4" fmla="*/ 1240972 h 4985658"/>
                    <a:gd name="csX5" fmla="*/ 2492829 w 4985658"/>
                    <a:gd name="csY5" fmla="*/ 0 h 4985658"/>
                    <a:gd name="csX6" fmla="*/ 4985658 w 4985658"/>
                    <a:gd name="csY6" fmla="*/ 2492829 h 4985658"/>
                    <a:gd name="csX7" fmla="*/ 2492829 w 4985658"/>
                    <a:gd name="csY7" fmla="*/ 4985658 h 4985658"/>
                    <a:gd name="csX8" fmla="*/ 0 w 4985658"/>
                    <a:gd name="csY8" fmla="*/ 2492829 h 4985658"/>
                    <a:gd name="csX9" fmla="*/ 2492829 w 4985658"/>
                    <a:gd name="csY9" fmla="*/ 0 h 498565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</a:cxnLst>
                  <a:rect l="l" t="t" r="r" b="b"/>
                  <a:pathLst>
                    <a:path w="4985658" h="4985658">
                      <a:moveTo>
                        <a:pt x="2492829" y="1240972"/>
                      </a:moveTo>
                      <a:cubicBezTo>
                        <a:pt x="1801447" y="1240972"/>
                        <a:pt x="1240972" y="1801447"/>
                        <a:pt x="1240972" y="2492829"/>
                      </a:cubicBezTo>
                      <a:cubicBezTo>
                        <a:pt x="1240972" y="3184211"/>
                        <a:pt x="1801447" y="3744686"/>
                        <a:pt x="2492829" y="3744686"/>
                      </a:cubicBezTo>
                      <a:cubicBezTo>
                        <a:pt x="3184211" y="3744686"/>
                        <a:pt x="3744686" y="3184211"/>
                        <a:pt x="3744686" y="2492829"/>
                      </a:cubicBezTo>
                      <a:cubicBezTo>
                        <a:pt x="3744686" y="1801447"/>
                        <a:pt x="3184211" y="1240972"/>
                        <a:pt x="2492829" y="1240972"/>
                      </a:cubicBezTo>
                      <a:close/>
                      <a:moveTo>
                        <a:pt x="2492829" y="0"/>
                      </a:moveTo>
                      <a:cubicBezTo>
                        <a:pt x="3869580" y="0"/>
                        <a:pt x="4985658" y="1116078"/>
                        <a:pt x="4985658" y="2492829"/>
                      </a:cubicBezTo>
                      <a:cubicBezTo>
                        <a:pt x="4985658" y="3869580"/>
                        <a:pt x="3869580" y="4985658"/>
                        <a:pt x="2492829" y="4985658"/>
                      </a:cubicBezTo>
                      <a:cubicBezTo>
                        <a:pt x="1116078" y="4985658"/>
                        <a:pt x="0" y="3869580"/>
                        <a:pt x="0" y="2492829"/>
                      </a:cubicBezTo>
                      <a:cubicBezTo>
                        <a:pt x="0" y="1116078"/>
                        <a:pt x="1116078" y="0"/>
                        <a:pt x="2492829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tx2">
                        <a:lumMod val="50000"/>
                        <a:lumOff val="50000"/>
                      </a:schemeClr>
                    </a:gs>
                    <a:gs pos="75000">
                      <a:srgbClr val="122639"/>
                    </a:gs>
                    <a:gs pos="100000">
                      <a:schemeClr val="tx1">
                        <a:lumMod val="95000"/>
                        <a:lumOff val="5000"/>
                      </a:schemeClr>
                    </a:gs>
                    <a:gs pos="44000">
                      <a:schemeClr val="tx2">
                        <a:lumMod val="90000"/>
                        <a:lumOff val="10000"/>
                      </a:schemeClr>
                    </a:gs>
                  </a:gsLst>
                  <a:lin ang="12600000" scaled="0"/>
                </a:gra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ru-RU" dirty="0"/>
                </a:p>
              </p:txBody>
            </p:sp>
            <p:grpSp>
              <p:nvGrpSpPr>
                <p:cNvPr id="65" name="Группа 64">
                  <a:extLst>
                    <a:ext uri="{FF2B5EF4-FFF2-40B4-BE49-F238E27FC236}">
                      <a16:creationId xmlns:a16="http://schemas.microsoft.com/office/drawing/2014/main" id="{4021A0C6-7653-AEBA-6DCE-A5A244A1D77E}"/>
                    </a:ext>
                  </a:extLst>
                </p:cNvPr>
                <p:cNvGrpSpPr/>
                <p:nvPr/>
              </p:nvGrpSpPr>
              <p:grpSpPr>
                <a:xfrm>
                  <a:off x="3084486" y="2719153"/>
                  <a:ext cx="971680" cy="316024"/>
                  <a:chOff x="4387850" y="3027845"/>
                  <a:chExt cx="971680" cy="316024"/>
                </a:xfrm>
              </p:grpSpPr>
              <p:cxnSp>
                <p:nvCxnSpPr>
                  <p:cNvPr id="69" name="Прямая соединительная линия 68">
                    <a:extLst>
                      <a:ext uri="{FF2B5EF4-FFF2-40B4-BE49-F238E27FC236}">
                        <a16:creationId xmlns:a16="http://schemas.microsoft.com/office/drawing/2014/main" id="{76B8D27B-1780-7152-51F9-DA3E233E021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387850" y="3027845"/>
                    <a:ext cx="481039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0" name="Прямая соединительная линия 69">
                    <a:extLst>
                      <a:ext uri="{FF2B5EF4-FFF2-40B4-BE49-F238E27FC236}">
                        <a16:creationId xmlns:a16="http://schemas.microsoft.com/office/drawing/2014/main" id="{C8309756-C2FD-8DE2-11E1-6D754B4FEEF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4868889" y="3027845"/>
                    <a:ext cx="490641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6" name="Группа 65">
                  <a:extLst>
                    <a:ext uri="{FF2B5EF4-FFF2-40B4-BE49-F238E27FC236}">
                      <a16:creationId xmlns:a16="http://schemas.microsoft.com/office/drawing/2014/main" id="{DE033ED8-A85F-E36D-678D-2AF50A369E9F}"/>
                    </a:ext>
                  </a:extLst>
                </p:cNvPr>
                <p:cNvGrpSpPr/>
                <p:nvPr/>
              </p:nvGrpSpPr>
              <p:grpSpPr>
                <a:xfrm rot="10800000">
                  <a:off x="152400" y="3035177"/>
                  <a:ext cx="971680" cy="316024"/>
                  <a:chOff x="4387850" y="3027845"/>
                  <a:chExt cx="971680" cy="316024"/>
                </a:xfrm>
              </p:grpSpPr>
              <p:cxnSp>
                <p:nvCxnSpPr>
                  <p:cNvPr id="67" name="Прямая соединительная линия 66">
                    <a:extLst>
                      <a:ext uri="{FF2B5EF4-FFF2-40B4-BE49-F238E27FC236}">
                        <a16:creationId xmlns:a16="http://schemas.microsoft.com/office/drawing/2014/main" id="{B699E14E-6DDD-3478-D950-90B04DE1FA1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387850" y="3027845"/>
                    <a:ext cx="481039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8" name="Прямая соединительная линия 67">
                    <a:extLst>
                      <a:ext uri="{FF2B5EF4-FFF2-40B4-BE49-F238E27FC236}">
                        <a16:creationId xmlns:a16="http://schemas.microsoft.com/office/drawing/2014/main" id="{D4C633D4-8656-E34B-CB41-C1FB0143398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4868889" y="3027845"/>
                    <a:ext cx="490641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D303F3D8-B125-F9D3-EBF6-6D01386BFE8A}"/>
                  </a:ext>
                </a:extLst>
              </p:cNvPr>
              <p:cNvSpPr txBox="1"/>
              <p:nvPr/>
            </p:nvSpPr>
            <p:spPr>
              <a:xfrm>
                <a:off x="9256187" y="1628588"/>
                <a:ext cx="2960914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Шаг 3. Проверка</a:t>
                </a:r>
              </a:p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на диапазоны </a:t>
                </a:r>
              </a:p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значений</a:t>
                </a:r>
              </a:p>
            </p:txBody>
          </p:sp>
        </p:grp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CC8AB7C3-2F38-4C4B-63A7-68ACDCB651C4}"/>
                </a:ext>
              </a:extLst>
            </p:cNvPr>
            <p:cNvSpPr txBox="1"/>
            <p:nvPr/>
          </p:nvSpPr>
          <p:spPr>
            <a:xfrm rot="10800000">
              <a:off x="8597992" y="-1050811"/>
              <a:ext cx="4125183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ru-RU" sz="16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Шаг 6. Кодирование </a:t>
              </a:r>
            </a:p>
            <a:p>
              <a:pPr algn="ctr"/>
              <a:r>
                <a:rPr lang="ru-RU" sz="1600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категор</a:t>
              </a:r>
              <a:r>
                <a:rPr lang="ru-RU" sz="16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 атрибутов</a:t>
              </a:r>
            </a:p>
          </p:txBody>
        </p:sp>
      </p:grpSp>
      <p:grpSp>
        <p:nvGrpSpPr>
          <p:cNvPr id="99" name="Группа 98">
            <a:extLst>
              <a:ext uri="{FF2B5EF4-FFF2-40B4-BE49-F238E27FC236}">
                <a16:creationId xmlns:a16="http://schemas.microsoft.com/office/drawing/2014/main" id="{DD5BFCA4-3C17-7211-C713-64656C2D70A4}"/>
              </a:ext>
            </a:extLst>
          </p:cNvPr>
          <p:cNvGrpSpPr/>
          <p:nvPr/>
        </p:nvGrpSpPr>
        <p:grpSpPr>
          <a:xfrm rot="10800000">
            <a:off x="5028036" y="-1343198"/>
            <a:ext cx="3922816" cy="3903766"/>
            <a:chOff x="5028036" y="-1343198"/>
            <a:chExt cx="3922816" cy="3903766"/>
          </a:xfrm>
        </p:grpSpPr>
        <p:grpSp>
          <p:nvGrpSpPr>
            <p:cNvPr id="89" name="Группа 88">
              <a:extLst>
                <a:ext uri="{FF2B5EF4-FFF2-40B4-BE49-F238E27FC236}">
                  <a16:creationId xmlns:a16="http://schemas.microsoft.com/office/drawing/2014/main" id="{400547EF-3C8E-8852-E718-313C5991B837}"/>
                </a:ext>
              </a:extLst>
            </p:cNvPr>
            <p:cNvGrpSpPr/>
            <p:nvPr/>
          </p:nvGrpSpPr>
          <p:grpSpPr>
            <a:xfrm>
              <a:off x="5047086" y="-1343198"/>
              <a:ext cx="3903766" cy="3903766"/>
              <a:chOff x="5013346" y="-1343198"/>
              <a:chExt cx="3903766" cy="3903766"/>
            </a:xfrm>
          </p:grpSpPr>
          <p:grpSp>
            <p:nvGrpSpPr>
              <p:cNvPr id="55" name="Группа 54">
                <a:extLst>
                  <a:ext uri="{FF2B5EF4-FFF2-40B4-BE49-F238E27FC236}">
                    <a16:creationId xmlns:a16="http://schemas.microsoft.com/office/drawing/2014/main" id="{409CE46D-442A-6F27-62F2-298F906B0C19}"/>
                  </a:ext>
                </a:extLst>
              </p:cNvPr>
              <p:cNvGrpSpPr/>
              <p:nvPr/>
            </p:nvGrpSpPr>
            <p:grpSpPr>
              <a:xfrm>
                <a:off x="5013346" y="-1343198"/>
                <a:ext cx="3903766" cy="3903766"/>
                <a:chOff x="152400" y="1057655"/>
                <a:chExt cx="3903766" cy="3903766"/>
              </a:xfrm>
            </p:grpSpPr>
            <p:sp>
              <p:nvSpPr>
                <p:cNvPr id="56" name="Полилиния: фигура 55">
                  <a:extLst>
                    <a:ext uri="{FF2B5EF4-FFF2-40B4-BE49-F238E27FC236}">
                      <a16:creationId xmlns:a16="http://schemas.microsoft.com/office/drawing/2014/main" id="{23DA5B20-6E55-126B-6D53-FB3DC0D866E8}"/>
                    </a:ext>
                  </a:extLst>
                </p:cNvPr>
                <p:cNvSpPr/>
                <p:nvPr/>
              </p:nvSpPr>
              <p:spPr>
                <a:xfrm>
                  <a:off x="152400" y="1057655"/>
                  <a:ext cx="3903766" cy="3903766"/>
                </a:xfrm>
                <a:custGeom>
                  <a:avLst/>
                  <a:gdLst>
                    <a:gd name="csX0" fmla="*/ 2492829 w 4985658"/>
                    <a:gd name="csY0" fmla="*/ 1240972 h 4985658"/>
                    <a:gd name="csX1" fmla="*/ 1240972 w 4985658"/>
                    <a:gd name="csY1" fmla="*/ 2492829 h 4985658"/>
                    <a:gd name="csX2" fmla="*/ 2492829 w 4985658"/>
                    <a:gd name="csY2" fmla="*/ 3744686 h 4985658"/>
                    <a:gd name="csX3" fmla="*/ 3744686 w 4985658"/>
                    <a:gd name="csY3" fmla="*/ 2492829 h 4985658"/>
                    <a:gd name="csX4" fmla="*/ 2492829 w 4985658"/>
                    <a:gd name="csY4" fmla="*/ 1240972 h 4985658"/>
                    <a:gd name="csX5" fmla="*/ 2492829 w 4985658"/>
                    <a:gd name="csY5" fmla="*/ 0 h 4985658"/>
                    <a:gd name="csX6" fmla="*/ 4985658 w 4985658"/>
                    <a:gd name="csY6" fmla="*/ 2492829 h 4985658"/>
                    <a:gd name="csX7" fmla="*/ 2492829 w 4985658"/>
                    <a:gd name="csY7" fmla="*/ 4985658 h 4985658"/>
                    <a:gd name="csX8" fmla="*/ 0 w 4985658"/>
                    <a:gd name="csY8" fmla="*/ 2492829 h 4985658"/>
                    <a:gd name="csX9" fmla="*/ 2492829 w 4985658"/>
                    <a:gd name="csY9" fmla="*/ 0 h 498565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</a:cxnLst>
                  <a:rect l="l" t="t" r="r" b="b"/>
                  <a:pathLst>
                    <a:path w="4985658" h="4985658">
                      <a:moveTo>
                        <a:pt x="2492829" y="1240972"/>
                      </a:moveTo>
                      <a:cubicBezTo>
                        <a:pt x="1801447" y="1240972"/>
                        <a:pt x="1240972" y="1801447"/>
                        <a:pt x="1240972" y="2492829"/>
                      </a:cubicBezTo>
                      <a:cubicBezTo>
                        <a:pt x="1240972" y="3184211"/>
                        <a:pt x="1801447" y="3744686"/>
                        <a:pt x="2492829" y="3744686"/>
                      </a:cubicBezTo>
                      <a:cubicBezTo>
                        <a:pt x="3184211" y="3744686"/>
                        <a:pt x="3744686" y="3184211"/>
                        <a:pt x="3744686" y="2492829"/>
                      </a:cubicBezTo>
                      <a:cubicBezTo>
                        <a:pt x="3744686" y="1801447"/>
                        <a:pt x="3184211" y="1240972"/>
                        <a:pt x="2492829" y="1240972"/>
                      </a:cubicBezTo>
                      <a:close/>
                      <a:moveTo>
                        <a:pt x="2492829" y="0"/>
                      </a:moveTo>
                      <a:cubicBezTo>
                        <a:pt x="3869580" y="0"/>
                        <a:pt x="4985658" y="1116078"/>
                        <a:pt x="4985658" y="2492829"/>
                      </a:cubicBezTo>
                      <a:cubicBezTo>
                        <a:pt x="4985658" y="3869580"/>
                        <a:pt x="3869580" y="4985658"/>
                        <a:pt x="2492829" y="4985658"/>
                      </a:cubicBezTo>
                      <a:cubicBezTo>
                        <a:pt x="1116078" y="4985658"/>
                        <a:pt x="0" y="3869580"/>
                        <a:pt x="0" y="2492829"/>
                      </a:cubicBezTo>
                      <a:cubicBezTo>
                        <a:pt x="0" y="1116078"/>
                        <a:pt x="1116078" y="0"/>
                        <a:pt x="2492829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tx2">
                        <a:lumMod val="50000"/>
                        <a:lumOff val="50000"/>
                      </a:schemeClr>
                    </a:gs>
                    <a:gs pos="75000">
                      <a:srgbClr val="122639"/>
                    </a:gs>
                    <a:gs pos="100000">
                      <a:schemeClr val="tx1">
                        <a:lumMod val="95000"/>
                        <a:lumOff val="5000"/>
                      </a:schemeClr>
                    </a:gs>
                    <a:gs pos="44000">
                      <a:schemeClr val="tx2">
                        <a:lumMod val="90000"/>
                        <a:lumOff val="10000"/>
                      </a:schemeClr>
                    </a:gs>
                  </a:gsLst>
                  <a:lin ang="12600000" scaled="0"/>
                </a:gra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ru-RU" dirty="0"/>
                </a:p>
              </p:txBody>
            </p:sp>
            <p:grpSp>
              <p:nvGrpSpPr>
                <p:cNvPr id="57" name="Группа 56">
                  <a:extLst>
                    <a:ext uri="{FF2B5EF4-FFF2-40B4-BE49-F238E27FC236}">
                      <a16:creationId xmlns:a16="http://schemas.microsoft.com/office/drawing/2014/main" id="{2C7B74DE-C102-C1C4-89BA-1C6FE920978B}"/>
                    </a:ext>
                  </a:extLst>
                </p:cNvPr>
                <p:cNvGrpSpPr/>
                <p:nvPr/>
              </p:nvGrpSpPr>
              <p:grpSpPr>
                <a:xfrm>
                  <a:off x="3084486" y="2719153"/>
                  <a:ext cx="971680" cy="316024"/>
                  <a:chOff x="4387850" y="3027845"/>
                  <a:chExt cx="971680" cy="316024"/>
                </a:xfrm>
              </p:grpSpPr>
              <p:cxnSp>
                <p:nvCxnSpPr>
                  <p:cNvPr id="61" name="Прямая соединительная линия 60">
                    <a:extLst>
                      <a:ext uri="{FF2B5EF4-FFF2-40B4-BE49-F238E27FC236}">
                        <a16:creationId xmlns:a16="http://schemas.microsoft.com/office/drawing/2014/main" id="{999ADB26-FE16-DE24-CDB5-AFBFC22DE90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387850" y="3027845"/>
                    <a:ext cx="481039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Прямая соединительная линия 61">
                    <a:extLst>
                      <a:ext uri="{FF2B5EF4-FFF2-40B4-BE49-F238E27FC236}">
                        <a16:creationId xmlns:a16="http://schemas.microsoft.com/office/drawing/2014/main" id="{3AF336E2-2F13-82AC-63E1-B6B63A23AF0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4868889" y="3027845"/>
                    <a:ext cx="490641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8" name="Группа 57">
                  <a:extLst>
                    <a:ext uri="{FF2B5EF4-FFF2-40B4-BE49-F238E27FC236}">
                      <a16:creationId xmlns:a16="http://schemas.microsoft.com/office/drawing/2014/main" id="{EF406837-34C7-045C-9D29-5F92399D5D40}"/>
                    </a:ext>
                  </a:extLst>
                </p:cNvPr>
                <p:cNvGrpSpPr/>
                <p:nvPr/>
              </p:nvGrpSpPr>
              <p:grpSpPr>
                <a:xfrm rot="10800000">
                  <a:off x="152400" y="3035177"/>
                  <a:ext cx="971680" cy="316024"/>
                  <a:chOff x="4387850" y="3027845"/>
                  <a:chExt cx="971680" cy="316024"/>
                </a:xfrm>
              </p:grpSpPr>
              <p:cxnSp>
                <p:nvCxnSpPr>
                  <p:cNvPr id="59" name="Прямая соединительная линия 58">
                    <a:extLst>
                      <a:ext uri="{FF2B5EF4-FFF2-40B4-BE49-F238E27FC236}">
                        <a16:creationId xmlns:a16="http://schemas.microsoft.com/office/drawing/2014/main" id="{994DC523-F71E-036D-69EF-D795856BF24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387850" y="3027845"/>
                    <a:ext cx="481039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0" name="Прямая соединительная линия 59">
                    <a:extLst>
                      <a:ext uri="{FF2B5EF4-FFF2-40B4-BE49-F238E27FC236}">
                        <a16:creationId xmlns:a16="http://schemas.microsoft.com/office/drawing/2014/main" id="{9106442C-AF32-8BC1-BC41-FE901042130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4868889" y="3027845"/>
                    <a:ext cx="490641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F79C2B43-5461-B1AE-F870-AB6ECEE7E07C}"/>
                  </a:ext>
                </a:extLst>
              </p:cNvPr>
              <p:cNvSpPr txBox="1"/>
              <p:nvPr/>
            </p:nvSpPr>
            <p:spPr>
              <a:xfrm>
                <a:off x="5013346" y="1623950"/>
                <a:ext cx="3903766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Шаг 2</a:t>
                </a:r>
              </a:p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Корреляционный </a:t>
                </a:r>
              </a:p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анализ</a:t>
                </a:r>
              </a:p>
            </p:txBody>
          </p:sp>
        </p:grp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88670ABB-00FF-A4BB-5D49-76065F5EB226}"/>
                </a:ext>
              </a:extLst>
            </p:cNvPr>
            <p:cNvSpPr txBox="1"/>
            <p:nvPr/>
          </p:nvSpPr>
          <p:spPr>
            <a:xfrm rot="10800000">
              <a:off x="5028036" y="-1025829"/>
              <a:ext cx="3903766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ru-RU" sz="16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Шаг 5. Распределения </a:t>
              </a:r>
            </a:p>
            <a:p>
              <a:pPr algn="ctr"/>
              <a:r>
                <a:rPr lang="ru-RU" sz="1600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категор</a:t>
              </a:r>
              <a:r>
                <a:rPr lang="ru-RU" sz="16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 атрибутов </a:t>
              </a:r>
            </a:p>
          </p:txBody>
        </p:sp>
      </p:grpSp>
      <p:grpSp>
        <p:nvGrpSpPr>
          <p:cNvPr id="86" name="Группа 85">
            <a:extLst>
              <a:ext uri="{FF2B5EF4-FFF2-40B4-BE49-F238E27FC236}">
                <a16:creationId xmlns:a16="http://schemas.microsoft.com/office/drawing/2014/main" id="{2A4542F6-EA46-2733-F19E-6227EF2DF04E}"/>
              </a:ext>
            </a:extLst>
          </p:cNvPr>
          <p:cNvGrpSpPr/>
          <p:nvPr/>
        </p:nvGrpSpPr>
        <p:grpSpPr>
          <a:xfrm rot="10800000">
            <a:off x="1369150" y="-1343198"/>
            <a:ext cx="3903766" cy="3903766"/>
            <a:chOff x="1208423" y="-1343198"/>
            <a:chExt cx="3903766" cy="3903766"/>
          </a:xfrm>
        </p:grpSpPr>
        <p:grpSp>
          <p:nvGrpSpPr>
            <p:cNvPr id="54" name="Группа 53">
              <a:extLst>
                <a:ext uri="{FF2B5EF4-FFF2-40B4-BE49-F238E27FC236}">
                  <a16:creationId xmlns:a16="http://schemas.microsoft.com/office/drawing/2014/main" id="{59FFC496-9FBB-A300-2A08-B353ABC2A6C5}"/>
                </a:ext>
              </a:extLst>
            </p:cNvPr>
            <p:cNvGrpSpPr/>
            <p:nvPr/>
          </p:nvGrpSpPr>
          <p:grpSpPr>
            <a:xfrm>
              <a:off x="1208423" y="-1343198"/>
              <a:ext cx="3903766" cy="3903766"/>
              <a:chOff x="152400" y="1057655"/>
              <a:chExt cx="3903766" cy="3903766"/>
            </a:xfrm>
          </p:grpSpPr>
          <p:sp>
            <p:nvSpPr>
              <p:cNvPr id="9" name="Полилиния: фигура 8">
                <a:extLst>
                  <a:ext uri="{FF2B5EF4-FFF2-40B4-BE49-F238E27FC236}">
                    <a16:creationId xmlns:a16="http://schemas.microsoft.com/office/drawing/2014/main" id="{07C90456-130D-5DCD-7C2B-F0F93042DE4A}"/>
                  </a:ext>
                </a:extLst>
              </p:cNvPr>
              <p:cNvSpPr/>
              <p:nvPr/>
            </p:nvSpPr>
            <p:spPr>
              <a:xfrm>
                <a:off x="152400" y="1057655"/>
                <a:ext cx="3903766" cy="3903766"/>
              </a:xfrm>
              <a:custGeom>
                <a:avLst/>
                <a:gdLst>
                  <a:gd name="csX0" fmla="*/ 2492829 w 4985658"/>
                  <a:gd name="csY0" fmla="*/ 1240972 h 4985658"/>
                  <a:gd name="csX1" fmla="*/ 1240972 w 4985658"/>
                  <a:gd name="csY1" fmla="*/ 2492829 h 4985658"/>
                  <a:gd name="csX2" fmla="*/ 2492829 w 4985658"/>
                  <a:gd name="csY2" fmla="*/ 3744686 h 4985658"/>
                  <a:gd name="csX3" fmla="*/ 3744686 w 4985658"/>
                  <a:gd name="csY3" fmla="*/ 2492829 h 4985658"/>
                  <a:gd name="csX4" fmla="*/ 2492829 w 4985658"/>
                  <a:gd name="csY4" fmla="*/ 1240972 h 4985658"/>
                  <a:gd name="csX5" fmla="*/ 2492829 w 4985658"/>
                  <a:gd name="csY5" fmla="*/ 0 h 4985658"/>
                  <a:gd name="csX6" fmla="*/ 4985658 w 4985658"/>
                  <a:gd name="csY6" fmla="*/ 2492829 h 4985658"/>
                  <a:gd name="csX7" fmla="*/ 2492829 w 4985658"/>
                  <a:gd name="csY7" fmla="*/ 4985658 h 4985658"/>
                  <a:gd name="csX8" fmla="*/ 0 w 4985658"/>
                  <a:gd name="csY8" fmla="*/ 2492829 h 4985658"/>
                  <a:gd name="csX9" fmla="*/ 2492829 w 4985658"/>
                  <a:gd name="csY9" fmla="*/ 0 h 498565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4985658" h="4985658">
                    <a:moveTo>
                      <a:pt x="2492829" y="1240972"/>
                    </a:moveTo>
                    <a:cubicBezTo>
                      <a:pt x="1801447" y="1240972"/>
                      <a:pt x="1240972" y="1801447"/>
                      <a:pt x="1240972" y="2492829"/>
                    </a:cubicBezTo>
                    <a:cubicBezTo>
                      <a:pt x="1240972" y="3184211"/>
                      <a:pt x="1801447" y="3744686"/>
                      <a:pt x="2492829" y="3744686"/>
                    </a:cubicBezTo>
                    <a:cubicBezTo>
                      <a:pt x="3184211" y="3744686"/>
                      <a:pt x="3744686" y="3184211"/>
                      <a:pt x="3744686" y="2492829"/>
                    </a:cubicBezTo>
                    <a:cubicBezTo>
                      <a:pt x="3744686" y="1801447"/>
                      <a:pt x="3184211" y="1240972"/>
                      <a:pt x="2492829" y="1240972"/>
                    </a:cubicBezTo>
                    <a:close/>
                    <a:moveTo>
                      <a:pt x="2492829" y="0"/>
                    </a:moveTo>
                    <a:cubicBezTo>
                      <a:pt x="3869580" y="0"/>
                      <a:pt x="4985658" y="1116078"/>
                      <a:pt x="4985658" y="2492829"/>
                    </a:cubicBezTo>
                    <a:cubicBezTo>
                      <a:pt x="4985658" y="3869580"/>
                      <a:pt x="3869580" y="4985658"/>
                      <a:pt x="2492829" y="4985658"/>
                    </a:cubicBezTo>
                    <a:cubicBezTo>
                      <a:pt x="1116078" y="4985658"/>
                      <a:pt x="0" y="3869580"/>
                      <a:pt x="0" y="2492829"/>
                    </a:cubicBezTo>
                    <a:cubicBezTo>
                      <a:pt x="0" y="1116078"/>
                      <a:pt x="1116078" y="0"/>
                      <a:pt x="2492829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tx2">
                      <a:lumMod val="50000"/>
                      <a:lumOff val="50000"/>
                    </a:schemeClr>
                  </a:gs>
                  <a:gs pos="75000">
                    <a:srgbClr val="122639"/>
                  </a:gs>
                  <a:gs pos="100000">
                    <a:schemeClr val="tx1">
                      <a:lumMod val="95000"/>
                      <a:lumOff val="5000"/>
                    </a:schemeClr>
                  </a:gs>
                  <a:gs pos="44000">
                    <a:schemeClr val="tx2">
                      <a:lumMod val="90000"/>
                      <a:lumOff val="10000"/>
                    </a:schemeClr>
                  </a:gs>
                </a:gsLst>
                <a:lin ang="12600000" scaled="0"/>
              </a:gra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ru-RU" dirty="0"/>
              </a:p>
            </p:txBody>
          </p:sp>
          <p:grpSp>
            <p:nvGrpSpPr>
              <p:cNvPr id="50" name="Группа 49">
                <a:extLst>
                  <a:ext uri="{FF2B5EF4-FFF2-40B4-BE49-F238E27FC236}">
                    <a16:creationId xmlns:a16="http://schemas.microsoft.com/office/drawing/2014/main" id="{CCF3BDC1-57BF-41AC-5F13-A94D8DAE77D8}"/>
                  </a:ext>
                </a:extLst>
              </p:cNvPr>
              <p:cNvGrpSpPr/>
              <p:nvPr/>
            </p:nvGrpSpPr>
            <p:grpSpPr>
              <a:xfrm>
                <a:off x="3084486" y="2719153"/>
                <a:ext cx="971680" cy="316024"/>
                <a:chOff x="4387850" y="3027845"/>
                <a:chExt cx="971680" cy="316024"/>
              </a:xfrm>
            </p:grpSpPr>
            <p:cxnSp>
              <p:nvCxnSpPr>
                <p:cNvPr id="15" name="Прямая соединительная линия 14">
                  <a:extLst>
                    <a:ext uri="{FF2B5EF4-FFF2-40B4-BE49-F238E27FC236}">
                      <a16:creationId xmlns:a16="http://schemas.microsoft.com/office/drawing/2014/main" id="{D9A824B6-9AD6-4725-9743-F967D58E24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387850" y="3027845"/>
                  <a:ext cx="481039" cy="316024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Прямая соединительная линия 16">
                  <a:extLst>
                    <a:ext uri="{FF2B5EF4-FFF2-40B4-BE49-F238E27FC236}">
                      <a16:creationId xmlns:a16="http://schemas.microsoft.com/office/drawing/2014/main" id="{88FF6CC5-BDEC-BF20-8947-9D76238EB71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868889" y="3027845"/>
                  <a:ext cx="490641" cy="316024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1" name="Группа 50">
                <a:extLst>
                  <a:ext uri="{FF2B5EF4-FFF2-40B4-BE49-F238E27FC236}">
                    <a16:creationId xmlns:a16="http://schemas.microsoft.com/office/drawing/2014/main" id="{D1220037-756A-C313-09D7-9A6F87A34869}"/>
                  </a:ext>
                </a:extLst>
              </p:cNvPr>
              <p:cNvGrpSpPr/>
              <p:nvPr/>
            </p:nvGrpSpPr>
            <p:grpSpPr>
              <a:xfrm rot="10800000">
                <a:off x="152400" y="3035177"/>
                <a:ext cx="971680" cy="316024"/>
                <a:chOff x="4387850" y="3027845"/>
                <a:chExt cx="971680" cy="316024"/>
              </a:xfrm>
            </p:grpSpPr>
            <p:cxnSp>
              <p:nvCxnSpPr>
                <p:cNvPr id="52" name="Прямая соединительная линия 51">
                  <a:extLst>
                    <a:ext uri="{FF2B5EF4-FFF2-40B4-BE49-F238E27FC236}">
                      <a16:creationId xmlns:a16="http://schemas.microsoft.com/office/drawing/2014/main" id="{D0D7432D-2E62-971A-4DA0-1475940907B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387850" y="3027845"/>
                  <a:ext cx="481039" cy="316024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Прямая соединительная линия 52">
                  <a:extLst>
                    <a:ext uri="{FF2B5EF4-FFF2-40B4-BE49-F238E27FC236}">
                      <a16:creationId xmlns:a16="http://schemas.microsoft.com/office/drawing/2014/main" id="{4ECA9038-DD72-AC6F-7F8E-AB0998F1103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868889" y="3027845"/>
                  <a:ext cx="490641" cy="316024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85" name="Группа 84">
              <a:extLst>
                <a:ext uri="{FF2B5EF4-FFF2-40B4-BE49-F238E27FC236}">
                  <a16:creationId xmlns:a16="http://schemas.microsoft.com/office/drawing/2014/main" id="{3575FC3F-49EC-EAC9-3852-8C89C29A8FB0}"/>
                </a:ext>
              </a:extLst>
            </p:cNvPr>
            <p:cNvGrpSpPr/>
            <p:nvPr/>
          </p:nvGrpSpPr>
          <p:grpSpPr>
            <a:xfrm rot="10800000">
              <a:off x="1757182" y="-1002650"/>
              <a:ext cx="2806248" cy="3224868"/>
              <a:chOff x="1757182" y="-971872"/>
              <a:chExt cx="2806248" cy="3224868"/>
            </a:xfrm>
          </p:grpSpPr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0FCC5A61-CACF-FA37-FC7C-7991A00BAB4B}"/>
                  </a:ext>
                </a:extLst>
              </p:cNvPr>
              <p:cNvSpPr txBox="1"/>
              <p:nvPr/>
            </p:nvSpPr>
            <p:spPr>
              <a:xfrm rot="10800000">
                <a:off x="1889778" y="-971872"/>
                <a:ext cx="2541057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Шаг 1</a:t>
                </a:r>
              </a:p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Качество данных</a:t>
                </a:r>
              </a:p>
            </p:txBody>
          </p:sp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87860428-792C-11C2-F174-EE2707543937}"/>
                  </a:ext>
                </a:extLst>
              </p:cNvPr>
              <p:cNvSpPr txBox="1"/>
              <p:nvPr/>
            </p:nvSpPr>
            <p:spPr>
              <a:xfrm>
                <a:off x="1757182" y="1668221"/>
                <a:ext cx="2806248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Шаг 4. Распределения</a:t>
                </a:r>
              </a:p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числовых атрибутов</a:t>
                </a:r>
              </a:p>
            </p:txBody>
          </p:sp>
        </p:grpSp>
      </p:grp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3DDB1BEA-923D-5C60-3D27-CDF14FE850D8}"/>
              </a:ext>
            </a:extLst>
          </p:cNvPr>
          <p:cNvSpPr/>
          <p:nvPr/>
        </p:nvSpPr>
        <p:spPr>
          <a:xfrm>
            <a:off x="-246746" y="-220648"/>
            <a:ext cx="12685487" cy="1312847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75000"/>
                  <a:lumOff val="25000"/>
                </a:schemeClr>
              </a:gs>
              <a:gs pos="75000">
                <a:srgbClr val="122639"/>
              </a:gs>
              <a:gs pos="100000">
                <a:schemeClr val="tx1">
                  <a:lumMod val="95000"/>
                  <a:lumOff val="5000"/>
                </a:schemeClr>
              </a:gs>
              <a:gs pos="44000">
                <a:schemeClr val="tx2">
                  <a:lumMod val="90000"/>
                  <a:lumOff val="10000"/>
                </a:schemeClr>
              </a:gs>
            </a:gsLst>
            <a:lin ang="12600000" scaled="0"/>
            <a:tileRect/>
          </a:gra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82B0E0-C9C4-8A82-7230-27A42EB43CB8}"/>
              </a:ext>
            </a:extLst>
          </p:cNvPr>
          <p:cNvSpPr txBox="1"/>
          <p:nvPr/>
        </p:nvSpPr>
        <p:spPr>
          <a:xfrm>
            <a:off x="651247" y="232100"/>
            <a:ext cx="10889495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Табличные данные: анализ</a:t>
            </a:r>
            <a:endParaRPr lang="ru-RU" sz="2000" dirty="0">
              <a:solidFill>
                <a:schemeClr val="bg1"/>
              </a:solidFill>
              <a:latin typeface="Arial Black" panose="020B0A040201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Дата 6">
            <a:extLst>
              <a:ext uri="{FF2B5EF4-FFF2-40B4-BE49-F238E27FC236}">
                <a16:creationId xmlns:a16="http://schemas.microsoft.com/office/drawing/2014/main" id="{F2345C47-9216-DFFE-2B05-0241551E566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280316" y="6284083"/>
            <a:ext cx="892634" cy="463875"/>
          </a:xfrm>
        </p:spPr>
        <p:txBody>
          <a:bodyPr/>
          <a:lstStyle/>
          <a:p>
            <a:pPr algn="ctr">
              <a:defRPr/>
            </a:pPr>
            <a:fld id="{D063FBCF-7873-4A49-B36C-1F912BB77786}" type="slidenum">
              <a:rPr lang="ru-RU" altLang="ru-RU" sz="2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ctr">
                <a:defRPr/>
              </a:pPr>
              <a:t>7</a:t>
            </a:fld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/13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3CF50D3C-0997-BB7C-2C91-837C3C83D2E9}"/>
              </a:ext>
            </a:extLst>
          </p:cNvPr>
          <p:cNvSpPr/>
          <p:nvPr/>
        </p:nvSpPr>
        <p:spPr>
          <a:xfrm>
            <a:off x="-476262" y="937951"/>
            <a:ext cx="13144512" cy="5201601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Дата 6">
            <a:extLst>
              <a:ext uri="{FF2B5EF4-FFF2-40B4-BE49-F238E27FC236}">
                <a16:creationId xmlns:a16="http://schemas.microsoft.com/office/drawing/2014/main" id="{B07057E8-0EDF-47E6-8D98-258BDB93415D}"/>
              </a:ext>
            </a:extLst>
          </p:cNvPr>
          <p:cNvSpPr txBox="1">
            <a:spLocks/>
          </p:cNvSpPr>
          <p:nvPr/>
        </p:nvSpPr>
        <p:spPr>
          <a:xfrm>
            <a:off x="38100" y="6284084"/>
            <a:ext cx="7785187" cy="463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Курсовой проект «Поиск и первичный анализ наборов данных»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cxnSp>
        <p:nvCxnSpPr>
          <p:cNvPr id="79" name="Прямая соединительная линия 78">
            <a:extLst>
              <a:ext uri="{FF2B5EF4-FFF2-40B4-BE49-F238E27FC236}">
                <a16:creationId xmlns:a16="http://schemas.microsoft.com/office/drawing/2014/main" id="{C9AAC1ED-F09A-65AB-A15B-8DB60D1E2C4F}"/>
              </a:ext>
            </a:extLst>
          </p:cNvPr>
          <p:cNvCxnSpPr>
            <a:cxnSpLocks/>
          </p:cNvCxnSpPr>
          <p:nvPr/>
        </p:nvCxnSpPr>
        <p:spPr>
          <a:xfrm flipH="1">
            <a:off x="-476262" y="2683744"/>
            <a:ext cx="13163562" cy="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4" name="Группа 33">
            <a:extLst>
              <a:ext uri="{FF2B5EF4-FFF2-40B4-BE49-F238E27FC236}">
                <a16:creationId xmlns:a16="http://schemas.microsoft.com/office/drawing/2014/main" id="{2062E42D-9184-D0E8-0E09-967D0A74801E}"/>
              </a:ext>
            </a:extLst>
          </p:cNvPr>
          <p:cNvGrpSpPr/>
          <p:nvPr/>
        </p:nvGrpSpPr>
        <p:grpSpPr>
          <a:xfrm>
            <a:off x="-499372" y="2689395"/>
            <a:ext cx="13163562" cy="3607987"/>
            <a:chOff x="12275671" y="2705100"/>
            <a:chExt cx="13163562" cy="3607987"/>
          </a:xfrm>
        </p:grpSpPr>
        <p:cxnSp>
          <p:nvCxnSpPr>
            <p:cNvPr id="35" name="Прямая соединительная линия 34">
              <a:extLst>
                <a:ext uri="{FF2B5EF4-FFF2-40B4-BE49-F238E27FC236}">
                  <a16:creationId xmlns:a16="http://schemas.microsoft.com/office/drawing/2014/main" id="{C507999D-51B9-0ED8-9631-0E0F3A503043}"/>
                </a:ext>
              </a:extLst>
            </p:cNvPr>
            <p:cNvCxnSpPr>
              <a:cxnSpLocks/>
            </p:cNvCxnSpPr>
            <p:nvPr/>
          </p:nvCxnSpPr>
          <p:spPr>
            <a:xfrm>
              <a:off x="13997159" y="2705100"/>
              <a:ext cx="0" cy="3434452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6" name="Группа 35">
              <a:extLst>
                <a:ext uri="{FF2B5EF4-FFF2-40B4-BE49-F238E27FC236}">
                  <a16:creationId xmlns:a16="http://schemas.microsoft.com/office/drawing/2014/main" id="{B3751987-34A6-3E47-4D2F-D730DA464B01}"/>
                </a:ext>
              </a:extLst>
            </p:cNvPr>
            <p:cNvGrpSpPr/>
            <p:nvPr/>
          </p:nvGrpSpPr>
          <p:grpSpPr>
            <a:xfrm>
              <a:off x="12275671" y="2705100"/>
              <a:ext cx="13163562" cy="3607987"/>
              <a:chOff x="12275671" y="2705100"/>
              <a:chExt cx="13163562" cy="3607987"/>
            </a:xfrm>
          </p:grpSpPr>
          <p:cxnSp>
            <p:nvCxnSpPr>
              <p:cNvPr id="37" name="Прямая соединительная линия 36">
                <a:extLst>
                  <a:ext uri="{FF2B5EF4-FFF2-40B4-BE49-F238E27FC236}">
                    <a16:creationId xmlns:a16="http://schemas.microsoft.com/office/drawing/2014/main" id="{1ECA6573-20A0-55B9-0B6E-26DD99CC792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2275671" y="4670426"/>
                <a:ext cx="13163562" cy="0"/>
              </a:xfrm>
              <a:prstGeom prst="line">
                <a:avLst/>
              </a:prstGeom>
              <a:ln w="25400"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8B4CDCC-B8DA-4AE8-1A34-E337AFD73CE4}"/>
                  </a:ext>
                </a:extLst>
              </p:cNvPr>
              <p:cNvSpPr txBox="1"/>
              <p:nvPr/>
            </p:nvSpPr>
            <p:spPr>
              <a:xfrm rot="3847950">
                <a:off x="12649947" y="3625376"/>
                <a:ext cx="15975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Результаты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12A24D2-28E0-6E35-E2B8-EE954903EF54}"/>
                  </a:ext>
                </a:extLst>
              </p:cNvPr>
              <p:cNvSpPr txBox="1"/>
              <p:nvPr/>
            </p:nvSpPr>
            <p:spPr>
              <a:xfrm rot="3847950">
                <a:off x="12721971" y="5368638"/>
                <a:ext cx="151956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Действия</a:t>
                </a:r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871BEBFF-E1EC-A294-87F8-C638C38F09FC}"/>
                  </a:ext>
                </a:extLst>
              </p:cNvPr>
              <p:cNvSpPr txBox="1"/>
              <p:nvPr/>
            </p:nvSpPr>
            <p:spPr>
              <a:xfrm>
                <a:off x="14074343" y="2743199"/>
                <a:ext cx="3863630" cy="17808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5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Качество сна: Близко к нормальному;</a:t>
                </a:r>
              </a:p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5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Уровень стресса и умственная усталость: Левосторонняя асимметрия;</a:t>
                </a:r>
              </a:p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5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Кофеин: Дискретное;</a:t>
                </a:r>
              </a:p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5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Остальные признаки: Равномерное.</a:t>
                </a: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965EBC2-4471-5C8E-FAE9-9AED6932EA27}"/>
                  </a:ext>
                </a:extLst>
              </p:cNvPr>
              <p:cNvSpPr txBox="1"/>
              <p:nvPr/>
            </p:nvSpPr>
            <p:spPr>
              <a:xfrm>
                <a:off x="18012063" y="2739324"/>
                <a:ext cx="3190587" cy="74206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Пол: Дисбаланс;</a:t>
                </a:r>
              </a:p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5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Профессия: равномерное.</a:t>
                </a:r>
                <a:endParaRPr lang="ru-RU" sz="15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EE6E138D-3A82-21BA-B432-49EAFF7CEEB3}"/>
                  </a:ext>
                </a:extLst>
              </p:cNvPr>
              <p:cNvSpPr txBox="1"/>
              <p:nvPr/>
            </p:nvSpPr>
            <p:spPr>
              <a:xfrm>
                <a:off x="21647278" y="2705100"/>
                <a:ext cx="3442447" cy="10883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indent="-28440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Пол: </a:t>
                </a:r>
                <a:r>
                  <a:rPr lang="ru-RU" sz="1500" b="0" i="0" dirty="0" err="1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Female</a:t>
                </a:r>
                <a:r>
                  <a:rPr lang="ru-RU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:r>
                  <a:rPr lang="ru-RU" sz="1500" b="0" i="0" dirty="0" err="1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Male</a:t>
                </a:r>
                <a:r>
                  <a:rPr lang="ru-RU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:r>
                  <a:rPr lang="ru-RU" sz="1500" b="0" i="0" dirty="0" err="1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Other</a:t>
                </a:r>
                <a:r>
                  <a:rPr lang="ru-RU" sz="15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. </a:t>
                </a:r>
              </a:p>
              <a:p>
                <a:pPr indent="-284400">
                  <a:lnSpc>
                    <a:spcPct val="150000"/>
                  </a:lnSpc>
                </a:pPr>
                <a:r>
                  <a:rPr lang="en-CA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{</a:t>
                </a:r>
                <a:r>
                  <a:rPr lang="ru-RU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0, 2</a:t>
                </a:r>
                <a:r>
                  <a:rPr lang="en-CA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}</a:t>
                </a:r>
                <a:endPara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indent="-28440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Профессия: 8 категорий </a:t>
                </a:r>
                <a:r>
                  <a:rPr lang="en-CA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{</a:t>
                </a:r>
                <a:r>
                  <a:rPr lang="ru-RU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0, 7</a:t>
                </a:r>
                <a:r>
                  <a:rPr lang="en-CA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}</a:t>
                </a:r>
                <a:endPara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801EF442-A2C2-27C1-B8CF-B723987270AA}"/>
                  </a:ext>
                </a:extLst>
              </p:cNvPr>
              <p:cNvSpPr txBox="1"/>
              <p:nvPr/>
            </p:nvSpPr>
            <p:spPr>
              <a:xfrm>
                <a:off x="14106584" y="4735799"/>
                <a:ext cx="3735376" cy="10218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4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Уровень стресса и умственная усталость: </a:t>
                </a:r>
                <a:r>
                  <a:rPr lang="ru-RU" sz="14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Группировка редких</a:t>
                </a:r>
              </a:p>
              <a:p>
                <a:pPr>
                  <a:lnSpc>
                    <a:spcPct val="150000"/>
                  </a:lnSpc>
                </a:pPr>
                <a:r>
                  <a:rPr lang="ru-RU" sz="14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значений</a:t>
                </a:r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2B0200BD-2636-60B0-ABDA-E077C5AF5A1B}"/>
                  </a:ext>
                </a:extLst>
              </p:cNvPr>
              <p:cNvSpPr txBox="1"/>
              <p:nvPr/>
            </p:nvSpPr>
            <p:spPr>
              <a:xfrm>
                <a:off x="18012063" y="4788442"/>
                <a:ext cx="2977089" cy="5539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–"/>
                </a:pPr>
                <a:r>
                  <a:rPr lang="ru-RU" sz="15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Пол: </a:t>
                </a:r>
                <a:r>
                  <a:rPr lang="ru-RU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Учет дисбаланса</a:t>
                </a:r>
              </a:p>
              <a:p>
                <a:r>
                  <a:rPr lang="ru-RU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при обучении модели</a:t>
                </a:r>
              </a:p>
            </p:txBody>
          </p: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FE138E37-F2EA-EFED-52F3-78E8FDA6F667}"/>
                  </a:ext>
                </a:extLst>
              </p:cNvPr>
              <p:cNvSpPr txBox="1"/>
              <p:nvPr/>
            </p:nvSpPr>
            <p:spPr>
              <a:xfrm>
                <a:off x="21647278" y="4696367"/>
                <a:ext cx="2989310" cy="39581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en-US" sz="15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Label Encoding</a:t>
                </a:r>
                <a:endParaRPr lang="ru-RU" sz="15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  <p:grpSp>
        <p:nvGrpSpPr>
          <p:cNvPr id="108" name="Группа 107">
            <a:extLst>
              <a:ext uri="{FF2B5EF4-FFF2-40B4-BE49-F238E27FC236}">
                <a16:creationId xmlns:a16="http://schemas.microsoft.com/office/drawing/2014/main" id="{5721CF86-51F8-E451-B8EC-46D7111D8868}"/>
              </a:ext>
            </a:extLst>
          </p:cNvPr>
          <p:cNvGrpSpPr/>
          <p:nvPr/>
        </p:nvGrpSpPr>
        <p:grpSpPr>
          <a:xfrm>
            <a:off x="12405176" y="2687217"/>
            <a:ext cx="13163562" cy="3607987"/>
            <a:chOff x="-495312" y="2705100"/>
            <a:chExt cx="13163562" cy="3607987"/>
          </a:xfrm>
        </p:grpSpPr>
        <p:cxnSp>
          <p:nvCxnSpPr>
            <p:cNvPr id="109" name="Прямая соединительная линия 108">
              <a:extLst>
                <a:ext uri="{FF2B5EF4-FFF2-40B4-BE49-F238E27FC236}">
                  <a16:creationId xmlns:a16="http://schemas.microsoft.com/office/drawing/2014/main" id="{A000D1CA-0209-AF1A-287A-DA49DEF900E3}"/>
                </a:ext>
              </a:extLst>
            </p:cNvPr>
            <p:cNvCxnSpPr>
              <a:cxnSpLocks/>
            </p:cNvCxnSpPr>
            <p:nvPr/>
          </p:nvCxnSpPr>
          <p:spPr>
            <a:xfrm>
              <a:off x="1226176" y="2705100"/>
              <a:ext cx="0" cy="3434452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Прямая соединительная линия 109">
              <a:extLst>
                <a:ext uri="{FF2B5EF4-FFF2-40B4-BE49-F238E27FC236}">
                  <a16:creationId xmlns:a16="http://schemas.microsoft.com/office/drawing/2014/main" id="{AC762F15-51EC-DC60-E2D5-5A6294B1105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495312" y="4670426"/>
              <a:ext cx="13163562" cy="0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C7A489DA-CCB6-2864-8F62-A911A5782657}"/>
                </a:ext>
              </a:extLst>
            </p:cNvPr>
            <p:cNvSpPr txBox="1"/>
            <p:nvPr/>
          </p:nvSpPr>
          <p:spPr>
            <a:xfrm rot="3847950">
              <a:off x="-121036" y="3625376"/>
              <a:ext cx="15975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Результаты</a:t>
              </a: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11930735-E1AB-E788-F442-2EF2C62E65DC}"/>
                </a:ext>
              </a:extLst>
            </p:cNvPr>
            <p:cNvSpPr txBox="1"/>
            <p:nvPr/>
          </p:nvSpPr>
          <p:spPr>
            <a:xfrm rot="3847950">
              <a:off x="-49012" y="5368638"/>
              <a:ext cx="151956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Действия</a:t>
              </a: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B59B8918-057A-CE69-42D1-D98C3BB05668}"/>
                </a:ext>
              </a:extLst>
            </p:cNvPr>
            <p:cNvSpPr txBox="1"/>
            <p:nvPr/>
          </p:nvSpPr>
          <p:spPr>
            <a:xfrm>
              <a:off x="1396280" y="2738923"/>
              <a:ext cx="3098519" cy="14345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5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Отсутствие п</a:t>
              </a:r>
              <a:r>
                <a: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ропусков и дубликатов;</a:t>
              </a:r>
            </a:p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Выбросы только в признаке качество сна (9 шт., 0.06%).</a:t>
              </a:r>
              <a:endParaRPr lang="ru-RU" sz="15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DCB0D4A0-952B-7BF5-E18A-E07609250ACA}"/>
                </a:ext>
              </a:extLst>
            </p:cNvPr>
            <p:cNvSpPr txBox="1"/>
            <p:nvPr/>
          </p:nvSpPr>
          <p:spPr>
            <a:xfrm>
              <a:off x="4564085" y="2743199"/>
              <a:ext cx="4278218" cy="178080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Сильные: стресс и умственная усталость (+0.95), стресс и качество сна (-0.86), Стресс и экранное время: (+0.88);</a:t>
              </a:r>
            </a:p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500" b="0" i="0" dirty="0" err="1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Мультиколлинеарности</a:t>
              </a:r>
              <a:r>
                <a: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 входных признаков нет (&lt; 0.75).</a:t>
              </a:r>
              <a:endParaRPr lang="ru-RU" sz="15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6DF67795-0722-3262-E709-91E45048F951}"/>
                </a:ext>
              </a:extLst>
            </p:cNvPr>
            <p:cNvSpPr txBox="1"/>
            <p:nvPr/>
          </p:nvSpPr>
          <p:spPr>
            <a:xfrm>
              <a:off x="8586491" y="2743199"/>
              <a:ext cx="3442447" cy="178080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285750">
                <a:lnSpc>
                  <a:spcPct val="150000"/>
                </a:lnSpc>
              </a:pPr>
              <a:r>
                <a: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Значительное различие в </a:t>
              </a:r>
            </a:p>
            <a:p>
              <a:pPr marL="285750">
                <a:lnSpc>
                  <a:spcPct val="150000"/>
                </a:lnSpc>
              </a:pPr>
              <a:r>
                <a: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масштабах признаков:</a:t>
              </a:r>
            </a:p>
            <a:p>
              <a:pPr marL="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en-CA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r>
                <a:rPr lang="en-CA" sz="15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8</a:t>
              </a:r>
              <a:r>
                <a: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CA" sz="15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≤ </a:t>
              </a:r>
              <a:r>
                <a:rPr lang="ru-RU" sz="15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возраст</a:t>
              </a:r>
              <a:r>
                <a:rPr lang="en-CA" sz="15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≤ </a:t>
              </a:r>
              <a:r>
                <a:rPr lang="en-CA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59;</a:t>
              </a:r>
              <a:endParaRPr lang="ru-RU" sz="1500" b="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marL="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en-CA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 0 ≤ </a:t>
              </a:r>
              <a:r>
                <a:rPr lang="ru-RU" sz="1500" b="0" i="0" dirty="0" err="1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чашки_кофе</a:t>
              </a:r>
              <a:r>
                <a: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CA" sz="15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≤</a:t>
              </a:r>
              <a:r>
                <a:rPr lang="ru-RU" sz="15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4;</a:t>
              </a:r>
              <a:endParaRPr lang="ru-RU" sz="1500" b="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marL="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 20 </a:t>
              </a:r>
              <a:r>
                <a:rPr lang="en-CA" sz="15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≤</a:t>
              </a:r>
              <a:r>
                <a:rPr lang="ru-RU" sz="15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уведомления </a:t>
              </a:r>
              <a:r>
                <a:rPr lang="en-CA" sz="15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≤ </a:t>
              </a:r>
              <a:r>
                <a:rPr lang="ru-RU" sz="15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299.</a:t>
              </a:r>
              <a:endParaRPr lang="ru-RU" sz="1500" b="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BB185DED-EB1F-9469-1119-C580697FC1EE}"/>
                </a:ext>
              </a:extLst>
            </p:cNvPr>
            <p:cNvSpPr txBox="1"/>
            <p:nvPr/>
          </p:nvSpPr>
          <p:spPr>
            <a:xfrm>
              <a:off x="1406586" y="4788442"/>
              <a:ext cx="2977089" cy="69871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4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Оставить выбросы как экстремальные случаи</a:t>
              </a:r>
              <a:endParaRPr lang="ru-RU" sz="14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AE4881A6-33E1-29A3-B7CD-B3FE6226344B}"/>
                </a:ext>
              </a:extLst>
            </p:cNvPr>
            <p:cNvSpPr txBox="1"/>
            <p:nvPr/>
          </p:nvSpPr>
          <p:spPr>
            <a:xfrm>
              <a:off x="4564086" y="4848782"/>
              <a:ext cx="3549400" cy="5539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–"/>
              </a:pPr>
              <a:r>
                <a: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Использовать все признаки для</a:t>
              </a:r>
            </a:p>
            <a:p>
              <a:r>
                <a: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построения ИИ-модели</a:t>
              </a:r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BFFD94BA-2E13-ED49-65BF-3E3E5DFCB295}"/>
                </a:ext>
              </a:extLst>
            </p:cNvPr>
            <p:cNvSpPr txBox="1"/>
            <p:nvPr/>
          </p:nvSpPr>
          <p:spPr>
            <a:xfrm>
              <a:off x="8876295" y="4789078"/>
              <a:ext cx="2989310" cy="108831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5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Применить </a:t>
              </a:r>
              <a:r>
                <a:rPr lang="ru-RU" sz="1500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StandardScaler</a:t>
              </a:r>
              <a:r>
                <a:rPr lang="ru-RU" sz="15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, для приведения всех числовых признаков к единому масштабу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28913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F8D1B4-355F-7C0C-FAFD-A8AE816021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2BCBDEAA-5C40-3A14-9CB2-545F42FBC9E6}"/>
              </a:ext>
            </a:extLst>
          </p:cNvPr>
          <p:cNvSpPr/>
          <p:nvPr/>
        </p:nvSpPr>
        <p:spPr>
          <a:xfrm>
            <a:off x="-246751" y="-220648"/>
            <a:ext cx="12685487" cy="7299296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50000"/>
                  <a:lumOff val="50000"/>
                </a:schemeClr>
              </a:gs>
              <a:gs pos="75000">
                <a:srgbClr val="122639"/>
              </a:gs>
              <a:gs pos="100000">
                <a:schemeClr val="tx1">
                  <a:lumMod val="95000"/>
                  <a:lumOff val="5000"/>
                </a:schemeClr>
              </a:gs>
              <a:gs pos="50000">
                <a:schemeClr val="tx2">
                  <a:lumMod val="90000"/>
                  <a:lumOff val="10000"/>
                </a:schemeClr>
              </a:gs>
            </a:gsLst>
            <a:lin ang="12000000" scaled="0"/>
            <a:tileRect/>
          </a:gra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124277-DB8D-5265-DE81-443799EFA9AC}"/>
              </a:ext>
            </a:extLst>
          </p:cNvPr>
          <p:cNvSpPr txBox="1"/>
          <p:nvPr/>
        </p:nvSpPr>
        <p:spPr>
          <a:xfrm>
            <a:off x="651247" y="232100"/>
            <a:ext cx="10889495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Табличные данные: выводы</a:t>
            </a:r>
            <a:endParaRPr lang="ru-RU" sz="2000" dirty="0">
              <a:solidFill>
                <a:schemeClr val="bg1"/>
              </a:solidFill>
              <a:latin typeface="Arial Black" panose="020B0A040201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Дата 6">
            <a:extLst>
              <a:ext uri="{FF2B5EF4-FFF2-40B4-BE49-F238E27FC236}">
                <a16:creationId xmlns:a16="http://schemas.microsoft.com/office/drawing/2014/main" id="{267CFD4A-F375-B4A5-3D8D-70A749DDAA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280316" y="6284083"/>
            <a:ext cx="892634" cy="463875"/>
          </a:xfrm>
        </p:spPr>
        <p:txBody>
          <a:bodyPr/>
          <a:lstStyle/>
          <a:p>
            <a:pPr algn="ctr">
              <a:defRPr/>
            </a:pPr>
            <a:fld id="{D063FBCF-7873-4A49-B36C-1F912BB77786}" type="slidenum">
              <a:rPr lang="ru-RU" altLang="ru-RU" sz="2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ctr">
                <a:defRPr/>
              </a:pPr>
              <a:t>8</a:t>
            </a:fld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/13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4C641506-8005-1CC4-A406-75442B966B27}"/>
              </a:ext>
            </a:extLst>
          </p:cNvPr>
          <p:cNvSpPr/>
          <p:nvPr/>
        </p:nvSpPr>
        <p:spPr>
          <a:xfrm>
            <a:off x="-476262" y="937951"/>
            <a:ext cx="13144512" cy="5201601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Дата 6">
            <a:extLst>
              <a:ext uri="{FF2B5EF4-FFF2-40B4-BE49-F238E27FC236}">
                <a16:creationId xmlns:a16="http://schemas.microsoft.com/office/drawing/2014/main" id="{E536413B-A8A1-0B0D-C9BB-1FBD335FFF1E}"/>
              </a:ext>
            </a:extLst>
          </p:cNvPr>
          <p:cNvSpPr txBox="1">
            <a:spLocks/>
          </p:cNvSpPr>
          <p:nvPr/>
        </p:nvSpPr>
        <p:spPr>
          <a:xfrm>
            <a:off x="38100" y="6284084"/>
            <a:ext cx="7785187" cy="463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Курсовой проект «Поиск и первичный анализ наборов данных»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E5ADBD-A777-55B9-B566-1651CE69CBDA}"/>
              </a:ext>
            </a:extLst>
          </p:cNvPr>
          <p:cNvSpPr txBox="1"/>
          <p:nvPr/>
        </p:nvSpPr>
        <p:spPr>
          <a:xfrm>
            <a:off x="420915" y="1350346"/>
            <a:ext cx="11437256" cy="4109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ru-RU" sz="1600" b="1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Пригодность:</a:t>
            </a:r>
            <a:r>
              <a:rPr lang="ru-RU" sz="1600" b="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Набор данных полностью пригоден для прогнозирования уровня стресса, качества сна и умственной усталости. Пропуски и дубликаты отсутствуют, выбросы единичны, категории почти сбалансированы, нужно учесть дисбаланс пола</a:t>
            </a:r>
            <a:r>
              <a:rPr lang="en-CA" sz="1600" dirty="0">
                <a:solidFill>
                  <a:srgbClr val="F9FAF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600" b="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при обучении. Данные не требуют трудоёмкой предварительной очистки. Единственное ограничение синтетическая природа данных, которая может затруднить перенос результатов на реальные данные.</a:t>
            </a:r>
          </a:p>
          <a:p>
            <a:pPr algn="l">
              <a:lnSpc>
                <a:spcPct val="150000"/>
              </a:lnSpc>
              <a:buNone/>
            </a:pPr>
            <a:endParaRPr lang="ru-RU" sz="1600" b="0" i="0" dirty="0">
              <a:solidFill>
                <a:srgbClr val="F9FAFB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>
              <a:lnSpc>
                <a:spcPct val="150000"/>
              </a:lnSpc>
              <a:buNone/>
            </a:pPr>
            <a:r>
              <a:rPr lang="ru-RU" sz="1600" b="1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Рекомендации по предварительной обработке перед построением модели:</a:t>
            </a:r>
            <a:endParaRPr lang="ru-RU" sz="1600" dirty="0">
              <a:solidFill>
                <a:srgbClr val="F9FAF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indent="-285750" algn="l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1600" b="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Применить стандартизацию (</a:t>
            </a:r>
            <a:r>
              <a:rPr lang="ru-RU" sz="1600" b="0" i="0" dirty="0" err="1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StandardScaler</a:t>
            </a:r>
            <a:r>
              <a:rPr lang="ru-RU" sz="1600" b="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) для приведения всех числовых признаков к единому масштабу</a:t>
            </a:r>
          </a:p>
          <a:p>
            <a:pPr indent="-285750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1600" b="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Закодировать категориальные признаки: </a:t>
            </a:r>
            <a:r>
              <a:rPr lang="ru-RU" sz="1600" dirty="0">
                <a:solidFill>
                  <a:srgbClr val="F9FAF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пол – Label </a:t>
            </a:r>
            <a:r>
              <a:rPr lang="ru-RU" sz="1600" b="0" i="0" dirty="0" err="1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Encoding</a:t>
            </a:r>
            <a:r>
              <a:rPr lang="ru-RU" sz="1600" b="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ru-RU" sz="1600" dirty="0">
                <a:solidFill>
                  <a:srgbClr val="F9FAF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профессию – </a:t>
            </a:r>
            <a:r>
              <a:rPr lang="ru-RU" sz="1600" b="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One-Hot </a:t>
            </a:r>
            <a:r>
              <a:rPr lang="ru-RU" sz="1600" b="0" i="0" dirty="0" err="1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Encoding</a:t>
            </a:r>
            <a:endParaRPr lang="ru-RU" sz="1600" dirty="0">
              <a:solidFill>
                <a:srgbClr val="F9FAF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indent="-285750" algn="l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1600" b="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Разделить выборку: 70% обучение, 15% валидация, 15% тест</a:t>
            </a:r>
          </a:p>
          <a:p>
            <a:pPr indent="-285750" algn="l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1600" b="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Использовать наиболее значимые признаки: экранное время, физическая активность, кофеин, умственная усталость</a:t>
            </a:r>
          </a:p>
        </p:txBody>
      </p:sp>
    </p:spTree>
    <p:extLst>
      <p:ext uri="{BB962C8B-B14F-4D97-AF65-F5344CB8AC3E}">
        <p14:creationId xmlns:p14="http://schemas.microsoft.com/office/powerpoint/2010/main" val="28852784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8D4EAE-A0C0-3B24-1DAE-A61C20125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65952CB0-3379-93F5-2A46-01D9DAFD553A}"/>
              </a:ext>
            </a:extLst>
          </p:cNvPr>
          <p:cNvSpPr/>
          <p:nvPr/>
        </p:nvSpPr>
        <p:spPr>
          <a:xfrm>
            <a:off x="-246751" y="-220648"/>
            <a:ext cx="12685487" cy="7299296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50000"/>
                  <a:lumOff val="50000"/>
                </a:schemeClr>
              </a:gs>
              <a:gs pos="75000">
                <a:srgbClr val="122639"/>
              </a:gs>
              <a:gs pos="100000">
                <a:schemeClr val="tx1">
                  <a:lumMod val="95000"/>
                  <a:lumOff val="5000"/>
                </a:schemeClr>
              </a:gs>
              <a:gs pos="50000">
                <a:schemeClr val="tx2">
                  <a:lumMod val="90000"/>
                  <a:lumOff val="10000"/>
                </a:schemeClr>
              </a:gs>
            </a:gsLst>
            <a:lin ang="15000000" scaled="0"/>
            <a:tileRect/>
          </a:gra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1B64C1-FCE7-C459-06BE-0463AA93B683}"/>
              </a:ext>
            </a:extLst>
          </p:cNvPr>
          <p:cNvSpPr txBox="1"/>
          <p:nvPr/>
        </p:nvSpPr>
        <p:spPr>
          <a:xfrm>
            <a:off x="651247" y="232100"/>
            <a:ext cx="10889495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Временные ряды: задача и описание данных</a:t>
            </a:r>
            <a:endParaRPr lang="ru-RU" sz="2000" dirty="0">
              <a:solidFill>
                <a:schemeClr val="bg1"/>
              </a:solidFill>
              <a:latin typeface="Arial Black" panose="020B0A040201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Дата 6">
            <a:extLst>
              <a:ext uri="{FF2B5EF4-FFF2-40B4-BE49-F238E27FC236}">
                <a16:creationId xmlns:a16="http://schemas.microsoft.com/office/drawing/2014/main" id="{D897D769-D1FF-83EA-44CE-47827BBEEDF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280316" y="6284083"/>
            <a:ext cx="892634" cy="463875"/>
          </a:xfrm>
        </p:spPr>
        <p:txBody>
          <a:bodyPr/>
          <a:lstStyle/>
          <a:p>
            <a:pPr algn="ctr">
              <a:defRPr/>
            </a:pPr>
            <a:fld id="{D063FBCF-7873-4A49-B36C-1F912BB77786}" type="slidenum">
              <a:rPr lang="ru-RU" altLang="ru-RU" sz="2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ctr">
                <a:defRPr/>
              </a:pPr>
              <a:t>9</a:t>
            </a:fld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/13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1B52BDEA-5CBC-6E13-4C32-C1A9DB11BE1F}"/>
              </a:ext>
            </a:extLst>
          </p:cNvPr>
          <p:cNvSpPr/>
          <p:nvPr/>
        </p:nvSpPr>
        <p:spPr>
          <a:xfrm>
            <a:off x="-476262" y="937951"/>
            <a:ext cx="13144512" cy="5201601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Дата 6">
            <a:extLst>
              <a:ext uri="{FF2B5EF4-FFF2-40B4-BE49-F238E27FC236}">
                <a16:creationId xmlns:a16="http://schemas.microsoft.com/office/drawing/2014/main" id="{77CEDAA1-6CA7-5B77-997B-DC1DA7DBA1D3}"/>
              </a:ext>
            </a:extLst>
          </p:cNvPr>
          <p:cNvSpPr txBox="1">
            <a:spLocks/>
          </p:cNvSpPr>
          <p:nvPr/>
        </p:nvSpPr>
        <p:spPr>
          <a:xfrm>
            <a:off x="38100" y="6284084"/>
            <a:ext cx="7785187" cy="463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Курсовой проект «Поиск и первичный анализ наборов данных»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62D16A-8050-CAB0-FE6F-B14D5F7DA86A}"/>
              </a:ext>
            </a:extLst>
          </p:cNvPr>
          <p:cNvSpPr txBox="1"/>
          <p:nvPr/>
        </p:nvSpPr>
        <p:spPr>
          <a:xfrm>
            <a:off x="445658" y="937951"/>
            <a:ext cx="11300668" cy="51136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000" b="1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Задача:</a:t>
            </a:r>
            <a:r>
              <a:rPr lang="ru-RU" sz="2000" b="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Обнаружение аномалий (точечных выбросов </a:t>
            </a:r>
          </a:p>
          <a:p>
            <a:pPr algn="just">
              <a:lnSpc>
                <a:spcPct val="150000"/>
              </a:lnSpc>
            </a:pP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и коллективных изменений режима) в работе насосной </a:t>
            </a:r>
          </a:p>
          <a:p>
            <a:pPr algn="just">
              <a:lnSpc>
                <a:spcPct val="150000"/>
              </a:lnSpc>
            </a:pP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системы по показаниям датчиков</a:t>
            </a:r>
          </a:p>
          <a:p>
            <a:pPr algn="just">
              <a:lnSpc>
                <a:spcPct val="150000"/>
              </a:lnSpc>
            </a:pPr>
            <a:r>
              <a:rPr lang="ru-RU" sz="2000" b="1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Набор данных:</a:t>
            </a:r>
            <a:endParaRPr lang="ru-RU" sz="2000" b="0" i="0" dirty="0">
              <a:solidFill>
                <a:srgbClr val="F9FAFB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2" indent="-285750" algn="just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2000" b="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Название, источник: SKAB (</a:t>
            </a:r>
            <a:r>
              <a:rPr lang="ru-RU" sz="2000" b="0" i="0" dirty="0" err="1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Skoltech</a:t>
            </a:r>
            <a:r>
              <a:rPr lang="ru-RU" sz="2000" b="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000" b="0" i="0" dirty="0" err="1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Anomaly</a:t>
            </a:r>
            <a:r>
              <a:rPr lang="ru-RU" sz="2000" b="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L="457200" lvl="2" algn="just">
              <a:lnSpc>
                <a:spcPct val="150000"/>
              </a:lnSpc>
            </a:pPr>
            <a:r>
              <a:rPr lang="ru-RU" sz="2000" b="0" i="0" dirty="0" err="1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Benchmark</a:t>
            </a:r>
            <a:r>
              <a:rPr lang="ru-RU" sz="2000" b="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) v0.9, </a:t>
            </a:r>
            <a:r>
              <a:rPr lang="ru-RU" sz="2000" b="0" i="0" dirty="0" err="1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Kaggle</a:t>
            </a:r>
            <a:endParaRPr lang="ru-RU" sz="2000" b="0" i="0" dirty="0">
              <a:solidFill>
                <a:srgbClr val="F9FAFB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2" indent="-285750" algn="just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2000" b="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URL: </a:t>
            </a:r>
            <a:r>
              <a:rPr lang="ru-RU" sz="2000" b="0" i="0" u="none" strike="noStrike" dirty="0">
                <a:solidFill>
                  <a:srgbClr val="679EFE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  <a:hlinkClick r:id="rId3"/>
              </a:rPr>
              <a:t>https://www.kaggle.com/datasets/yuriykatser/skoltech-anomaly-benchmark-skab</a:t>
            </a:r>
            <a:endParaRPr lang="ru-RU" sz="2000" b="0" i="0" dirty="0">
              <a:solidFill>
                <a:srgbClr val="F9FAFB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42950" lvl="2" indent="-285750" algn="just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2000" b="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Авторы: </a:t>
            </a:r>
            <a:r>
              <a:rPr lang="ru-RU" sz="2000" b="0" i="0" dirty="0" err="1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Iurii</a:t>
            </a:r>
            <a:r>
              <a:rPr lang="ru-RU" sz="2000" b="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D. </a:t>
            </a:r>
            <a:r>
              <a:rPr lang="ru-RU" sz="2000" b="0" i="0" dirty="0" err="1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Katser</a:t>
            </a:r>
            <a:r>
              <a:rPr lang="ru-RU" sz="2000" b="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ru-RU" sz="2000" b="0" i="0" dirty="0" err="1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Vyacheslav</a:t>
            </a:r>
            <a:r>
              <a:rPr lang="ru-RU" sz="2000" b="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O. </a:t>
            </a:r>
            <a:r>
              <a:rPr lang="ru-RU" sz="2000" b="0" i="0" dirty="0" err="1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Kozitsin</a:t>
            </a:r>
            <a:r>
              <a:rPr lang="ru-RU" sz="2000" b="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ru-RU" sz="2000" b="0" i="0" dirty="0" err="1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Сколтех</a:t>
            </a:r>
            <a:r>
              <a:rPr lang="ru-RU" sz="2000" b="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), 2020 г.</a:t>
            </a:r>
          </a:p>
          <a:p>
            <a:pPr marL="742950" lvl="2" indent="-285750" algn="just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2000" b="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Описание: показания 8 датчиков с испытательного стенда насоса</a:t>
            </a:r>
          </a:p>
          <a:p>
            <a:pPr marL="742950" lvl="2" indent="-285750" algn="just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2000" b="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Размерность: 46 860 строк, 8 каналов, 35 экспериментов</a:t>
            </a:r>
          </a:p>
          <a:p>
            <a:pPr marL="742950" lvl="2" indent="-285750" algn="just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2000" b="1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Целевые признаки:</a:t>
            </a:r>
            <a:r>
              <a:rPr lang="ru-RU" sz="2000" b="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ru-RU" sz="2000" b="0" i="0" dirty="0" err="1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anomaly</a:t>
            </a:r>
            <a:r>
              <a:rPr lang="ru-RU" sz="2000" b="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(точечная аномалия), </a:t>
            </a:r>
            <a:r>
              <a:rPr lang="ru-RU" sz="2000" b="0" i="0" dirty="0" err="1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changepoint</a:t>
            </a:r>
            <a:r>
              <a:rPr lang="ru-RU" sz="2000" b="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(смена режима)</a:t>
            </a:r>
            <a:endParaRPr lang="ru-RU" b="0" i="0" dirty="0">
              <a:solidFill>
                <a:srgbClr val="F9FAFB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Рисунок 7" descr="Насосы">
            <a:extLst>
              <a:ext uri="{FF2B5EF4-FFF2-40B4-BE49-F238E27FC236}">
                <a16:creationId xmlns:a16="http://schemas.microsoft.com/office/drawing/2014/main" id="{F6C4B987-2D6D-F036-5106-E0CDD1D42A26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80000"/>
          </a:blip>
          <a:srcRect l="40074" t="-2356" r="14944" b="2356"/>
          <a:stretch>
            <a:fillRect/>
          </a:stretch>
        </p:blipFill>
        <p:spPr>
          <a:xfrm>
            <a:off x="8147693" y="937951"/>
            <a:ext cx="3598633" cy="2444865"/>
          </a:xfrm>
          <a:prstGeom prst="rect">
            <a:avLst/>
          </a:prstGeom>
          <a:effectLst>
            <a:softEdge rad="63500"/>
          </a:effectLst>
        </p:spPr>
      </p:pic>
    </p:spTree>
    <p:extLst>
      <p:ext uri="{BB962C8B-B14F-4D97-AF65-F5344CB8AC3E}">
        <p14:creationId xmlns:p14="http://schemas.microsoft.com/office/powerpoint/2010/main" val="40070693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629133-783F-9A26-6D8A-18151A770C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CF1D1E22-6382-1334-8904-94506F4CD378}"/>
              </a:ext>
            </a:extLst>
          </p:cNvPr>
          <p:cNvSpPr/>
          <p:nvPr/>
        </p:nvSpPr>
        <p:spPr>
          <a:xfrm>
            <a:off x="-246746" y="-220648"/>
            <a:ext cx="12685487" cy="7299296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50000"/>
                  <a:lumOff val="50000"/>
                </a:schemeClr>
              </a:gs>
              <a:gs pos="75000">
                <a:srgbClr val="122639"/>
              </a:gs>
              <a:gs pos="100000">
                <a:schemeClr val="tx1">
                  <a:lumMod val="95000"/>
                  <a:lumOff val="5000"/>
                </a:schemeClr>
              </a:gs>
              <a:gs pos="50000">
                <a:schemeClr val="tx2">
                  <a:lumMod val="90000"/>
                  <a:lumOff val="10000"/>
                </a:schemeClr>
              </a:gs>
            </a:gsLst>
            <a:lin ang="14400000" scaled="0"/>
            <a:tileRect/>
          </a:gra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9746001-2B14-330C-C584-F43E1AADC59F}"/>
              </a:ext>
            </a:extLst>
          </p:cNvPr>
          <p:cNvSpPr txBox="1"/>
          <p:nvPr/>
        </p:nvSpPr>
        <p:spPr>
          <a:xfrm>
            <a:off x="651247" y="232100"/>
            <a:ext cx="10889495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Временные ряды: атрибуты</a:t>
            </a:r>
          </a:p>
        </p:txBody>
      </p:sp>
      <p:sp>
        <p:nvSpPr>
          <p:cNvPr id="13" name="Дата 6">
            <a:extLst>
              <a:ext uri="{FF2B5EF4-FFF2-40B4-BE49-F238E27FC236}">
                <a16:creationId xmlns:a16="http://schemas.microsoft.com/office/drawing/2014/main" id="{4A25CE2F-3BAE-0BF8-0949-697A13ECC5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280316" y="6284083"/>
            <a:ext cx="892634" cy="463875"/>
          </a:xfrm>
        </p:spPr>
        <p:txBody>
          <a:bodyPr/>
          <a:lstStyle/>
          <a:p>
            <a:pPr algn="ctr">
              <a:defRPr/>
            </a:pPr>
            <a:fld id="{D063FBCF-7873-4A49-B36C-1F912BB77786}" type="slidenum">
              <a:rPr lang="ru-RU" altLang="ru-RU" sz="2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ctr">
                <a:defRPr/>
              </a:pPr>
              <a:t>10</a:t>
            </a:fld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/13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C5E5147A-E287-F316-5172-C42E88A58647}"/>
              </a:ext>
            </a:extLst>
          </p:cNvPr>
          <p:cNvSpPr/>
          <p:nvPr/>
        </p:nvSpPr>
        <p:spPr>
          <a:xfrm>
            <a:off x="-476262" y="937951"/>
            <a:ext cx="13144512" cy="5201601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Дата 6">
            <a:extLst>
              <a:ext uri="{FF2B5EF4-FFF2-40B4-BE49-F238E27FC236}">
                <a16:creationId xmlns:a16="http://schemas.microsoft.com/office/drawing/2014/main" id="{190E522F-D9CE-63B0-A522-626F24B90BB6}"/>
              </a:ext>
            </a:extLst>
          </p:cNvPr>
          <p:cNvSpPr txBox="1">
            <a:spLocks/>
          </p:cNvSpPr>
          <p:nvPr/>
        </p:nvSpPr>
        <p:spPr>
          <a:xfrm>
            <a:off x="38100" y="6284084"/>
            <a:ext cx="7785187" cy="463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Курсовой проект «Поиск и первичный анализ наборов данных»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8" name="Таблица 7">
            <a:extLst>
              <a:ext uri="{FF2B5EF4-FFF2-40B4-BE49-F238E27FC236}">
                <a16:creationId xmlns:a16="http://schemas.microsoft.com/office/drawing/2014/main" id="{8F84A75A-F935-3312-4FB0-7CEC40560E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0043216"/>
              </p:ext>
            </p:extLst>
          </p:nvPr>
        </p:nvGraphicFramePr>
        <p:xfrm>
          <a:off x="331379" y="957943"/>
          <a:ext cx="5585899" cy="52016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0756">
                  <a:extLst>
                    <a:ext uri="{9D8B030D-6E8A-4147-A177-3AD203B41FA5}">
                      <a16:colId xmlns:a16="http://schemas.microsoft.com/office/drawing/2014/main" val="1015900073"/>
                    </a:ext>
                  </a:extLst>
                </a:gridCol>
                <a:gridCol w="1379131">
                  <a:extLst>
                    <a:ext uri="{9D8B030D-6E8A-4147-A177-3AD203B41FA5}">
                      <a16:colId xmlns:a16="http://schemas.microsoft.com/office/drawing/2014/main" val="452573460"/>
                    </a:ext>
                  </a:extLst>
                </a:gridCol>
                <a:gridCol w="1915886">
                  <a:extLst>
                    <a:ext uri="{9D8B030D-6E8A-4147-A177-3AD203B41FA5}">
                      <a16:colId xmlns:a16="http://schemas.microsoft.com/office/drawing/2014/main" val="2242938945"/>
                    </a:ext>
                  </a:extLst>
                </a:gridCol>
                <a:gridCol w="1121877">
                  <a:extLst>
                    <a:ext uri="{9D8B030D-6E8A-4147-A177-3AD203B41FA5}">
                      <a16:colId xmlns:a16="http://schemas.microsoft.com/office/drawing/2014/main" val="3697788141"/>
                    </a:ext>
                  </a:extLst>
                </a:gridCol>
                <a:gridCol w="808249">
                  <a:extLst>
                    <a:ext uri="{9D8B030D-6E8A-4147-A177-3AD203B41FA5}">
                      <a16:colId xmlns:a16="http://schemas.microsoft.com/office/drawing/2014/main" val="138882774"/>
                    </a:ext>
                  </a:extLst>
                </a:gridCol>
              </a:tblGrid>
              <a:tr h="647856"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ru-RU" sz="14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№</a:t>
                      </a:r>
                    </a:p>
                  </a:txBody>
                  <a:tcPr marR="152400" marT="95250" marB="9525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ru-RU" sz="14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Название</a:t>
                      </a:r>
                    </a:p>
                  </a:txBody>
                  <a:tcPr marL="152400" marR="152400" marT="95250" marB="9525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ru-RU" sz="14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Семантика</a:t>
                      </a:r>
                    </a:p>
                  </a:txBody>
                  <a:tcPr marL="152400" marR="152400" marT="95250" marB="9525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ru-RU" sz="14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Тип</a:t>
                      </a:r>
                    </a:p>
                  </a:txBody>
                  <a:tcPr marL="152400" marR="152400" marT="95250" marB="9525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ru-RU" sz="14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Ед. изм.</a:t>
                      </a:r>
                    </a:p>
                  </a:txBody>
                  <a:tcPr marL="152400" marR="152400" marT="95250" marB="9525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5554565"/>
                  </a:ext>
                </a:extLst>
              </a:tr>
              <a:tr h="887173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R="152400" marT="95250" marB="9525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Accelero</a:t>
                      </a:r>
                      <a:endParaRPr lang="ru-RU" sz="14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meter1</a:t>
                      </a:r>
                    </a:p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RMS</a:t>
                      </a:r>
                    </a:p>
                  </a:txBody>
                  <a:tcPr marL="152400" marR="152400" marT="95250" marB="9525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Виброускорение, </a:t>
                      </a:r>
                    </a:p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датчик 1</a:t>
                      </a:r>
                    </a:p>
                  </a:txBody>
                  <a:tcPr marL="152400" marR="152400" marT="95250" marB="9525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числовой</a:t>
                      </a:r>
                    </a:p>
                  </a:txBody>
                  <a:tcPr marL="152400" marR="152400" marT="95250" marB="9525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</a:t>
                      </a:r>
                    </a:p>
                  </a:txBody>
                  <a:tcPr marL="152400" marT="95250" marB="9525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06226786"/>
                  </a:ext>
                </a:extLst>
              </a:tr>
              <a:tr h="887173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Accelero</a:t>
                      </a:r>
                      <a:endParaRPr lang="ru-RU" sz="14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meter2</a:t>
                      </a:r>
                    </a:p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RMS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Виброускорение, </a:t>
                      </a:r>
                    </a:p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датчик 2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числовой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</a:t>
                      </a:r>
                    </a:p>
                  </a:txBody>
                  <a:tcPr marL="152400" marT="95250" marB="9525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268196"/>
                  </a:ext>
                </a:extLst>
              </a:tr>
              <a:tr h="1003807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Current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Ток электродвигателя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числовой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А</a:t>
                      </a:r>
                    </a:p>
                  </a:txBody>
                  <a:tcPr marL="152400" marT="95250" marB="9525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4573889"/>
                  </a:ext>
                </a:extLst>
              </a:tr>
              <a:tr h="935074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Pressure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Давление после насоса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числовой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бар</a:t>
                      </a:r>
                    </a:p>
                  </a:txBody>
                  <a:tcPr marL="152400" marT="95250" marB="9525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42517128"/>
                  </a:ext>
                </a:extLst>
              </a:tr>
              <a:tr h="820516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Temperature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Температура корпуса двигателя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числовой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4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°C</a:t>
                      </a:r>
                    </a:p>
                  </a:txBody>
                  <a:tcPr marL="152400" marT="95250" marB="9525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8698193"/>
                  </a:ext>
                </a:extLst>
              </a:tr>
            </a:tbl>
          </a:graphicData>
        </a:graphic>
      </p:graphicFrame>
      <p:graphicFrame>
        <p:nvGraphicFramePr>
          <p:cNvPr id="9" name="Таблица 8">
            <a:extLst>
              <a:ext uri="{FF2B5EF4-FFF2-40B4-BE49-F238E27FC236}">
                <a16:creationId xmlns:a16="http://schemas.microsoft.com/office/drawing/2014/main" id="{D560D116-FFBB-CA2F-2281-AAD72B925B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9724204"/>
              </p:ext>
            </p:extLst>
          </p:nvPr>
        </p:nvGraphicFramePr>
        <p:xfrm>
          <a:off x="6209121" y="957943"/>
          <a:ext cx="5651500" cy="519611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25508">
                  <a:extLst>
                    <a:ext uri="{9D8B030D-6E8A-4147-A177-3AD203B41FA5}">
                      <a16:colId xmlns:a16="http://schemas.microsoft.com/office/drawing/2014/main" val="586533814"/>
                    </a:ext>
                  </a:extLst>
                </a:gridCol>
                <a:gridCol w="1204685">
                  <a:extLst>
                    <a:ext uri="{9D8B030D-6E8A-4147-A177-3AD203B41FA5}">
                      <a16:colId xmlns:a16="http://schemas.microsoft.com/office/drawing/2014/main" val="3895204415"/>
                    </a:ext>
                  </a:extLst>
                </a:gridCol>
                <a:gridCol w="1654629">
                  <a:extLst>
                    <a:ext uri="{9D8B030D-6E8A-4147-A177-3AD203B41FA5}">
                      <a16:colId xmlns:a16="http://schemas.microsoft.com/office/drawing/2014/main" val="4246933073"/>
                    </a:ext>
                  </a:extLst>
                </a:gridCol>
                <a:gridCol w="1314178">
                  <a:extLst>
                    <a:ext uri="{9D8B030D-6E8A-4147-A177-3AD203B41FA5}">
                      <a16:colId xmlns:a16="http://schemas.microsoft.com/office/drawing/2014/main" val="4117556164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4035850811"/>
                    </a:ext>
                  </a:extLst>
                </a:gridCol>
              </a:tblGrid>
              <a:tr h="1538514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</a:t>
                      </a: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Thermocouple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Температура жидкости в контуре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числовой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°C</a:t>
                      </a:r>
                    </a:p>
                  </a:txBody>
                  <a:tcPr marL="152400" marT="95250" marB="952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01802282"/>
                  </a:ext>
                </a:extLst>
              </a:tr>
              <a:tr h="899886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</a:t>
                      </a:r>
                    </a:p>
                  </a:txBody>
                  <a:tcPr marR="152400" marT="95250" marB="95250" anchor="ctr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6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Voltage</a:t>
                      </a:r>
                      <a:endParaRPr lang="ru-RU" sz="16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400" marR="152400" marT="95250" marB="95250" anchor="ctr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6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Напряжение на двигателе</a:t>
                      </a:r>
                    </a:p>
                  </a:txBody>
                  <a:tcPr marL="152400" marR="152400" marT="95250" marB="95250" anchor="ctr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числовой</a:t>
                      </a:r>
                    </a:p>
                  </a:txBody>
                  <a:tcPr marL="152400" marR="152400" marT="95250" marB="95250" anchor="ctr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В</a:t>
                      </a:r>
                    </a:p>
                  </a:txBody>
                  <a:tcPr marL="152400" marT="95250" marB="95250" anchor="ctr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7519303"/>
                  </a:ext>
                </a:extLst>
              </a:tr>
              <a:tr h="1001486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</a:t>
                      </a:r>
                    </a:p>
                  </a:txBody>
                  <a:tcPr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Volume Flow RateRMS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Скорость потока жидкости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числовой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л/мин</a:t>
                      </a:r>
                    </a:p>
                  </a:txBody>
                  <a:tcPr marL="152400" marT="95250" marB="9525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34397231"/>
                  </a:ext>
                </a:extLst>
              </a:tr>
              <a:tr h="957942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9</a:t>
                      </a:r>
                    </a:p>
                  </a:txBody>
                  <a:tcPr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anomaly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Метка точечной аномалии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6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целевой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6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0/1</a:t>
                      </a:r>
                    </a:p>
                  </a:txBody>
                  <a:tcPr marL="152400" marT="95250" marB="9525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1077848"/>
                  </a:ext>
                </a:extLst>
              </a:tr>
              <a:tr h="798286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</a:t>
                      </a:r>
                    </a:p>
                  </a:txBody>
                  <a:tcPr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16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</a:t>
                      </a:r>
                      <a:r>
                        <a:rPr lang="ru-RU" sz="16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hange</a:t>
                      </a:r>
                      <a:endParaRPr lang="ru-RU" sz="16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6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point</a:t>
                      </a:r>
                      <a:endParaRPr lang="ru-RU" sz="16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Метка смены режима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6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целевой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ru-RU" sz="16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0/1</a:t>
                      </a:r>
                    </a:p>
                  </a:txBody>
                  <a:tcPr marL="152400" marT="95250" marB="9525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44390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00408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9614AA-496E-8CB3-E09B-C24519CDB1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39CBDC89-5566-62E1-9681-907E3B8407A0}"/>
              </a:ext>
            </a:extLst>
          </p:cNvPr>
          <p:cNvSpPr/>
          <p:nvPr/>
        </p:nvSpPr>
        <p:spPr>
          <a:xfrm>
            <a:off x="-246750" y="-137886"/>
            <a:ext cx="12685487" cy="7299296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50000"/>
                  <a:lumOff val="50000"/>
                </a:schemeClr>
              </a:gs>
              <a:gs pos="75000">
                <a:srgbClr val="122639"/>
              </a:gs>
              <a:gs pos="100000">
                <a:schemeClr val="tx1">
                  <a:lumMod val="95000"/>
                  <a:lumOff val="5000"/>
                </a:schemeClr>
              </a:gs>
              <a:gs pos="50000">
                <a:schemeClr val="tx2">
                  <a:lumMod val="90000"/>
                  <a:lumOff val="10000"/>
                </a:schemeClr>
              </a:gs>
            </a:gsLst>
            <a:lin ang="13800000" scaled="0"/>
            <a:tileRect/>
          </a:gra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081D85D7-059A-938D-5E0E-10728AA71FAC}"/>
              </a:ext>
            </a:extLst>
          </p:cNvPr>
          <p:cNvSpPr/>
          <p:nvPr/>
        </p:nvSpPr>
        <p:spPr>
          <a:xfrm>
            <a:off x="-246746" y="-220648"/>
            <a:ext cx="12685487" cy="1312847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75000"/>
                  <a:lumOff val="25000"/>
                </a:schemeClr>
              </a:gs>
              <a:gs pos="75000">
                <a:srgbClr val="122639"/>
              </a:gs>
              <a:gs pos="100000">
                <a:schemeClr val="tx1">
                  <a:lumMod val="95000"/>
                  <a:lumOff val="5000"/>
                </a:schemeClr>
              </a:gs>
              <a:gs pos="43000">
                <a:schemeClr val="tx2">
                  <a:lumMod val="90000"/>
                  <a:lumOff val="10000"/>
                </a:schemeClr>
              </a:gs>
            </a:gsLst>
            <a:lin ang="13800000" scaled="0"/>
            <a:tileRect/>
          </a:gra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D4F702-1C42-01C1-AA63-812A2ABB2857}"/>
              </a:ext>
            </a:extLst>
          </p:cNvPr>
          <p:cNvSpPr txBox="1"/>
          <p:nvPr/>
        </p:nvSpPr>
        <p:spPr>
          <a:xfrm>
            <a:off x="651247" y="232100"/>
            <a:ext cx="10889495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Временные ряды: визуализация</a:t>
            </a:r>
            <a:endParaRPr lang="ru-RU" sz="2000" dirty="0">
              <a:solidFill>
                <a:schemeClr val="bg1"/>
              </a:solidFill>
              <a:latin typeface="Arial Black" panose="020B0A040201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Дата 6">
            <a:extLst>
              <a:ext uri="{FF2B5EF4-FFF2-40B4-BE49-F238E27FC236}">
                <a16:creationId xmlns:a16="http://schemas.microsoft.com/office/drawing/2014/main" id="{419F66F1-1409-14F0-CBC1-8743771D87A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280316" y="6284083"/>
            <a:ext cx="892634" cy="463875"/>
          </a:xfrm>
        </p:spPr>
        <p:txBody>
          <a:bodyPr/>
          <a:lstStyle/>
          <a:p>
            <a:pPr algn="ctr">
              <a:defRPr/>
            </a:pPr>
            <a:fld id="{D063FBCF-7873-4A49-B36C-1F912BB77786}" type="slidenum">
              <a:rPr lang="ru-RU" altLang="ru-RU" sz="2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ctr">
                <a:defRPr/>
              </a:pPr>
              <a:t>11</a:t>
            </a:fld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/13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B30D15FA-EC8F-D860-1001-F1B2AC31F8D9}"/>
              </a:ext>
            </a:extLst>
          </p:cNvPr>
          <p:cNvSpPr/>
          <p:nvPr/>
        </p:nvSpPr>
        <p:spPr>
          <a:xfrm>
            <a:off x="-476262" y="937951"/>
            <a:ext cx="13144512" cy="5201601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Дата 6">
            <a:extLst>
              <a:ext uri="{FF2B5EF4-FFF2-40B4-BE49-F238E27FC236}">
                <a16:creationId xmlns:a16="http://schemas.microsoft.com/office/drawing/2014/main" id="{F1B43CAD-0BAD-7352-4CE7-24A13EF83A1F}"/>
              </a:ext>
            </a:extLst>
          </p:cNvPr>
          <p:cNvSpPr txBox="1">
            <a:spLocks/>
          </p:cNvSpPr>
          <p:nvPr/>
        </p:nvSpPr>
        <p:spPr>
          <a:xfrm>
            <a:off x="38100" y="6284084"/>
            <a:ext cx="7785187" cy="463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Курсовой проект «Поиск и первичный анализ наборов данных»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grpSp>
        <p:nvGrpSpPr>
          <p:cNvPr id="28" name="Группа 27">
            <a:extLst>
              <a:ext uri="{FF2B5EF4-FFF2-40B4-BE49-F238E27FC236}">
                <a16:creationId xmlns:a16="http://schemas.microsoft.com/office/drawing/2014/main" id="{32584099-FDCA-B7D5-6D54-793C3AA6E56F}"/>
              </a:ext>
            </a:extLst>
          </p:cNvPr>
          <p:cNvGrpSpPr/>
          <p:nvPr/>
        </p:nvGrpSpPr>
        <p:grpSpPr>
          <a:xfrm>
            <a:off x="651247" y="895020"/>
            <a:ext cx="5203453" cy="4616100"/>
            <a:chOff x="828968" y="1125306"/>
            <a:chExt cx="5434711" cy="4821254"/>
          </a:xfrm>
        </p:grpSpPr>
        <p:pic>
          <p:nvPicPr>
            <p:cNvPr id="26" name="Рисунок 25">
              <a:extLst>
                <a:ext uri="{FF2B5EF4-FFF2-40B4-BE49-F238E27FC236}">
                  <a16:creationId xmlns:a16="http://schemas.microsoft.com/office/drawing/2014/main" id="{FC5F482F-2DFB-7AF4-229E-698C1404DD5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7730" t="-5" r="-35" b="-5"/>
            <a:stretch>
              <a:fillRect/>
            </a:stretch>
          </p:blipFill>
          <p:spPr>
            <a:xfrm>
              <a:off x="3449894" y="1139550"/>
              <a:ext cx="2813785" cy="4807010"/>
            </a:xfrm>
            <a:prstGeom prst="rect">
              <a:avLst/>
            </a:prstGeom>
            <a:effectLst>
              <a:softEdge rad="63500"/>
            </a:effectLst>
          </p:spPr>
        </p:pic>
        <p:pic>
          <p:nvPicPr>
            <p:cNvPr id="20" name="Рисунок 19">
              <a:extLst>
                <a:ext uri="{FF2B5EF4-FFF2-40B4-BE49-F238E27FC236}">
                  <a16:creationId xmlns:a16="http://schemas.microsoft.com/office/drawing/2014/main" id="{8CA50DC4-E1D1-38C4-27F8-1C4416D7A8F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202" t="-356" r="77897" b="347"/>
            <a:stretch>
              <a:fillRect/>
            </a:stretch>
          </p:blipFill>
          <p:spPr>
            <a:xfrm>
              <a:off x="828968" y="1125306"/>
              <a:ext cx="2813785" cy="4807010"/>
            </a:xfrm>
            <a:prstGeom prst="rect">
              <a:avLst/>
            </a:prstGeom>
            <a:effectLst>
              <a:softEdge rad="63500"/>
            </a:effectLst>
          </p:spPr>
        </p:pic>
        <p:cxnSp>
          <p:nvCxnSpPr>
            <p:cNvPr id="24" name="Прямая соединительная линия 23">
              <a:extLst>
                <a:ext uri="{FF2B5EF4-FFF2-40B4-BE49-F238E27FC236}">
                  <a16:creationId xmlns:a16="http://schemas.microsoft.com/office/drawing/2014/main" id="{5E7BE31E-A7DE-3764-2E7E-BB98AF98B066}"/>
                </a:ext>
              </a:extLst>
            </p:cNvPr>
            <p:cNvCxnSpPr>
              <a:cxnSpLocks/>
            </p:cNvCxnSpPr>
            <p:nvPr/>
          </p:nvCxnSpPr>
          <p:spPr>
            <a:xfrm>
              <a:off x="3582874" y="1182786"/>
              <a:ext cx="0" cy="4737263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9" name="Левая фигурная скобка 28">
            <a:extLst>
              <a:ext uri="{FF2B5EF4-FFF2-40B4-BE49-F238E27FC236}">
                <a16:creationId xmlns:a16="http://schemas.microsoft.com/office/drawing/2014/main" id="{91C659CE-94DA-D4A3-A952-BB16791ADCAB}"/>
              </a:ext>
            </a:extLst>
          </p:cNvPr>
          <p:cNvSpPr/>
          <p:nvPr/>
        </p:nvSpPr>
        <p:spPr>
          <a:xfrm rot="16200000">
            <a:off x="3347575" y="3334795"/>
            <a:ext cx="370150" cy="4571306"/>
          </a:xfrm>
          <a:prstGeom prst="leftBrace">
            <a:avLst/>
          </a:prstGeom>
          <a:ln w="285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1" name="Левая фигурная скобка 30">
            <a:extLst>
              <a:ext uri="{FF2B5EF4-FFF2-40B4-BE49-F238E27FC236}">
                <a16:creationId xmlns:a16="http://schemas.microsoft.com/office/drawing/2014/main" id="{905B876B-01A7-118A-C613-CCD069E29EED}"/>
              </a:ext>
            </a:extLst>
          </p:cNvPr>
          <p:cNvSpPr/>
          <p:nvPr/>
        </p:nvSpPr>
        <p:spPr>
          <a:xfrm>
            <a:off x="421734" y="1037251"/>
            <a:ext cx="346769" cy="4207850"/>
          </a:xfrm>
          <a:prstGeom prst="leftBrace">
            <a:avLst/>
          </a:prstGeom>
          <a:ln w="28575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F7EB4F3-EA2C-4E99-25B7-7391CE062E23}"/>
              </a:ext>
            </a:extLst>
          </p:cNvPr>
          <p:cNvSpPr txBox="1"/>
          <p:nvPr/>
        </p:nvSpPr>
        <p:spPr>
          <a:xfrm rot="16200000">
            <a:off x="-1103307" y="3017839"/>
            <a:ext cx="261111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8 </a:t>
            </a:r>
            <a:r>
              <a:rPr lang="ru-RU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измерений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38B681B-7D17-703E-86D6-04C38A5D3718}"/>
              </a:ext>
            </a:extLst>
          </p:cNvPr>
          <p:cNvSpPr txBox="1"/>
          <p:nvPr/>
        </p:nvSpPr>
        <p:spPr>
          <a:xfrm>
            <a:off x="2227094" y="5739442"/>
            <a:ext cx="261111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2 208 значений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1655BBA-9AF4-FD6F-0657-B44D4B28ABB5}"/>
              </a:ext>
            </a:extLst>
          </p:cNvPr>
          <p:cNvSpPr txBox="1"/>
          <p:nvPr/>
        </p:nvSpPr>
        <p:spPr>
          <a:xfrm>
            <a:off x="5856013" y="1037250"/>
            <a:ext cx="5981378" cy="44901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1200" b="1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Accelerometer1RMS, Accelerometer2RMS: резкие скачки при включении насоса – нормальная реакция на запуск двигателя</a:t>
            </a:r>
          </a:p>
          <a:p>
            <a:pPr algn="just">
              <a:lnSpc>
                <a:spcPct val="150000"/>
              </a:lnSpc>
            </a:pPr>
            <a:endParaRPr lang="ru-RU" sz="1200" b="1" dirty="0">
              <a:solidFill>
                <a:srgbClr val="F9FAF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>
              <a:lnSpc>
                <a:spcPct val="150000"/>
              </a:lnSpc>
            </a:pPr>
            <a:endParaRPr lang="ru-RU" sz="1200" b="1" i="0" dirty="0">
              <a:solidFill>
                <a:srgbClr val="F9FAFB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1200" b="1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Ток: рост тока при включении (до 243 А) – пусковые токи электродвигателя, закономерное явление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1200" b="1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Давление: скачки давления при запуске, отрицательные </a:t>
            </a:r>
            <a:r>
              <a:rPr lang="ru-RU" sz="1200" b="1" dirty="0">
                <a:solidFill>
                  <a:srgbClr val="F9FAF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значения – </a:t>
            </a:r>
            <a:r>
              <a:rPr lang="ru-RU" sz="1200" b="1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кавитация при закрытии клапанов (целевая аномалия)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1200" b="1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Температура двигателя: падение температуры за 6 часов – остывание двигателя;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1200" b="1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температура жидкости</a:t>
            </a:r>
            <a:r>
              <a:rPr lang="ru-RU" sz="1200" b="1" dirty="0">
                <a:solidFill>
                  <a:srgbClr val="F9FAF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падение температуры – </a:t>
            </a:r>
            <a:r>
              <a:rPr lang="ru-RU" sz="1200" b="1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остывание жидкости в контуре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1200" b="1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Напряжение: просадки при росте тока – реакция на нагрузку; стабильно при выключенном насосе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1200" b="1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Скорость потока: не стабилен при включении </a:t>
            </a:r>
            <a:r>
              <a:rPr lang="ru-RU" sz="1200" b="1" dirty="0">
                <a:solidFill>
                  <a:srgbClr val="F9FAF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и выключении насоса; </a:t>
            </a:r>
            <a:r>
              <a:rPr lang="ru-RU" sz="1200" b="1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 работе </a:t>
            </a:r>
            <a:r>
              <a:rPr lang="ru-RU" sz="1200" b="1" dirty="0">
                <a:solidFill>
                  <a:srgbClr val="F9FAF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стабилен – циклический </a:t>
            </a:r>
            <a:r>
              <a:rPr lang="ru-RU" sz="1200" b="1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режим работы насоса</a:t>
            </a:r>
            <a:endParaRPr lang="ru-RU" sz="1200" b="0" i="0" dirty="0">
              <a:solidFill>
                <a:srgbClr val="F9FAFB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41014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E50B5-CD56-45FF-6B6E-A9956607F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A85C89A8-068A-DC9E-5D82-A9BB72BDD2D0}"/>
              </a:ext>
            </a:extLst>
          </p:cNvPr>
          <p:cNvSpPr/>
          <p:nvPr/>
        </p:nvSpPr>
        <p:spPr>
          <a:xfrm>
            <a:off x="-227696" y="-220648"/>
            <a:ext cx="12685487" cy="7299296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50000"/>
                  <a:lumOff val="50000"/>
                </a:schemeClr>
              </a:gs>
              <a:gs pos="75000">
                <a:srgbClr val="122639"/>
              </a:gs>
              <a:gs pos="100000">
                <a:schemeClr val="tx1">
                  <a:lumMod val="95000"/>
                  <a:lumOff val="5000"/>
                </a:schemeClr>
              </a:gs>
              <a:gs pos="50000">
                <a:schemeClr val="tx2">
                  <a:lumMod val="90000"/>
                  <a:lumOff val="10000"/>
                </a:schemeClr>
              </a:gs>
            </a:gsLst>
            <a:lin ang="13200000" scaled="0"/>
            <a:tileRect/>
          </a:gra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100" name="Группа 99">
            <a:extLst>
              <a:ext uri="{FF2B5EF4-FFF2-40B4-BE49-F238E27FC236}">
                <a16:creationId xmlns:a16="http://schemas.microsoft.com/office/drawing/2014/main" id="{4E17A369-1C48-6ED4-4A56-293EEED1444A}"/>
              </a:ext>
            </a:extLst>
          </p:cNvPr>
          <p:cNvGrpSpPr/>
          <p:nvPr/>
        </p:nvGrpSpPr>
        <p:grpSpPr>
          <a:xfrm>
            <a:off x="8379802" y="-1343198"/>
            <a:ext cx="4125183" cy="3903766"/>
            <a:chOff x="8597992" y="-1343198"/>
            <a:chExt cx="4125183" cy="3903766"/>
          </a:xfrm>
        </p:grpSpPr>
        <p:grpSp>
          <p:nvGrpSpPr>
            <p:cNvPr id="95" name="Группа 94">
              <a:extLst>
                <a:ext uri="{FF2B5EF4-FFF2-40B4-BE49-F238E27FC236}">
                  <a16:creationId xmlns:a16="http://schemas.microsoft.com/office/drawing/2014/main" id="{CCFC28BF-B64D-7F6A-D5EE-C3D1F979ED39}"/>
                </a:ext>
              </a:extLst>
            </p:cNvPr>
            <p:cNvGrpSpPr/>
            <p:nvPr/>
          </p:nvGrpSpPr>
          <p:grpSpPr>
            <a:xfrm>
              <a:off x="8670670" y="-1343198"/>
              <a:ext cx="3903766" cy="3903766"/>
              <a:chOff x="8746731" y="-1343198"/>
              <a:chExt cx="3903766" cy="3903766"/>
            </a:xfrm>
          </p:grpSpPr>
          <p:grpSp>
            <p:nvGrpSpPr>
              <p:cNvPr id="63" name="Группа 62">
                <a:extLst>
                  <a:ext uri="{FF2B5EF4-FFF2-40B4-BE49-F238E27FC236}">
                    <a16:creationId xmlns:a16="http://schemas.microsoft.com/office/drawing/2014/main" id="{07CA9651-DCE3-D798-E840-AF4198D18FD2}"/>
                  </a:ext>
                </a:extLst>
              </p:cNvPr>
              <p:cNvGrpSpPr/>
              <p:nvPr/>
            </p:nvGrpSpPr>
            <p:grpSpPr>
              <a:xfrm>
                <a:off x="8746731" y="-1343198"/>
                <a:ext cx="3903766" cy="3903766"/>
                <a:chOff x="152400" y="1057655"/>
                <a:chExt cx="3903766" cy="3903766"/>
              </a:xfrm>
            </p:grpSpPr>
            <p:sp>
              <p:nvSpPr>
                <p:cNvPr id="64" name="Полилиния: фигура 63">
                  <a:extLst>
                    <a:ext uri="{FF2B5EF4-FFF2-40B4-BE49-F238E27FC236}">
                      <a16:creationId xmlns:a16="http://schemas.microsoft.com/office/drawing/2014/main" id="{2657C56A-991A-25D7-16B5-C6236BE4D588}"/>
                    </a:ext>
                  </a:extLst>
                </p:cNvPr>
                <p:cNvSpPr/>
                <p:nvPr/>
              </p:nvSpPr>
              <p:spPr>
                <a:xfrm>
                  <a:off x="152400" y="1057655"/>
                  <a:ext cx="3903766" cy="3903766"/>
                </a:xfrm>
                <a:custGeom>
                  <a:avLst/>
                  <a:gdLst>
                    <a:gd name="csX0" fmla="*/ 2492829 w 4985658"/>
                    <a:gd name="csY0" fmla="*/ 1240972 h 4985658"/>
                    <a:gd name="csX1" fmla="*/ 1240972 w 4985658"/>
                    <a:gd name="csY1" fmla="*/ 2492829 h 4985658"/>
                    <a:gd name="csX2" fmla="*/ 2492829 w 4985658"/>
                    <a:gd name="csY2" fmla="*/ 3744686 h 4985658"/>
                    <a:gd name="csX3" fmla="*/ 3744686 w 4985658"/>
                    <a:gd name="csY3" fmla="*/ 2492829 h 4985658"/>
                    <a:gd name="csX4" fmla="*/ 2492829 w 4985658"/>
                    <a:gd name="csY4" fmla="*/ 1240972 h 4985658"/>
                    <a:gd name="csX5" fmla="*/ 2492829 w 4985658"/>
                    <a:gd name="csY5" fmla="*/ 0 h 4985658"/>
                    <a:gd name="csX6" fmla="*/ 4985658 w 4985658"/>
                    <a:gd name="csY6" fmla="*/ 2492829 h 4985658"/>
                    <a:gd name="csX7" fmla="*/ 2492829 w 4985658"/>
                    <a:gd name="csY7" fmla="*/ 4985658 h 4985658"/>
                    <a:gd name="csX8" fmla="*/ 0 w 4985658"/>
                    <a:gd name="csY8" fmla="*/ 2492829 h 4985658"/>
                    <a:gd name="csX9" fmla="*/ 2492829 w 4985658"/>
                    <a:gd name="csY9" fmla="*/ 0 h 498565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</a:cxnLst>
                  <a:rect l="l" t="t" r="r" b="b"/>
                  <a:pathLst>
                    <a:path w="4985658" h="4985658">
                      <a:moveTo>
                        <a:pt x="2492829" y="1240972"/>
                      </a:moveTo>
                      <a:cubicBezTo>
                        <a:pt x="1801447" y="1240972"/>
                        <a:pt x="1240972" y="1801447"/>
                        <a:pt x="1240972" y="2492829"/>
                      </a:cubicBezTo>
                      <a:cubicBezTo>
                        <a:pt x="1240972" y="3184211"/>
                        <a:pt x="1801447" y="3744686"/>
                        <a:pt x="2492829" y="3744686"/>
                      </a:cubicBezTo>
                      <a:cubicBezTo>
                        <a:pt x="3184211" y="3744686"/>
                        <a:pt x="3744686" y="3184211"/>
                        <a:pt x="3744686" y="2492829"/>
                      </a:cubicBezTo>
                      <a:cubicBezTo>
                        <a:pt x="3744686" y="1801447"/>
                        <a:pt x="3184211" y="1240972"/>
                        <a:pt x="2492829" y="1240972"/>
                      </a:cubicBezTo>
                      <a:close/>
                      <a:moveTo>
                        <a:pt x="2492829" y="0"/>
                      </a:moveTo>
                      <a:cubicBezTo>
                        <a:pt x="3869580" y="0"/>
                        <a:pt x="4985658" y="1116078"/>
                        <a:pt x="4985658" y="2492829"/>
                      </a:cubicBezTo>
                      <a:cubicBezTo>
                        <a:pt x="4985658" y="3869580"/>
                        <a:pt x="3869580" y="4985658"/>
                        <a:pt x="2492829" y="4985658"/>
                      </a:cubicBezTo>
                      <a:cubicBezTo>
                        <a:pt x="1116078" y="4985658"/>
                        <a:pt x="0" y="3869580"/>
                        <a:pt x="0" y="2492829"/>
                      </a:cubicBezTo>
                      <a:cubicBezTo>
                        <a:pt x="0" y="1116078"/>
                        <a:pt x="1116078" y="0"/>
                        <a:pt x="2492829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tx2">
                        <a:lumMod val="50000"/>
                        <a:lumOff val="50000"/>
                      </a:schemeClr>
                    </a:gs>
                    <a:gs pos="75000">
                      <a:srgbClr val="122639"/>
                    </a:gs>
                    <a:gs pos="100000">
                      <a:schemeClr val="tx1">
                        <a:lumMod val="95000"/>
                        <a:lumOff val="5000"/>
                      </a:schemeClr>
                    </a:gs>
                    <a:gs pos="44000">
                      <a:schemeClr val="tx2">
                        <a:lumMod val="90000"/>
                        <a:lumOff val="10000"/>
                      </a:schemeClr>
                    </a:gs>
                  </a:gsLst>
                  <a:lin ang="12600000" scaled="0"/>
                </a:gra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ru-RU" dirty="0"/>
                </a:p>
              </p:txBody>
            </p:sp>
            <p:grpSp>
              <p:nvGrpSpPr>
                <p:cNvPr id="65" name="Группа 64">
                  <a:extLst>
                    <a:ext uri="{FF2B5EF4-FFF2-40B4-BE49-F238E27FC236}">
                      <a16:creationId xmlns:a16="http://schemas.microsoft.com/office/drawing/2014/main" id="{DD713662-6D05-3DF9-9289-5155D712F08A}"/>
                    </a:ext>
                  </a:extLst>
                </p:cNvPr>
                <p:cNvGrpSpPr/>
                <p:nvPr/>
              </p:nvGrpSpPr>
              <p:grpSpPr>
                <a:xfrm>
                  <a:off x="3084486" y="2719153"/>
                  <a:ext cx="971680" cy="316024"/>
                  <a:chOff x="4387850" y="3027845"/>
                  <a:chExt cx="971680" cy="316024"/>
                </a:xfrm>
              </p:grpSpPr>
              <p:cxnSp>
                <p:nvCxnSpPr>
                  <p:cNvPr id="69" name="Прямая соединительная линия 68">
                    <a:extLst>
                      <a:ext uri="{FF2B5EF4-FFF2-40B4-BE49-F238E27FC236}">
                        <a16:creationId xmlns:a16="http://schemas.microsoft.com/office/drawing/2014/main" id="{AF526F84-6B26-891C-83C8-25F1F711788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387850" y="3027845"/>
                    <a:ext cx="481039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0" name="Прямая соединительная линия 69">
                    <a:extLst>
                      <a:ext uri="{FF2B5EF4-FFF2-40B4-BE49-F238E27FC236}">
                        <a16:creationId xmlns:a16="http://schemas.microsoft.com/office/drawing/2014/main" id="{DD1049F7-692F-D076-F165-758967DFE82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4868889" y="3027845"/>
                    <a:ext cx="490641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6" name="Группа 65">
                  <a:extLst>
                    <a:ext uri="{FF2B5EF4-FFF2-40B4-BE49-F238E27FC236}">
                      <a16:creationId xmlns:a16="http://schemas.microsoft.com/office/drawing/2014/main" id="{EB9F9B15-84EA-46A0-2296-A1B5AC65610D}"/>
                    </a:ext>
                  </a:extLst>
                </p:cNvPr>
                <p:cNvGrpSpPr/>
                <p:nvPr/>
              </p:nvGrpSpPr>
              <p:grpSpPr>
                <a:xfrm rot="10800000">
                  <a:off x="152400" y="3035177"/>
                  <a:ext cx="971680" cy="316024"/>
                  <a:chOff x="4387850" y="3027845"/>
                  <a:chExt cx="971680" cy="316024"/>
                </a:xfrm>
              </p:grpSpPr>
              <p:cxnSp>
                <p:nvCxnSpPr>
                  <p:cNvPr id="67" name="Прямая соединительная линия 66">
                    <a:extLst>
                      <a:ext uri="{FF2B5EF4-FFF2-40B4-BE49-F238E27FC236}">
                        <a16:creationId xmlns:a16="http://schemas.microsoft.com/office/drawing/2014/main" id="{0CE104F7-35FB-CEAF-AE36-BC1ADAB4937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387850" y="3027845"/>
                    <a:ext cx="481039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8" name="Прямая соединительная линия 67">
                    <a:extLst>
                      <a:ext uri="{FF2B5EF4-FFF2-40B4-BE49-F238E27FC236}">
                        <a16:creationId xmlns:a16="http://schemas.microsoft.com/office/drawing/2014/main" id="{DF98E6E3-C521-C574-32A1-BDB84A2CADA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4868889" y="3027845"/>
                    <a:ext cx="490641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A78677D2-039C-15EA-1E9C-E9CEC232D410}"/>
                  </a:ext>
                </a:extLst>
              </p:cNvPr>
              <p:cNvSpPr txBox="1"/>
              <p:nvPr/>
            </p:nvSpPr>
            <p:spPr>
              <a:xfrm>
                <a:off x="9256187" y="1628588"/>
                <a:ext cx="2960914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Шаг 3. Проверка</a:t>
                </a:r>
              </a:p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на диапазоны </a:t>
                </a:r>
              </a:p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значений</a:t>
                </a:r>
              </a:p>
            </p:txBody>
          </p:sp>
        </p:grp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E8065BAD-E35E-1C4B-951B-A7DB5A42BB02}"/>
                </a:ext>
              </a:extLst>
            </p:cNvPr>
            <p:cNvSpPr txBox="1"/>
            <p:nvPr/>
          </p:nvSpPr>
          <p:spPr>
            <a:xfrm rot="10800000">
              <a:off x="8597992" y="-1050811"/>
              <a:ext cx="4125183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ru-RU" sz="16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Шаг 6. Поиск </a:t>
              </a:r>
            </a:p>
            <a:p>
              <a:pPr algn="ctr"/>
              <a:r>
                <a:rPr lang="ru-RU" sz="16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и анализ шумов</a:t>
              </a:r>
            </a:p>
          </p:txBody>
        </p:sp>
      </p:grpSp>
      <p:grpSp>
        <p:nvGrpSpPr>
          <p:cNvPr id="99" name="Группа 98">
            <a:extLst>
              <a:ext uri="{FF2B5EF4-FFF2-40B4-BE49-F238E27FC236}">
                <a16:creationId xmlns:a16="http://schemas.microsoft.com/office/drawing/2014/main" id="{79E57268-A296-55FF-E1A4-54D9C6C207A6}"/>
              </a:ext>
            </a:extLst>
          </p:cNvPr>
          <p:cNvGrpSpPr/>
          <p:nvPr/>
        </p:nvGrpSpPr>
        <p:grpSpPr>
          <a:xfrm>
            <a:off x="4809846" y="-1343198"/>
            <a:ext cx="3922816" cy="3903766"/>
            <a:chOff x="5028036" y="-1343198"/>
            <a:chExt cx="3922816" cy="3903766"/>
          </a:xfrm>
        </p:grpSpPr>
        <p:grpSp>
          <p:nvGrpSpPr>
            <p:cNvPr id="89" name="Группа 88">
              <a:extLst>
                <a:ext uri="{FF2B5EF4-FFF2-40B4-BE49-F238E27FC236}">
                  <a16:creationId xmlns:a16="http://schemas.microsoft.com/office/drawing/2014/main" id="{BA731743-DA1E-DCD7-18F1-375CC8AA0897}"/>
                </a:ext>
              </a:extLst>
            </p:cNvPr>
            <p:cNvGrpSpPr/>
            <p:nvPr/>
          </p:nvGrpSpPr>
          <p:grpSpPr>
            <a:xfrm>
              <a:off x="5047086" y="-1343198"/>
              <a:ext cx="3903766" cy="3903766"/>
              <a:chOff x="5013346" y="-1343198"/>
              <a:chExt cx="3903766" cy="3903766"/>
            </a:xfrm>
          </p:grpSpPr>
          <p:grpSp>
            <p:nvGrpSpPr>
              <p:cNvPr id="55" name="Группа 54">
                <a:extLst>
                  <a:ext uri="{FF2B5EF4-FFF2-40B4-BE49-F238E27FC236}">
                    <a16:creationId xmlns:a16="http://schemas.microsoft.com/office/drawing/2014/main" id="{451DC59B-B372-6EAB-A4FA-4F748016D795}"/>
                  </a:ext>
                </a:extLst>
              </p:cNvPr>
              <p:cNvGrpSpPr/>
              <p:nvPr/>
            </p:nvGrpSpPr>
            <p:grpSpPr>
              <a:xfrm>
                <a:off x="5013346" y="-1343198"/>
                <a:ext cx="3903766" cy="3903766"/>
                <a:chOff x="152400" y="1057655"/>
                <a:chExt cx="3903766" cy="3903766"/>
              </a:xfrm>
            </p:grpSpPr>
            <p:sp>
              <p:nvSpPr>
                <p:cNvPr id="56" name="Полилиния: фигура 55">
                  <a:extLst>
                    <a:ext uri="{FF2B5EF4-FFF2-40B4-BE49-F238E27FC236}">
                      <a16:creationId xmlns:a16="http://schemas.microsoft.com/office/drawing/2014/main" id="{6273E29A-A8B9-810C-5950-B5CF3703DDB1}"/>
                    </a:ext>
                  </a:extLst>
                </p:cNvPr>
                <p:cNvSpPr/>
                <p:nvPr/>
              </p:nvSpPr>
              <p:spPr>
                <a:xfrm>
                  <a:off x="152400" y="1057655"/>
                  <a:ext cx="3903766" cy="3903766"/>
                </a:xfrm>
                <a:custGeom>
                  <a:avLst/>
                  <a:gdLst>
                    <a:gd name="csX0" fmla="*/ 2492829 w 4985658"/>
                    <a:gd name="csY0" fmla="*/ 1240972 h 4985658"/>
                    <a:gd name="csX1" fmla="*/ 1240972 w 4985658"/>
                    <a:gd name="csY1" fmla="*/ 2492829 h 4985658"/>
                    <a:gd name="csX2" fmla="*/ 2492829 w 4985658"/>
                    <a:gd name="csY2" fmla="*/ 3744686 h 4985658"/>
                    <a:gd name="csX3" fmla="*/ 3744686 w 4985658"/>
                    <a:gd name="csY3" fmla="*/ 2492829 h 4985658"/>
                    <a:gd name="csX4" fmla="*/ 2492829 w 4985658"/>
                    <a:gd name="csY4" fmla="*/ 1240972 h 4985658"/>
                    <a:gd name="csX5" fmla="*/ 2492829 w 4985658"/>
                    <a:gd name="csY5" fmla="*/ 0 h 4985658"/>
                    <a:gd name="csX6" fmla="*/ 4985658 w 4985658"/>
                    <a:gd name="csY6" fmla="*/ 2492829 h 4985658"/>
                    <a:gd name="csX7" fmla="*/ 2492829 w 4985658"/>
                    <a:gd name="csY7" fmla="*/ 4985658 h 4985658"/>
                    <a:gd name="csX8" fmla="*/ 0 w 4985658"/>
                    <a:gd name="csY8" fmla="*/ 2492829 h 4985658"/>
                    <a:gd name="csX9" fmla="*/ 2492829 w 4985658"/>
                    <a:gd name="csY9" fmla="*/ 0 h 498565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</a:cxnLst>
                  <a:rect l="l" t="t" r="r" b="b"/>
                  <a:pathLst>
                    <a:path w="4985658" h="4985658">
                      <a:moveTo>
                        <a:pt x="2492829" y="1240972"/>
                      </a:moveTo>
                      <a:cubicBezTo>
                        <a:pt x="1801447" y="1240972"/>
                        <a:pt x="1240972" y="1801447"/>
                        <a:pt x="1240972" y="2492829"/>
                      </a:cubicBezTo>
                      <a:cubicBezTo>
                        <a:pt x="1240972" y="3184211"/>
                        <a:pt x="1801447" y="3744686"/>
                        <a:pt x="2492829" y="3744686"/>
                      </a:cubicBezTo>
                      <a:cubicBezTo>
                        <a:pt x="3184211" y="3744686"/>
                        <a:pt x="3744686" y="3184211"/>
                        <a:pt x="3744686" y="2492829"/>
                      </a:cubicBezTo>
                      <a:cubicBezTo>
                        <a:pt x="3744686" y="1801447"/>
                        <a:pt x="3184211" y="1240972"/>
                        <a:pt x="2492829" y="1240972"/>
                      </a:cubicBezTo>
                      <a:close/>
                      <a:moveTo>
                        <a:pt x="2492829" y="0"/>
                      </a:moveTo>
                      <a:cubicBezTo>
                        <a:pt x="3869580" y="0"/>
                        <a:pt x="4985658" y="1116078"/>
                        <a:pt x="4985658" y="2492829"/>
                      </a:cubicBezTo>
                      <a:cubicBezTo>
                        <a:pt x="4985658" y="3869580"/>
                        <a:pt x="3869580" y="4985658"/>
                        <a:pt x="2492829" y="4985658"/>
                      </a:cubicBezTo>
                      <a:cubicBezTo>
                        <a:pt x="1116078" y="4985658"/>
                        <a:pt x="0" y="3869580"/>
                        <a:pt x="0" y="2492829"/>
                      </a:cubicBezTo>
                      <a:cubicBezTo>
                        <a:pt x="0" y="1116078"/>
                        <a:pt x="1116078" y="0"/>
                        <a:pt x="2492829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tx2">
                        <a:lumMod val="50000"/>
                        <a:lumOff val="50000"/>
                      </a:schemeClr>
                    </a:gs>
                    <a:gs pos="75000">
                      <a:srgbClr val="122639"/>
                    </a:gs>
                    <a:gs pos="100000">
                      <a:schemeClr val="tx1">
                        <a:lumMod val="95000"/>
                        <a:lumOff val="5000"/>
                      </a:schemeClr>
                    </a:gs>
                    <a:gs pos="44000">
                      <a:schemeClr val="tx2">
                        <a:lumMod val="90000"/>
                        <a:lumOff val="10000"/>
                      </a:schemeClr>
                    </a:gs>
                  </a:gsLst>
                  <a:lin ang="12600000" scaled="0"/>
                </a:gra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ru-RU" dirty="0"/>
                </a:p>
              </p:txBody>
            </p:sp>
            <p:grpSp>
              <p:nvGrpSpPr>
                <p:cNvPr id="57" name="Группа 56">
                  <a:extLst>
                    <a:ext uri="{FF2B5EF4-FFF2-40B4-BE49-F238E27FC236}">
                      <a16:creationId xmlns:a16="http://schemas.microsoft.com/office/drawing/2014/main" id="{70425E43-EDB3-7272-99BF-85755CD3C24B}"/>
                    </a:ext>
                  </a:extLst>
                </p:cNvPr>
                <p:cNvGrpSpPr/>
                <p:nvPr/>
              </p:nvGrpSpPr>
              <p:grpSpPr>
                <a:xfrm>
                  <a:off x="3084486" y="2719153"/>
                  <a:ext cx="971680" cy="316024"/>
                  <a:chOff x="4387850" y="3027845"/>
                  <a:chExt cx="971680" cy="316024"/>
                </a:xfrm>
              </p:grpSpPr>
              <p:cxnSp>
                <p:nvCxnSpPr>
                  <p:cNvPr id="61" name="Прямая соединительная линия 60">
                    <a:extLst>
                      <a:ext uri="{FF2B5EF4-FFF2-40B4-BE49-F238E27FC236}">
                        <a16:creationId xmlns:a16="http://schemas.microsoft.com/office/drawing/2014/main" id="{10F24095-2639-DB0A-34E5-317D00664F6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387850" y="3027845"/>
                    <a:ext cx="481039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Прямая соединительная линия 61">
                    <a:extLst>
                      <a:ext uri="{FF2B5EF4-FFF2-40B4-BE49-F238E27FC236}">
                        <a16:creationId xmlns:a16="http://schemas.microsoft.com/office/drawing/2014/main" id="{DDAF6E12-78E7-E47E-E4AF-8AD78DF2A06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4868889" y="3027845"/>
                    <a:ext cx="490641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8" name="Группа 57">
                  <a:extLst>
                    <a:ext uri="{FF2B5EF4-FFF2-40B4-BE49-F238E27FC236}">
                      <a16:creationId xmlns:a16="http://schemas.microsoft.com/office/drawing/2014/main" id="{DCD6676E-BE6A-33B1-2F31-32D2329B216F}"/>
                    </a:ext>
                  </a:extLst>
                </p:cNvPr>
                <p:cNvGrpSpPr/>
                <p:nvPr/>
              </p:nvGrpSpPr>
              <p:grpSpPr>
                <a:xfrm rot="10800000">
                  <a:off x="152400" y="3035177"/>
                  <a:ext cx="971680" cy="316024"/>
                  <a:chOff x="4387850" y="3027845"/>
                  <a:chExt cx="971680" cy="316024"/>
                </a:xfrm>
              </p:grpSpPr>
              <p:cxnSp>
                <p:nvCxnSpPr>
                  <p:cNvPr id="59" name="Прямая соединительная линия 58">
                    <a:extLst>
                      <a:ext uri="{FF2B5EF4-FFF2-40B4-BE49-F238E27FC236}">
                        <a16:creationId xmlns:a16="http://schemas.microsoft.com/office/drawing/2014/main" id="{547ADF5E-09E3-2D46-4FFF-309AB444917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387850" y="3027845"/>
                    <a:ext cx="481039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0" name="Прямая соединительная линия 59">
                    <a:extLst>
                      <a:ext uri="{FF2B5EF4-FFF2-40B4-BE49-F238E27FC236}">
                        <a16:creationId xmlns:a16="http://schemas.microsoft.com/office/drawing/2014/main" id="{291208F5-0C14-E469-E677-4A51F174426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4868889" y="3027845"/>
                    <a:ext cx="490641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64F7D342-92D8-AF36-47F3-B417EB77A1BA}"/>
                  </a:ext>
                </a:extLst>
              </p:cNvPr>
              <p:cNvSpPr txBox="1"/>
              <p:nvPr/>
            </p:nvSpPr>
            <p:spPr>
              <a:xfrm>
                <a:off x="5013346" y="1623950"/>
                <a:ext cx="3903766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Шаг 2</a:t>
                </a:r>
              </a:p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Корреляционный </a:t>
                </a:r>
              </a:p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анализ</a:t>
                </a:r>
              </a:p>
            </p:txBody>
          </p:sp>
        </p:grp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7C894E1A-BDCA-E9BD-4658-615212DBF98F}"/>
                </a:ext>
              </a:extLst>
            </p:cNvPr>
            <p:cNvSpPr txBox="1"/>
            <p:nvPr/>
          </p:nvSpPr>
          <p:spPr>
            <a:xfrm rot="10800000">
              <a:off x="5028036" y="-1148940"/>
              <a:ext cx="3903766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ru-RU" sz="16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Шаг 5. Разложение на </a:t>
              </a:r>
            </a:p>
            <a:p>
              <a:pPr algn="ctr"/>
              <a:r>
                <a:rPr lang="ru-RU" sz="16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компоненты</a:t>
              </a:r>
            </a:p>
            <a:p>
              <a:pPr algn="ctr"/>
              <a:r>
                <a:rPr lang="ru-RU" sz="16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(декомпозиция)</a:t>
              </a:r>
            </a:p>
          </p:txBody>
        </p:sp>
      </p:grpSp>
      <p:grpSp>
        <p:nvGrpSpPr>
          <p:cNvPr id="86" name="Группа 85">
            <a:extLst>
              <a:ext uri="{FF2B5EF4-FFF2-40B4-BE49-F238E27FC236}">
                <a16:creationId xmlns:a16="http://schemas.microsoft.com/office/drawing/2014/main" id="{FED42F7D-80EF-35C7-9557-2B6F53CCF696}"/>
              </a:ext>
            </a:extLst>
          </p:cNvPr>
          <p:cNvGrpSpPr/>
          <p:nvPr/>
        </p:nvGrpSpPr>
        <p:grpSpPr>
          <a:xfrm>
            <a:off x="1150960" y="-1343198"/>
            <a:ext cx="3903766" cy="3903766"/>
            <a:chOff x="1208423" y="-1343198"/>
            <a:chExt cx="3903766" cy="3903766"/>
          </a:xfrm>
        </p:grpSpPr>
        <p:grpSp>
          <p:nvGrpSpPr>
            <p:cNvPr id="54" name="Группа 53">
              <a:extLst>
                <a:ext uri="{FF2B5EF4-FFF2-40B4-BE49-F238E27FC236}">
                  <a16:creationId xmlns:a16="http://schemas.microsoft.com/office/drawing/2014/main" id="{11454DB1-DF12-2163-AFC6-252194E0EC38}"/>
                </a:ext>
              </a:extLst>
            </p:cNvPr>
            <p:cNvGrpSpPr/>
            <p:nvPr/>
          </p:nvGrpSpPr>
          <p:grpSpPr>
            <a:xfrm>
              <a:off x="1208423" y="-1343198"/>
              <a:ext cx="3903766" cy="3903766"/>
              <a:chOff x="152400" y="1057655"/>
              <a:chExt cx="3903766" cy="3903766"/>
            </a:xfrm>
          </p:grpSpPr>
          <p:sp>
            <p:nvSpPr>
              <p:cNvPr id="9" name="Полилиния: фигура 8">
                <a:extLst>
                  <a:ext uri="{FF2B5EF4-FFF2-40B4-BE49-F238E27FC236}">
                    <a16:creationId xmlns:a16="http://schemas.microsoft.com/office/drawing/2014/main" id="{2D280C92-3CE5-51A2-C260-07C22F7B1FBF}"/>
                  </a:ext>
                </a:extLst>
              </p:cNvPr>
              <p:cNvSpPr/>
              <p:nvPr/>
            </p:nvSpPr>
            <p:spPr>
              <a:xfrm>
                <a:off x="152400" y="1057655"/>
                <a:ext cx="3903766" cy="3903766"/>
              </a:xfrm>
              <a:custGeom>
                <a:avLst/>
                <a:gdLst>
                  <a:gd name="csX0" fmla="*/ 2492829 w 4985658"/>
                  <a:gd name="csY0" fmla="*/ 1240972 h 4985658"/>
                  <a:gd name="csX1" fmla="*/ 1240972 w 4985658"/>
                  <a:gd name="csY1" fmla="*/ 2492829 h 4985658"/>
                  <a:gd name="csX2" fmla="*/ 2492829 w 4985658"/>
                  <a:gd name="csY2" fmla="*/ 3744686 h 4985658"/>
                  <a:gd name="csX3" fmla="*/ 3744686 w 4985658"/>
                  <a:gd name="csY3" fmla="*/ 2492829 h 4985658"/>
                  <a:gd name="csX4" fmla="*/ 2492829 w 4985658"/>
                  <a:gd name="csY4" fmla="*/ 1240972 h 4985658"/>
                  <a:gd name="csX5" fmla="*/ 2492829 w 4985658"/>
                  <a:gd name="csY5" fmla="*/ 0 h 4985658"/>
                  <a:gd name="csX6" fmla="*/ 4985658 w 4985658"/>
                  <a:gd name="csY6" fmla="*/ 2492829 h 4985658"/>
                  <a:gd name="csX7" fmla="*/ 2492829 w 4985658"/>
                  <a:gd name="csY7" fmla="*/ 4985658 h 4985658"/>
                  <a:gd name="csX8" fmla="*/ 0 w 4985658"/>
                  <a:gd name="csY8" fmla="*/ 2492829 h 4985658"/>
                  <a:gd name="csX9" fmla="*/ 2492829 w 4985658"/>
                  <a:gd name="csY9" fmla="*/ 0 h 498565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4985658" h="4985658">
                    <a:moveTo>
                      <a:pt x="2492829" y="1240972"/>
                    </a:moveTo>
                    <a:cubicBezTo>
                      <a:pt x="1801447" y="1240972"/>
                      <a:pt x="1240972" y="1801447"/>
                      <a:pt x="1240972" y="2492829"/>
                    </a:cubicBezTo>
                    <a:cubicBezTo>
                      <a:pt x="1240972" y="3184211"/>
                      <a:pt x="1801447" y="3744686"/>
                      <a:pt x="2492829" y="3744686"/>
                    </a:cubicBezTo>
                    <a:cubicBezTo>
                      <a:pt x="3184211" y="3744686"/>
                      <a:pt x="3744686" y="3184211"/>
                      <a:pt x="3744686" y="2492829"/>
                    </a:cubicBezTo>
                    <a:cubicBezTo>
                      <a:pt x="3744686" y="1801447"/>
                      <a:pt x="3184211" y="1240972"/>
                      <a:pt x="2492829" y="1240972"/>
                    </a:cubicBezTo>
                    <a:close/>
                    <a:moveTo>
                      <a:pt x="2492829" y="0"/>
                    </a:moveTo>
                    <a:cubicBezTo>
                      <a:pt x="3869580" y="0"/>
                      <a:pt x="4985658" y="1116078"/>
                      <a:pt x="4985658" y="2492829"/>
                    </a:cubicBezTo>
                    <a:cubicBezTo>
                      <a:pt x="4985658" y="3869580"/>
                      <a:pt x="3869580" y="4985658"/>
                      <a:pt x="2492829" y="4985658"/>
                    </a:cubicBezTo>
                    <a:cubicBezTo>
                      <a:pt x="1116078" y="4985658"/>
                      <a:pt x="0" y="3869580"/>
                      <a:pt x="0" y="2492829"/>
                    </a:cubicBezTo>
                    <a:cubicBezTo>
                      <a:pt x="0" y="1116078"/>
                      <a:pt x="1116078" y="0"/>
                      <a:pt x="2492829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tx2">
                      <a:lumMod val="50000"/>
                      <a:lumOff val="50000"/>
                    </a:schemeClr>
                  </a:gs>
                  <a:gs pos="75000">
                    <a:srgbClr val="122639"/>
                  </a:gs>
                  <a:gs pos="100000">
                    <a:schemeClr val="tx1">
                      <a:lumMod val="95000"/>
                      <a:lumOff val="5000"/>
                    </a:schemeClr>
                  </a:gs>
                  <a:gs pos="44000">
                    <a:schemeClr val="tx2">
                      <a:lumMod val="90000"/>
                      <a:lumOff val="10000"/>
                    </a:schemeClr>
                  </a:gs>
                </a:gsLst>
                <a:lin ang="12600000" scaled="0"/>
              </a:gra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ru-RU" dirty="0"/>
              </a:p>
            </p:txBody>
          </p:sp>
          <p:grpSp>
            <p:nvGrpSpPr>
              <p:cNvPr id="50" name="Группа 49">
                <a:extLst>
                  <a:ext uri="{FF2B5EF4-FFF2-40B4-BE49-F238E27FC236}">
                    <a16:creationId xmlns:a16="http://schemas.microsoft.com/office/drawing/2014/main" id="{2FD7B99F-36C5-1B8C-0C50-AE6820CC7706}"/>
                  </a:ext>
                </a:extLst>
              </p:cNvPr>
              <p:cNvGrpSpPr/>
              <p:nvPr/>
            </p:nvGrpSpPr>
            <p:grpSpPr>
              <a:xfrm>
                <a:off x="3084486" y="2719153"/>
                <a:ext cx="971680" cy="316024"/>
                <a:chOff x="4387850" y="3027845"/>
                <a:chExt cx="971680" cy="316024"/>
              </a:xfrm>
            </p:grpSpPr>
            <p:cxnSp>
              <p:nvCxnSpPr>
                <p:cNvPr id="15" name="Прямая соединительная линия 14">
                  <a:extLst>
                    <a:ext uri="{FF2B5EF4-FFF2-40B4-BE49-F238E27FC236}">
                      <a16:creationId xmlns:a16="http://schemas.microsoft.com/office/drawing/2014/main" id="{C68D736A-14E1-CCED-3970-0E6B7353616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387850" y="3027845"/>
                  <a:ext cx="481039" cy="316024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Прямая соединительная линия 16">
                  <a:extLst>
                    <a:ext uri="{FF2B5EF4-FFF2-40B4-BE49-F238E27FC236}">
                      <a16:creationId xmlns:a16="http://schemas.microsoft.com/office/drawing/2014/main" id="{39AAAD8C-AF02-23EB-606F-276D90CDBD7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868889" y="3027845"/>
                  <a:ext cx="490641" cy="316024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1" name="Группа 50">
                <a:extLst>
                  <a:ext uri="{FF2B5EF4-FFF2-40B4-BE49-F238E27FC236}">
                    <a16:creationId xmlns:a16="http://schemas.microsoft.com/office/drawing/2014/main" id="{27B5FE17-953F-B72E-3789-BA24C05BF352}"/>
                  </a:ext>
                </a:extLst>
              </p:cNvPr>
              <p:cNvGrpSpPr/>
              <p:nvPr/>
            </p:nvGrpSpPr>
            <p:grpSpPr>
              <a:xfrm rot="10800000">
                <a:off x="152400" y="3035177"/>
                <a:ext cx="971680" cy="316024"/>
                <a:chOff x="4387850" y="3027845"/>
                <a:chExt cx="971680" cy="316024"/>
              </a:xfrm>
            </p:grpSpPr>
            <p:cxnSp>
              <p:nvCxnSpPr>
                <p:cNvPr id="52" name="Прямая соединительная линия 51">
                  <a:extLst>
                    <a:ext uri="{FF2B5EF4-FFF2-40B4-BE49-F238E27FC236}">
                      <a16:creationId xmlns:a16="http://schemas.microsoft.com/office/drawing/2014/main" id="{82216D32-DB5C-6217-B1F2-DCBDC9F9E4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387850" y="3027845"/>
                  <a:ext cx="481039" cy="316024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Прямая соединительная линия 52">
                  <a:extLst>
                    <a:ext uri="{FF2B5EF4-FFF2-40B4-BE49-F238E27FC236}">
                      <a16:creationId xmlns:a16="http://schemas.microsoft.com/office/drawing/2014/main" id="{6D05B761-7C28-C9AB-0A82-53FD649C78D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868889" y="3027845"/>
                  <a:ext cx="490641" cy="316024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85" name="Группа 84">
              <a:extLst>
                <a:ext uri="{FF2B5EF4-FFF2-40B4-BE49-F238E27FC236}">
                  <a16:creationId xmlns:a16="http://schemas.microsoft.com/office/drawing/2014/main" id="{D26C1D25-10ED-FE08-1280-33C2FE3AE1A3}"/>
                </a:ext>
              </a:extLst>
            </p:cNvPr>
            <p:cNvGrpSpPr/>
            <p:nvPr/>
          </p:nvGrpSpPr>
          <p:grpSpPr>
            <a:xfrm rot="10800000">
              <a:off x="1757182" y="-1002650"/>
              <a:ext cx="2806248" cy="3224868"/>
              <a:chOff x="1757182" y="-971872"/>
              <a:chExt cx="2806248" cy="3224868"/>
            </a:xfrm>
          </p:grpSpPr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BC2F8C50-45E0-689E-CD54-01C648EADDAA}"/>
                  </a:ext>
                </a:extLst>
              </p:cNvPr>
              <p:cNvSpPr txBox="1"/>
              <p:nvPr/>
            </p:nvSpPr>
            <p:spPr>
              <a:xfrm rot="10800000">
                <a:off x="1889778" y="-971872"/>
                <a:ext cx="2541057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Шаг 1</a:t>
                </a:r>
              </a:p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Качество данных</a:t>
                </a:r>
              </a:p>
            </p:txBody>
          </p:sp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D779929D-389E-7DE7-0EEE-BA46052624C3}"/>
                  </a:ext>
                </a:extLst>
              </p:cNvPr>
              <p:cNvSpPr txBox="1"/>
              <p:nvPr/>
            </p:nvSpPr>
            <p:spPr>
              <a:xfrm>
                <a:off x="1757182" y="1668221"/>
                <a:ext cx="2806248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Шаг 4. Распределения</a:t>
                </a:r>
              </a:p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измерений</a:t>
                </a:r>
              </a:p>
            </p:txBody>
          </p:sp>
        </p:grpSp>
      </p:grp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6FCE2B0B-7BA3-DB19-6837-3171056B91D4}"/>
              </a:ext>
            </a:extLst>
          </p:cNvPr>
          <p:cNvSpPr/>
          <p:nvPr/>
        </p:nvSpPr>
        <p:spPr>
          <a:xfrm>
            <a:off x="-246746" y="-220648"/>
            <a:ext cx="12685487" cy="1312847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75000"/>
                  <a:lumOff val="25000"/>
                </a:schemeClr>
              </a:gs>
              <a:gs pos="75000">
                <a:srgbClr val="122639"/>
              </a:gs>
              <a:gs pos="100000">
                <a:schemeClr val="tx1">
                  <a:lumMod val="95000"/>
                  <a:lumOff val="5000"/>
                </a:schemeClr>
              </a:gs>
              <a:gs pos="44000">
                <a:schemeClr val="tx2">
                  <a:lumMod val="90000"/>
                  <a:lumOff val="10000"/>
                </a:schemeClr>
              </a:gs>
            </a:gsLst>
            <a:lin ang="12600000" scaled="0"/>
            <a:tileRect/>
          </a:gra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E916976-B477-F769-2B48-5C4DF43EF47F}"/>
              </a:ext>
            </a:extLst>
          </p:cNvPr>
          <p:cNvSpPr txBox="1"/>
          <p:nvPr/>
        </p:nvSpPr>
        <p:spPr>
          <a:xfrm>
            <a:off x="651247" y="232100"/>
            <a:ext cx="10889495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Временные ряды: анализ</a:t>
            </a:r>
            <a:endParaRPr lang="ru-RU" sz="2000" dirty="0">
              <a:solidFill>
                <a:schemeClr val="bg1"/>
              </a:solidFill>
              <a:latin typeface="Arial Black" panose="020B0A040201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Дата 6">
            <a:extLst>
              <a:ext uri="{FF2B5EF4-FFF2-40B4-BE49-F238E27FC236}">
                <a16:creationId xmlns:a16="http://schemas.microsoft.com/office/drawing/2014/main" id="{0F084CF0-529D-6B0E-BA39-210D61C1148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280316" y="6284083"/>
            <a:ext cx="892634" cy="463875"/>
          </a:xfrm>
        </p:spPr>
        <p:txBody>
          <a:bodyPr/>
          <a:lstStyle/>
          <a:p>
            <a:pPr algn="ctr">
              <a:defRPr/>
            </a:pPr>
            <a:fld id="{D063FBCF-7873-4A49-B36C-1F912BB77786}" type="slidenum">
              <a:rPr lang="ru-RU" altLang="ru-RU" sz="2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ctr">
                <a:defRPr/>
              </a:pPr>
              <a:t>12</a:t>
            </a:fld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/13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2C673C4A-27B0-4EF5-8BAF-5F7D79FEA62C}"/>
              </a:ext>
            </a:extLst>
          </p:cNvPr>
          <p:cNvSpPr/>
          <p:nvPr/>
        </p:nvSpPr>
        <p:spPr>
          <a:xfrm>
            <a:off x="-476262" y="937951"/>
            <a:ext cx="13144512" cy="5201601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Дата 6">
            <a:extLst>
              <a:ext uri="{FF2B5EF4-FFF2-40B4-BE49-F238E27FC236}">
                <a16:creationId xmlns:a16="http://schemas.microsoft.com/office/drawing/2014/main" id="{DEA20186-E3A3-6FC8-6BB2-6C12F373BAC5}"/>
              </a:ext>
            </a:extLst>
          </p:cNvPr>
          <p:cNvSpPr txBox="1">
            <a:spLocks/>
          </p:cNvSpPr>
          <p:nvPr/>
        </p:nvSpPr>
        <p:spPr>
          <a:xfrm>
            <a:off x="38100" y="6284084"/>
            <a:ext cx="7785187" cy="463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Курсовой проект «Поиск и первичный анализ наборов данных»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cxnSp>
        <p:nvCxnSpPr>
          <p:cNvPr id="79" name="Прямая соединительная линия 78">
            <a:extLst>
              <a:ext uri="{FF2B5EF4-FFF2-40B4-BE49-F238E27FC236}">
                <a16:creationId xmlns:a16="http://schemas.microsoft.com/office/drawing/2014/main" id="{2DCDDC54-12FF-5379-5528-2AA4B0104F9A}"/>
              </a:ext>
            </a:extLst>
          </p:cNvPr>
          <p:cNvCxnSpPr>
            <a:cxnSpLocks/>
          </p:cNvCxnSpPr>
          <p:nvPr/>
        </p:nvCxnSpPr>
        <p:spPr>
          <a:xfrm flipH="1">
            <a:off x="-495312" y="2705100"/>
            <a:ext cx="13163562" cy="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3" name="Группа 122">
            <a:extLst>
              <a:ext uri="{FF2B5EF4-FFF2-40B4-BE49-F238E27FC236}">
                <a16:creationId xmlns:a16="http://schemas.microsoft.com/office/drawing/2014/main" id="{B46E56F1-9B2F-4417-FA9E-A24E9C7E8066}"/>
              </a:ext>
            </a:extLst>
          </p:cNvPr>
          <p:cNvGrpSpPr/>
          <p:nvPr/>
        </p:nvGrpSpPr>
        <p:grpSpPr>
          <a:xfrm>
            <a:off x="-495312" y="2705100"/>
            <a:ext cx="13163562" cy="3607987"/>
            <a:chOff x="-495312" y="2705100"/>
            <a:chExt cx="13163562" cy="3607987"/>
          </a:xfrm>
        </p:grpSpPr>
        <p:cxnSp>
          <p:nvCxnSpPr>
            <p:cNvPr id="72" name="Прямая соединительная линия 71">
              <a:extLst>
                <a:ext uri="{FF2B5EF4-FFF2-40B4-BE49-F238E27FC236}">
                  <a16:creationId xmlns:a16="http://schemas.microsoft.com/office/drawing/2014/main" id="{5BDE3124-BDBD-8E22-77D6-B2BC5F5D7EB3}"/>
                </a:ext>
              </a:extLst>
            </p:cNvPr>
            <p:cNvCxnSpPr>
              <a:cxnSpLocks/>
            </p:cNvCxnSpPr>
            <p:nvPr/>
          </p:nvCxnSpPr>
          <p:spPr>
            <a:xfrm>
              <a:off x="1226176" y="2705100"/>
              <a:ext cx="0" cy="3434452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Прямая соединительная линия 73">
              <a:extLst>
                <a:ext uri="{FF2B5EF4-FFF2-40B4-BE49-F238E27FC236}">
                  <a16:creationId xmlns:a16="http://schemas.microsoft.com/office/drawing/2014/main" id="{43013E70-A863-2CA3-8B5E-D69E48A1683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495312" y="4670426"/>
              <a:ext cx="13163562" cy="0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957E4A81-3673-9F3D-3AE1-4E3BE77EDE14}"/>
                </a:ext>
              </a:extLst>
            </p:cNvPr>
            <p:cNvSpPr txBox="1"/>
            <p:nvPr/>
          </p:nvSpPr>
          <p:spPr>
            <a:xfrm rot="3847950">
              <a:off x="-121036" y="3625376"/>
              <a:ext cx="15975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Результаты</a:t>
              </a: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0F586B32-A535-D7DB-707A-8C547CF65ADF}"/>
                </a:ext>
              </a:extLst>
            </p:cNvPr>
            <p:cNvSpPr txBox="1"/>
            <p:nvPr/>
          </p:nvSpPr>
          <p:spPr>
            <a:xfrm rot="3847950">
              <a:off x="-49012" y="5368638"/>
              <a:ext cx="151956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Действия</a:t>
              </a:r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AA654214-E329-79A1-3FD6-891BE6EC64C4}"/>
                </a:ext>
              </a:extLst>
            </p:cNvPr>
            <p:cNvSpPr txBox="1"/>
            <p:nvPr/>
          </p:nvSpPr>
          <p:spPr>
            <a:xfrm>
              <a:off x="1396280" y="2738923"/>
              <a:ext cx="3167803" cy="172015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Пропуски отсутствуют</a:t>
              </a:r>
            </a:p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Выбросы есть в </a:t>
              </a:r>
              <a:r>
                <a:rPr lang="en-US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Accelerometer1RMS </a:t>
              </a:r>
              <a:r>
                <a:rPr lang="ru-RU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(</a:t>
              </a:r>
              <a:r>
                <a:rPr lang="en-US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2.67%</a:t>
              </a:r>
              <a:r>
                <a:rPr lang="ru-RU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) и</a:t>
              </a:r>
              <a:r>
                <a:rPr lang="en-US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Accelerometer2RMS</a:t>
              </a:r>
              <a:r>
                <a:rPr lang="ru-RU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(</a:t>
              </a:r>
              <a:r>
                <a:rPr lang="en-US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2.62%</a:t>
              </a:r>
              <a:r>
                <a:rPr lang="ru-RU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</a:p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Выбросы отсутствуют в </a:t>
              </a:r>
              <a:r>
                <a:rPr lang="en-US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Temperature, Thermocouple, Volume Flow Rate</a:t>
              </a:r>
              <a:endParaRPr lang="ru-RU" sz="1200" dirty="0">
                <a:solidFill>
                  <a:srgbClr val="F9FAFB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В остальных</a:t>
              </a:r>
              <a:r>
                <a:rPr lang="en-CA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ru-RU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каналах (</a:t>
              </a:r>
              <a:r>
                <a:rPr lang="en-CA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&lt; </a:t>
              </a:r>
              <a:r>
                <a:rPr lang="ru-RU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0.2%)</a:t>
              </a:r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0D96D630-07DC-3611-4BF8-A610A6B38B58}"/>
                </a:ext>
              </a:extLst>
            </p:cNvPr>
            <p:cNvSpPr txBox="1"/>
            <p:nvPr/>
          </p:nvSpPr>
          <p:spPr>
            <a:xfrm>
              <a:off x="4564085" y="2743199"/>
              <a:ext cx="4278218" cy="116615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9 пар с </a:t>
              </a:r>
              <a:r>
                <a:rPr lang="en-US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r &gt; 0.7</a:t>
              </a:r>
            </a:p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en-US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Accelerometer1RMS </a:t>
              </a:r>
              <a:r>
                <a:rPr lang="ru-RU" sz="1200" b="1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– </a:t>
              </a:r>
              <a:r>
                <a:rPr lang="en-US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Accelerometer2RMS: 0.996</a:t>
              </a:r>
            </a:p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en-US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Temperature </a:t>
              </a:r>
              <a:r>
                <a:rPr lang="ru-RU" sz="1200" b="1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–</a:t>
              </a:r>
              <a:r>
                <a:rPr lang="en-US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 Volume Flow </a:t>
              </a:r>
              <a:r>
                <a:rPr lang="en-US" sz="1200" b="0" i="0" dirty="0" err="1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RateRMS</a:t>
              </a:r>
              <a:r>
                <a:rPr lang="en-US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: 0.902</a:t>
              </a:r>
            </a:p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Давление не зависит от других (</a:t>
              </a:r>
              <a:r>
                <a:rPr lang="en-US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r &lt; 0.11)</a:t>
              </a:r>
              <a:endParaRPr lang="ru-RU" sz="1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3F847727-D20D-B338-E413-1429E4B865E1}"/>
                </a:ext>
              </a:extLst>
            </p:cNvPr>
            <p:cNvSpPr txBox="1"/>
            <p:nvPr/>
          </p:nvSpPr>
          <p:spPr>
            <a:xfrm>
              <a:off x="8586491" y="2743199"/>
              <a:ext cx="3442447" cy="144315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285750">
                <a:lnSpc>
                  <a:spcPct val="150000"/>
                </a:lnSpc>
              </a:pPr>
              <a:r>
                <a:rPr lang="ru-RU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Значительное различие в масштабах</a:t>
              </a:r>
            </a:p>
            <a:p>
              <a:pPr marL="285750">
                <a:lnSpc>
                  <a:spcPct val="150000"/>
                </a:lnSpc>
              </a:pPr>
              <a:r>
                <a:rPr lang="ru-RU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измерений: от 0.026 (Accelerometer1RMS) до 254.74 (</a:t>
              </a:r>
              <a:r>
                <a:rPr lang="ru-RU" sz="1200" b="0" i="0" dirty="0" err="1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Voltage</a:t>
              </a:r>
              <a:r>
                <a:rPr lang="ru-RU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</a:p>
            <a:p>
              <a:pPr marL="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ru-RU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Различие в 352 раза</a:t>
              </a:r>
            </a:p>
            <a:p>
              <a:pPr marL="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ru-RU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Разные единицы: g, А, бар, °C, В, л/мин</a:t>
              </a:r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8EA98C7C-4FE2-8546-0C93-E3AB3CB421AF}"/>
                </a:ext>
              </a:extLst>
            </p:cNvPr>
            <p:cNvSpPr txBox="1"/>
            <p:nvPr/>
          </p:nvSpPr>
          <p:spPr>
            <a:xfrm>
              <a:off x="1406586" y="4788442"/>
              <a:ext cx="3088211" cy="8891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Выбросы сохранить </a:t>
              </a:r>
              <a:r>
                <a:rPr lang="ru-RU" sz="1200" b="1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–</a:t>
              </a:r>
              <a:r>
                <a:rPr lang="ru-RU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 это пиковые вибрации при включении, </a:t>
              </a:r>
              <a:r>
                <a:rPr lang="ru-RU" sz="12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нормальное поведение системы</a:t>
              </a: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DB0B4012-EF05-B3F4-EFAF-C00FFF45A1BC}"/>
                </a:ext>
              </a:extLst>
            </p:cNvPr>
            <p:cNvSpPr txBox="1"/>
            <p:nvPr/>
          </p:nvSpPr>
          <p:spPr>
            <a:xfrm>
              <a:off x="4564085" y="4848782"/>
              <a:ext cx="4168573" cy="8891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Сократить дублирующие каналы (</a:t>
              </a:r>
              <a:r>
                <a:rPr lang="en-CA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r &gt; 0.9</a:t>
              </a:r>
              <a:r>
                <a:rPr lang="ru-RU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Давление сохранить как</a:t>
              </a:r>
              <a:r>
                <a:rPr lang="en-CA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ru-RU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уникальный</a:t>
              </a:r>
              <a:endParaRPr lang="en-CA" sz="1200" dirty="0">
                <a:solidFill>
                  <a:srgbClr val="F9FAFB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>
                <a:lnSpc>
                  <a:spcPct val="150000"/>
                </a:lnSpc>
              </a:pPr>
              <a:r>
                <a:rPr lang="ru-RU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признак</a:t>
              </a: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DC46B541-D40A-4934-0E11-47792DB510D1}"/>
                </a:ext>
              </a:extLst>
            </p:cNvPr>
            <p:cNvSpPr txBox="1"/>
            <p:nvPr/>
          </p:nvSpPr>
          <p:spPr>
            <a:xfrm>
              <a:off x="8876295" y="4789078"/>
              <a:ext cx="2989310" cy="8891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2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Применить </a:t>
              </a:r>
              <a:r>
                <a:rPr lang="ru-RU" sz="1200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StandardScaler</a:t>
              </a:r>
              <a:r>
                <a:rPr lang="ru-RU" sz="12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, для приведения всех числовых признаков к единому масштабу</a:t>
              </a:r>
            </a:p>
          </p:txBody>
        </p:sp>
      </p:grpSp>
      <p:grpSp>
        <p:nvGrpSpPr>
          <p:cNvPr id="122" name="Группа 121">
            <a:extLst>
              <a:ext uri="{FF2B5EF4-FFF2-40B4-BE49-F238E27FC236}">
                <a16:creationId xmlns:a16="http://schemas.microsoft.com/office/drawing/2014/main" id="{901EDEE5-D535-85DC-37A7-504C5CC31237}"/>
              </a:ext>
            </a:extLst>
          </p:cNvPr>
          <p:cNvGrpSpPr/>
          <p:nvPr/>
        </p:nvGrpSpPr>
        <p:grpSpPr>
          <a:xfrm>
            <a:off x="-13320841" y="2705100"/>
            <a:ext cx="13163562" cy="3607987"/>
            <a:chOff x="12275671" y="2705100"/>
            <a:chExt cx="13163562" cy="3607987"/>
          </a:xfrm>
        </p:grpSpPr>
        <p:cxnSp>
          <p:nvCxnSpPr>
            <p:cNvPr id="111" name="Прямая соединительная линия 110">
              <a:extLst>
                <a:ext uri="{FF2B5EF4-FFF2-40B4-BE49-F238E27FC236}">
                  <a16:creationId xmlns:a16="http://schemas.microsoft.com/office/drawing/2014/main" id="{CEB52586-BF97-AB27-D575-3FC64580DE4C}"/>
                </a:ext>
              </a:extLst>
            </p:cNvPr>
            <p:cNvCxnSpPr>
              <a:cxnSpLocks/>
            </p:cNvCxnSpPr>
            <p:nvPr/>
          </p:nvCxnSpPr>
          <p:spPr>
            <a:xfrm>
              <a:off x="13997159" y="2705100"/>
              <a:ext cx="0" cy="3434452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21" name="Группа 120">
              <a:extLst>
                <a:ext uri="{FF2B5EF4-FFF2-40B4-BE49-F238E27FC236}">
                  <a16:creationId xmlns:a16="http://schemas.microsoft.com/office/drawing/2014/main" id="{5F024643-A199-A1DA-8F8A-BF653A16F88A}"/>
                </a:ext>
              </a:extLst>
            </p:cNvPr>
            <p:cNvGrpSpPr/>
            <p:nvPr/>
          </p:nvGrpSpPr>
          <p:grpSpPr>
            <a:xfrm>
              <a:off x="12275671" y="2705100"/>
              <a:ext cx="13163562" cy="3607987"/>
              <a:chOff x="12275671" y="2705100"/>
              <a:chExt cx="13163562" cy="3607987"/>
            </a:xfrm>
          </p:grpSpPr>
          <p:cxnSp>
            <p:nvCxnSpPr>
              <p:cNvPr id="112" name="Прямая соединительная линия 111">
                <a:extLst>
                  <a:ext uri="{FF2B5EF4-FFF2-40B4-BE49-F238E27FC236}">
                    <a16:creationId xmlns:a16="http://schemas.microsoft.com/office/drawing/2014/main" id="{016E75B8-3B9E-9B74-E737-8C2DFDBD121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2275671" y="4670426"/>
                <a:ext cx="13163562" cy="0"/>
              </a:xfrm>
              <a:prstGeom prst="line">
                <a:avLst/>
              </a:prstGeom>
              <a:ln w="25400"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3" name="TextBox 112">
                <a:extLst>
                  <a:ext uri="{FF2B5EF4-FFF2-40B4-BE49-F238E27FC236}">
                    <a16:creationId xmlns:a16="http://schemas.microsoft.com/office/drawing/2014/main" id="{551158FA-C814-F515-1D48-0D7AB4020221}"/>
                  </a:ext>
                </a:extLst>
              </p:cNvPr>
              <p:cNvSpPr txBox="1"/>
              <p:nvPr/>
            </p:nvSpPr>
            <p:spPr>
              <a:xfrm rot="3847950">
                <a:off x="12649947" y="3625376"/>
                <a:ext cx="15975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Результаты</a:t>
                </a:r>
              </a:p>
            </p:txBody>
          </p:sp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81F6BE48-D5D0-7F36-AEB2-D7E9552EDD32}"/>
                  </a:ext>
                </a:extLst>
              </p:cNvPr>
              <p:cNvSpPr txBox="1"/>
              <p:nvPr/>
            </p:nvSpPr>
            <p:spPr>
              <a:xfrm rot="3847950">
                <a:off x="12721971" y="5368638"/>
                <a:ext cx="151956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Действия</a:t>
                </a:r>
              </a:p>
            </p:txBody>
          </p:sp>
          <p:sp>
            <p:nvSpPr>
              <p:cNvPr id="115" name="TextBox 114">
                <a:extLst>
                  <a:ext uri="{FF2B5EF4-FFF2-40B4-BE49-F238E27FC236}">
                    <a16:creationId xmlns:a16="http://schemas.microsoft.com/office/drawing/2014/main" id="{60F6D860-9C25-900E-3512-58B288ED6877}"/>
                  </a:ext>
                </a:extLst>
              </p:cNvPr>
              <p:cNvSpPr txBox="1"/>
              <p:nvPr/>
            </p:nvSpPr>
            <p:spPr>
              <a:xfrm>
                <a:off x="14074343" y="2743199"/>
                <a:ext cx="3863630" cy="17201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en-US" sz="12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Accelerometer</a:t>
                </a:r>
                <a:r>
                  <a:rPr lang="ru-RU" sz="12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1</a:t>
                </a:r>
                <a:r>
                  <a:rPr lang="en-US" sz="12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, Pressure</a:t>
                </a:r>
                <a:r>
                  <a:rPr lang="ru-RU" sz="12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:r>
                  <a:rPr lang="en-US" sz="12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Voltage </a:t>
                </a:r>
                <a:r>
                  <a:rPr lang="ru-RU" sz="1200" b="1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–</a:t>
                </a:r>
                <a:r>
                  <a:rPr lang="en-US" sz="12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ru-RU" sz="12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мультимодальное распределение</a:t>
                </a:r>
              </a:p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en-US" sz="12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Accelerometer</a:t>
                </a:r>
                <a:r>
                  <a:rPr lang="ru-RU" sz="12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2, </a:t>
                </a:r>
                <a:r>
                  <a:rPr lang="en-US" sz="12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Current, Volume Flow</a:t>
                </a:r>
                <a:r>
                  <a:rPr lang="ru-RU" sz="12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– ассиметричное распределение</a:t>
                </a:r>
              </a:p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en-US" sz="12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Temperature</a:t>
                </a:r>
                <a:r>
                  <a:rPr lang="ru-RU" sz="12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:r>
                  <a:rPr lang="en-US" sz="12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Thermocouple</a:t>
                </a:r>
                <a:r>
                  <a:rPr lang="ru-RU" sz="12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ru-RU" sz="1200" b="1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–</a:t>
                </a:r>
                <a:r>
                  <a:rPr lang="en-US" sz="12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ru-RU" sz="12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мультимодальное (нагрев/остывание)</a:t>
                </a:r>
              </a:p>
            </p:txBody>
          </p:sp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D42806DB-11F9-9B69-9CF2-4B10BB15F725}"/>
                  </a:ext>
                </a:extLst>
              </p:cNvPr>
              <p:cNvSpPr txBox="1"/>
              <p:nvPr/>
            </p:nvSpPr>
            <p:spPr>
              <a:xfrm>
                <a:off x="18012063" y="2739324"/>
                <a:ext cx="3190587" cy="17201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2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Тренд: падающий (−8.17°C за 6 часов)</a:t>
                </a:r>
              </a:p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2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Сезонность: ~60 сек (циклы насоса), амплитуда низкая</a:t>
                </a:r>
              </a:p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2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Нестационарный ряд (есть тренд и сезонность)</a:t>
                </a:r>
                <a:endParaRPr lang="ru-RU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17" name="TextBox 116">
                <a:extLst>
                  <a:ext uri="{FF2B5EF4-FFF2-40B4-BE49-F238E27FC236}">
                    <a16:creationId xmlns:a16="http://schemas.microsoft.com/office/drawing/2014/main" id="{AC115930-2157-86CA-DEDB-7ADDEE46C444}"/>
                  </a:ext>
                </a:extLst>
              </p:cNvPr>
              <p:cNvSpPr txBox="1"/>
              <p:nvPr/>
            </p:nvSpPr>
            <p:spPr>
              <a:xfrm>
                <a:off x="21647278" y="2705100"/>
                <a:ext cx="3442447" cy="11661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indent="-28440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2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SNR = 21.11 дБ – Отлично</a:t>
                </a:r>
              </a:p>
              <a:p>
                <a:pPr indent="-28440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2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Распределение остатков близко к нормальному</a:t>
                </a:r>
              </a:p>
              <a:p>
                <a:pPr indent="-28440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2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Шум случаен, декомпозиция адекватна</a:t>
                </a:r>
              </a:p>
            </p:txBody>
          </p:sp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0BBE264B-5970-2610-5D2C-38CF4F1FE8A6}"/>
                  </a:ext>
                </a:extLst>
              </p:cNvPr>
              <p:cNvSpPr txBox="1"/>
              <p:nvPr/>
            </p:nvSpPr>
            <p:spPr>
              <a:xfrm>
                <a:off x="14106584" y="4735799"/>
                <a:ext cx="3735376" cy="13450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4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Учитывать асимметрию при выборе модели</a:t>
                </a:r>
              </a:p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4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Использование метрики </a:t>
                </a:r>
                <a:r>
                  <a:rPr lang="en-US" sz="14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MAE</a:t>
                </a:r>
                <a:r>
                  <a:rPr lang="ru-RU" sz="14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(средняя абсолютная ошибка)</a:t>
                </a:r>
              </a:p>
            </p:txBody>
          </p:sp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E668634A-C325-3BBB-8C29-18F77E370AB7}"/>
                  </a:ext>
                </a:extLst>
              </p:cNvPr>
              <p:cNvSpPr txBox="1"/>
              <p:nvPr/>
            </p:nvSpPr>
            <p:spPr>
              <a:xfrm>
                <a:off x="18012063" y="4788442"/>
                <a:ext cx="3263387" cy="8891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2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Для ARIMA – берем разность, чтобы убрать общий спад или рост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2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Для нейросетей – разность не нужна</a:t>
                </a:r>
                <a:endParaRPr lang="ru-RU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38BBE26B-FA38-A199-11BE-CBBAED5B5CEA}"/>
                  </a:ext>
                </a:extLst>
              </p:cNvPr>
              <p:cNvSpPr txBox="1"/>
              <p:nvPr/>
            </p:nvSpPr>
            <p:spPr>
              <a:xfrm>
                <a:off x="21647278" y="4696367"/>
                <a:ext cx="2989310" cy="8891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2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Фильтрация не требуется</a:t>
                </a:r>
              </a:p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2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Данные чистые, модели будут хорошо работать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76153004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CD5DE6-911C-BE21-D90D-7C77DEA07F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2C50AC13-5D24-41C1-9583-65F7706BA842}"/>
              </a:ext>
            </a:extLst>
          </p:cNvPr>
          <p:cNvSpPr/>
          <p:nvPr/>
        </p:nvSpPr>
        <p:spPr>
          <a:xfrm>
            <a:off x="-227696" y="-220648"/>
            <a:ext cx="12685487" cy="7299296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50000"/>
                  <a:lumOff val="50000"/>
                </a:schemeClr>
              </a:gs>
              <a:gs pos="75000">
                <a:srgbClr val="122639"/>
              </a:gs>
              <a:gs pos="100000">
                <a:schemeClr val="tx1">
                  <a:lumMod val="95000"/>
                  <a:lumOff val="5000"/>
                </a:schemeClr>
              </a:gs>
              <a:gs pos="50000">
                <a:schemeClr val="tx2">
                  <a:lumMod val="90000"/>
                  <a:lumOff val="10000"/>
                </a:schemeClr>
              </a:gs>
            </a:gsLst>
            <a:lin ang="12600000" scaled="0"/>
            <a:tileRect/>
          </a:gra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100" name="Группа 99">
            <a:extLst>
              <a:ext uri="{FF2B5EF4-FFF2-40B4-BE49-F238E27FC236}">
                <a16:creationId xmlns:a16="http://schemas.microsoft.com/office/drawing/2014/main" id="{B22443BA-65A1-ECA0-5960-2C327D2208D6}"/>
              </a:ext>
            </a:extLst>
          </p:cNvPr>
          <p:cNvGrpSpPr/>
          <p:nvPr/>
        </p:nvGrpSpPr>
        <p:grpSpPr>
          <a:xfrm rot="10800000">
            <a:off x="8379802" y="-1343198"/>
            <a:ext cx="4125183" cy="3903766"/>
            <a:chOff x="8597992" y="-1343198"/>
            <a:chExt cx="4125183" cy="3903766"/>
          </a:xfrm>
        </p:grpSpPr>
        <p:grpSp>
          <p:nvGrpSpPr>
            <p:cNvPr id="95" name="Группа 94">
              <a:extLst>
                <a:ext uri="{FF2B5EF4-FFF2-40B4-BE49-F238E27FC236}">
                  <a16:creationId xmlns:a16="http://schemas.microsoft.com/office/drawing/2014/main" id="{B8FE75CF-18C9-7DB5-4757-90C59A3EE31C}"/>
                </a:ext>
              </a:extLst>
            </p:cNvPr>
            <p:cNvGrpSpPr/>
            <p:nvPr/>
          </p:nvGrpSpPr>
          <p:grpSpPr>
            <a:xfrm>
              <a:off x="8670670" y="-1343198"/>
              <a:ext cx="3903766" cy="3903766"/>
              <a:chOff x="8746731" y="-1343198"/>
              <a:chExt cx="3903766" cy="3903766"/>
            </a:xfrm>
          </p:grpSpPr>
          <p:grpSp>
            <p:nvGrpSpPr>
              <p:cNvPr id="63" name="Группа 62">
                <a:extLst>
                  <a:ext uri="{FF2B5EF4-FFF2-40B4-BE49-F238E27FC236}">
                    <a16:creationId xmlns:a16="http://schemas.microsoft.com/office/drawing/2014/main" id="{A00694E1-2B10-DC4E-16A2-2BCB9BFF799C}"/>
                  </a:ext>
                </a:extLst>
              </p:cNvPr>
              <p:cNvGrpSpPr/>
              <p:nvPr/>
            </p:nvGrpSpPr>
            <p:grpSpPr>
              <a:xfrm>
                <a:off x="8746731" y="-1343198"/>
                <a:ext cx="3903766" cy="3903766"/>
                <a:chOff x="152400" y="1057655"/>
                <a:chExt cx="3903766" cy="3903766"/>
              </a:xfrm>
            </p:grpSpPr>
            <p:sp>
              <p:nvSpPr>
                <p:cNvPr id="64" name="Полилиния: фигура 63">
                  <a:extLst>
                    <a:ext uri="{FF2B5EF4-FFF2-40B4-BE49-F238E27FC236}">
                      <a16:creationId xmlns:a16="http://schemas.microsoft.com/office/drawing/2014/main" id="{992D1357-4E21-C758-BED2-9EF93E0DDFD2}"/>
                    </a:ext>
                  </a:extLst>
                </p:cNvPr>
                <p:cNvSpPr/>
                <p:nvPr/>
              </p:nvSpPr>
              <p:spPr>
                <a:xfrm>
                  <a:off x="152400" y="1057655"/>
                  <a:ext cx="3903766" cy="3903766"/>
                </a:xfrm>
                <a:custGeom>
                  <a:avLst/>
                  <a:gdLst>
                    <a:gd name="csX0" fmla="*/ 2492829 w 4985658"/>
                    <a:gd name="csY0" fmla="*/ 1240972 h 4985658"/>
                    <a:gd name="csX1" fmla="*/ 1240972 w 4985658"/>
                    <a:gd name="csY1" fmla="*/ 2492829 h 4985658"/>
                    <a:gd name="csX2" fmla="*/ 2492829 w 4985658"/>
                    <a:gd name="csY2" fmla="*/ 3744686 h 4985658"/>
                    <a:gd name="csX3" fmla="*/ 3744686 w 4985658"/>
                    <a:gd name="csY3" fmla="*/ 2492829 h 4985658"/>
                    <a:gd name="csX4" fmla="*/ 2492829 w 4985658"/>
                    <a:gd name="csY4" fmla="*/ 1240972 h 4985658"/>
                    <a:gd name="csX5" fmla="*/ 2492829 w 4985658"/>
                    <a:gd name="csY5" fmla="*/ 0 h 4985658"/>
                    <a:gd name="csX6" fmla="*/ 4985658 w 4985658"/>
                    <a:gd name="csY6" fmla="*/ 2492829 h 4985658"/>
                    <a:gd name="csX7" fmla="*/ 2492829 w 4985658"/>
                    <a:gd name="csY7" fmla="*/ 4985658 h 4985658"/>
                    <a:gd name="csX8" fmla="*/ 0 w 4985658"/>
                    <a:gd name="csY8" fmla="*/ 2492829 h 4985658"/>
                    <a:gd name="csX9" fmla="*/ 2492829 w 4985658"/>
                    <a:gd name="csY9" fmla="*/ 0 h 498565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</a:cxnLst>
                  <a:rect l="l" t="t" r="r" b="b"/>
                  <a:pathLst>
                    <a:path w="4985658" h="4985658">
                      <a:moveTo>
                        <a:pt x="2492829" y="1240972"/>
                      </a:moveTo>
                      <a:cubicBezTo>
                        <a:pt x="1801447" y="1240972"/>
                        <a:pt x="1240972" y="1801447"/>
                        <a:pt x="1240972" y="2492829"/>
                      </a:cubicBezTo>
                      <a:cubicBezTo>
                        <a:pt x="1240972" y="3184211"/>
                        <a:pt x="1801447" y="3744686"/>
                        <a:pt x="2492829" y="3744686"/>
                      </a:cubicBezTo>
                      <a:cubicBezTo>
                        <a:pt x="3184211" y="3744686"/>
                        <a:pt x="3744686" y="3184211"/>
                        <a:pt x="3744686" y="2492829"/>
                      </a:cubicBezTo>
                      <a:cubicBezTo>
                        <a:pt x="3744686" y="1801447"/>
                        <a:pt x="3184211" y="1240972"/>
                        <a:pt x="2492829" y="1240972"/>
                      </a:cubicBezTo>
                      <a:close/>
                      <a:moveTo>
                        <a:pt x="2492829" y="0"/>
                      </a:moveTo>
                      <a:cubicBezTo>
                        <a:pt x="3869580" y="0"/>
                        <a:pt x="4985658" y="1116078"/>
                        <a:pt x="4985658" y="2492829"/>
                      </a:cubicBezTo>
                      <a:cubicBezTo>
                        <a:pt x="4985658" y="3869580"/>
                        <a:pt x="3869580" y="4985658"/>
                        <a:pt x="2492829" y="4985658"/>
                      </a:cubicBezTo>
                      <a:cubicBezTo>
                        <a:pt x="1116078" y="4985658"/>
                        <a:pt x="0" y="3869580"/>
                        <a:pt x="0" y="2492829"/>
                      </a:cubicBezTo>
                      <a:cubicBezTo>
                        <a:pt x="0" y="1116078"/>
                        <a:pt x="1116078" y="0"/>
                        <a:pt x="2492829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tx2">
                        <a:lumMod val="50000"/>
                        <a:lumOff val="50000"/>
                      </a:schemeClr>
                    </a:gs>
                    <a:gs pos="75000">
                      <a:srgbClr val="122639"/>
                    </a:gs>
                    <a:gs pos="100000">
                      <a:schemeClr val="tx1">
                        <a:lumMod val="95000"/>
                        <a:lumOff val="5000"/>
                      </a:schemeClr>
                    </a:gs>
                    <a:gs pos="44000">
                      <a:schemeClr val="tx2">
                        <a:lumMod val="90000"/>
                        <a:lumOff val="10000"/>
                      </a:schemeClr>
                    </a:gs>
                  </a:gsLst>
                  <a:lin ang="12600000" scaled="0"/>
                </a:gra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ru-RU" dirty="0"/>
                </a:p>
              </p:txBody>
            </p:sp>
            <p:grpSp>
              <p:nvGrpSpPr>
                <p:cNvPr id="65" name="Группа 64">
                  <a:extLst>
                    <a:ext uri="{FF2B5EF4-FFF2-40B4-BE49-F238E27FC236}">
                      <a16:creationId xmlns:a16="http://schemas.microsoft.com/office/drawing/2014/main" id="{A48FE483-8FFF-116C-94AB-88DF78B08FAF}"/>
                    </a:ext>
                  </a:extLst>
                </p:cNvPr>
                <p:cNvGrpSpPr/>
                <p:nvPr/>
              </p:nvGrpSpPr>
              <p:grpSpPr>
                <a:xfrm>
                  <a:off x="3084486" y="2719153"/>
                  <a:ext cx="971680" cy="316024"/>
                  <a:chOff x="4387850" y="3027845"/>
                  <a:chExt cx="971680" cy="316024"/>
                </a:xfrm>
              </p:grpSpPr>
              <p:cxnSp>
                <p:nvCxnSpPr>
                  <p:cNvPr id="69" name="Прямая соединительная линия 68">
                    <a:extLst>
                      <a:ext uri="{FF2B5EF4-FFF2-40B4-BE49-F238E27FC236}">
                        <a16:creationId xmlns:a16="http://schemas.microsoft.com/office/drawing/2014/main" id="{EE8AA583-55AD-F1B6-7FE3-1F74664DD89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387850" y="3027845"/>
                    <a:ext cx="481039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0" name="Прямая соединительная линия 69">
                    <a:extLst>
                      <a:ext uri="{FF2B5EF4-FFF2-40B4-BE49-F238E27FC236}">
                        <a16:creationId xmlns:a16="http://schemas.microsoft.com/office/drawing/2014/main" id="{75E2023B-FC65-9F75-128D-96A9B9117C6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4868889" y="3027845"/>
                    <a:ext cx="490641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6" name="Группа 65">
                  <a:extLst>
                    <a:ext uri="{FF2B5EF4-FFF2-40B4-BE49-F238E27FC236}">
                      <a16:creationId xmlns:a16="http://schemas.microsoft.com/office/drawing/2014/main" id="{BB0C8516-FC80-A08E-E2BA-54F83D0433EF}"/>
                    </a:ext>
                  </a:extLst>
                </p:cNvPr>
                <p:cNvGrpSpPr/>
                <p:nvPr/>
              </p:nvGrpSpPr>
              <p:grpSpPr>
                <a:xfrm rot="10800000">
                  <a:off x="152400" y="3035177"/>
                  <a:ext cx="971680" cy="316024"/>
                  <a:chOff x="4387850" y="3027845"/>
                  <a:chExt cx="971680" cy="316024"/>
                </a:xfrm>
              </p:grpSpPr>
              <p:cxnSp>
                <p:nvCxnSpPr>
                  <p:cNvPr id="67" name="Прямая соединительная линия 66">
                    <a:extLst>
                      <a:ext uri="{FF2B5EF4-FFF2-40B4-BE49-F238E27FC236}">
                        <a16:creationId xmlns:a16="http://schemas.microsoft.com/office/drawing/2014/main" id="{9E78BB8F-7847-993B-580C-347B3D077F5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387850" y="3027845"/>
                    <a:ext cx="481039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8" name="Прямая соединительная линия 67">
                    <a:extLst>
                      <a:ext uri="{FF2B5EF4-FFF2-40B4-BE49-F238E27FC236}">
                        <a16:creationId xmlns:a16="http://schemas.microsoft.com/office/drawing/2014/main" id="{FBC52776-103A-9BF0-0D31-4F3E9E5F739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4868889" y="3027845"/>
                    <a:ext cx="490641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26E09F09-F503-66BE-A5F0-BC88735CAA77}"/>
                  </a:ext>
                </a:extLst>
              </p:cNvPr>
              <p:cNvSpPr txBox="1"/>
              <p:nvPr/>
            </p:nvSpPr>
            <p:spPr>
              <a:xfrm>
                <a:off x="9256187" y="1628588"/>
                <a:ext cx="2960914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Шаг 3. Проверка</a:t>
                </a:r>
              </a:p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на диапазоны </a:t>
                </a:r>
              </a:p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значений</a:t>
                </a:r>
              </a:p>
            </p:txBody>
          </p:sp>
        </p:grp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A51DF2F8-0337-6E1E-7994-CFC1220CD127}"/>
                </a:ext>
              </a:extLst>
            </p:cNvPr>
            <p:cNvSpPr txBox="1"/>
            <p:nvPr/>
          </p:nvSpPr>
          <p:spPr>
            <a:xfrm rot="10800000">
              <a:off x="8597992" y="-1050811"/>
              <a:ext cx="4125183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ru-RU" sz="16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Шаг 6. Поиск </a:t>
              </a:r>
            </a:p>
            <a:p>
              <a:pPr algn="ctr"/>
              <a:r>
                <a:rPr lang="ru-RU" sz="16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и анализ шумов</a:t>
              </a:r>
            </a:p>
          </p:txBody>
        </p:sp>
      </p:grpSp>
      <p:grpSp>
        <p:nvGrpSpPr>
          <p:cNvPr id="99" name="Группа 98">
            <a:extLst>
              <a:ext uri="{FF2B5EF4-FFF2-40B4-BE49-F238E27FC236}">
                <a16:creationId xmlns:a16="http://schemas.microsoft.com/office/drawing/2014/main" id="{8C6A96A1-BE10-0C40-EB27-6087AF96F288}"/>
              </a:ext>
            </a:extLst>
          </p:cNvPr>
          <p:cNvGrpSpPr/>
          <p:nvPr/>
        </p:nvGrpSpPr>
        <p:grpSpPr>
          <a:xfrm rot="10800000">
            <a:off x="4809846" y="-1343198"/>
            <a:ext cx="3922816" cy="3903766"/>
            <a:chOff x="5028036" y="-1343198"/>
            <a:chExt cx="3922816" cy="3903766"/>
          </a:xfrm>
        </p:grpSpPr>
        <p:grpSp>
          <p:nvGrpSpPr>
            <p:cNvPr id="89" name="Группа 88">
              <a:extLst>
                <a:ext uri="{FF2B5EF4-FFF2-40B4-BE49-F238E27FC236}">
                  <a16:creationId xmlns:a16="http://schemas.microsoft.com/office/drawing/2014/main" id="{F4733B4F-A694-9213-8CDC-953FD85F95BF}"/>
                </a:ext>
              </a:extLst>
            </p:cNvPr>
            <p:cNvGrpSpPr/>
            <p:nvPr/>
          </p:nvGrpSpPr>
          <p:grpSpPr>
            <a:xfrm>
              <a:off x="5047086" y="-1343198"/>
              <a:ext cx="3903766" cy="3903766"/>
              <a:chOff x="5013346" y="-1343198"/>
              <a:chExt cx="3903766" cy="3903766"/>
            </a:xfrm>
          </p:grpSpPr>
          <p:grpSp>
            <p:nvGrpSpPr>
              <p:cNvPr id="55" name="Группа 54">
                <a:extLst>
                  <a:ext uri="{FF2B5EF4-FFF2-40B4-BE49-F238E27FC236}">
                    <a16:creationId xmlns:a16="http://schemas.microsoft.com/office/drawing/2014/main" id="{67E6CA46-5651-8A2C-487F-69AD283EE2D4}"/>
                  </a:ext>
                </a:extLst>
              </p:cNvPr>
              <p:cNvGrpSpPr/>
              <p:nvPr/>
            </p:nvGrpSpPr>
            <p:grpSpPr>
              <a:xfrm>
                <a:off x="5013346" y="-1343198"/>
                <a:ext cx="3903766" cy="3903766"/>
                <a:chOff x="152400" y="1057655"/>
                <a:chExt cx="3903766" cy="3903766"/>
              </a:xfrm>
            </p:grpSpPr>
            <p:sp>
              <p:nvSpPr>
                <p:cNvPr id="56" name="Полилиния: фигура 55">
                  <a:extLst>
                    <a:ext uri="{FF2B5EF4-FFF2-40B4-BE49-F238E27FC236}">
                      <a16:creationId xmlns:a16="http://schemas.microsoft.com/office/drawing/2014/main" id="{982DA8E1-9300-5C94-324F-DAE23C7865E9}"/>
                    </a:ext>
                  </a:extLst>
                </p:cNvPr>
                <p:cNvSpPr/>
                <p:nvPr/>
              </p:nvSpPr>
              <p:spPr>
                <a:xfrm>
                  <a:off x="152400" y="1057655"/>
                  <a:ext cx="3903766" cy="3903766"/>
                </a:xfrm>
                <a:custGeom>
                  <a:avLst/>
                  <a:gdLst>
                    <a:gd name="csX0" fmla="*/ 2492829 w 4985658"/>
                    <a:gd name="csY0" fmla="*/ 1240972 h 4985658"/>
                    <a:gd name="csX1" fmla="*/ 1240972 w 4985658"/>
                    <a:gd name="csY1" fmla="*/ 2492829 h 4985658"/>
                    <a:gd name="csX2" fmla="*/ 2492829 w 4985658"/>
                    <a:gd name="csY2" fmla="*/ 3744686 h 4985658"/>
                    <a:gd name="csX3" fmla="*/ 3744686 w 4985658"/>
                    <a:gd name="csY3" fmla="*/ 2492829 h 4985658"/>
                    <a:gd name="csX4" fmla="*/ 2492829 w 4985658"/>
                    <a:gd name="csY4" fmla="*/ 1240972 h 4985658"/>
                    <a:gd name="csX5" fmla="*/ 2492829 w 4985658"/>
                    <a:gd name="csY5" fmla="*/ 0 h 4985658"/>
                    <a:gd name="csX6" fmla="*/ 4985658 w 4985658"/>
                    <a:gd name="csY6" fmla="*/ 2492829 h 4985658"/>
                    <a:gd name="csX7" fmla="*/ 2492829 w 4985658"/>
                    <a:gd name="csY7" fmla="*/ 4985658 h 4985658"/>
                    <a:gd name="csX8" fmla="*/ 0 w 4985658"/>
                    <a:gd name="csY8" fmla="*/ 2492829 h 4985658"/>
                    <a:gd name="csX9" fmla="*/ 2492829 w 4985658"/>
                    <a:gd name="csY9" fmla="*/ 0 h 498565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</a:cxnLst>
                  <a:rect l="l" t="t" r="r" b="b"/>
                  <a:pathLst>
                    <a:path w="4985658" h="4985658">
                      <a:moveTo>
                        <a:pt x="2492829" y="1240972"/>
                      </a:moveTo>
                      <a:cubicBezTo>
                        <a:pt x="1801447" y="1240972"/>
                        <a:pt x="1240972" y="1801447"/>
                        <a:pt x="1240972" y="2492829"/>
                      </a:cubicBezTo>
                      <a:cubicBezTo>
                        <a:pt x="1240972" y="3184211"/>
                        <a:pt x="1801447" y="3744686"/>
                        <a:pt x="2492829" y="3744686"/>
                      </a:cubicBezTo>
                      <a:cubicBezTo>
                        <a:pt x="3184211" y="3744686"/>
                        <a:pt x="3744686" y="3184211"/>
                        <a:pt x="3744686" y="2492829"/>
                      </a:cubicBezTo>
                      <a:cubicBezTo>
                        <a:pt x="3744686" y="1801447"/>
                        <a:pt x="3184211" y="1240972"/>
                        <a:pt x="2492829" y="1240972"/>
                      </a:cubicBezTo>
                      <a:close/>
                      <a:moveTo>
                        <a:pt x="2492829" y="0"/>
                      </a:moveTo>
                      <a:cubicBezTo>
                        <a:pt x="3869580" y="0"/>
                        <a:pt x="4985658" y="1116078"/>
                        <a:pt x="4985658" y="2492829"/>
                      </a:cubicBezTo>
                      <a:cubicBezTo>
                        <a:pt x="4985658" y="3869580"/>
                        <a:pt x="3869580" y="4985658"/>
                        <a:pt x="2492829" y="4985658"/>
                      </a:cubicBezTo>
                      <a:cubicBezTo>
                        <a:pt x="1116078" y="4985658"/>
                        <a:pt x="0" y="3869580"/>
                        <a:pt x="0" y="2492829"/>
                      </a:cubicBezTo>
                      <a:cubicBezTo>
                        <a:pt x="0" y="1116078"/>
                        <a:pt x="1116078" y="0"/>
                        <a:pt x="2492829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tx2">
                        <a:lumMod val="50000"/>
                        <a:lumOff val="50000"/>
                      </a:schemeClr>
                    </a:gs>
                    <a:gs pos="75000">
                      <a:srgbClr val="122639"/>
                    </a:gs>
                    <a:gs pos="100000">
                      <a:schemeClr val="tx1">
                        <a:lumMod val="95000"/>
                        <a:lumOff val="5000"/>
                      </a:schemeClr>
                    </a:gs>
                    <a:gs pos="44000">
                      <a:schemeClr val="tx2">
                        <a:lumMod val="90000"/>
                        <a:lumOff val="10000"/>
                      </a:schemeClr>
                    </a:gs>
                  </a:gsLst>
                  <a:lin ang="12600000" scaled="0"/>
                </a:gra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ru-RU" dirty="0"/>
                </a:p>
              </p:txBody>
            </p:sp>
            <p:grpSp>
              <p:nvGrpSpPr>
                <p:cNvPr id="57" name="Группа 56">
                  <a:extLst>
                    <a:ext uri="{FF2B5EF4-FFF2-40B4-BE49-F238E27FC236}">
                      <a16:creationId xmlns:a16="http://schemas.microsoft.com/office/drawing/2014/main" id="{98B55ECC-3BAF-2236-0B9D-194AE6E7FC54}"/>
                    </a:ext>
                  </a:extLst>
                </p:cNvPr>
                <p:cNvGrpSpPr/>
                <p:nvPr/>
              </p:nvGrpSpPr>
              <p:grpSpPr>
                <a:xfrm>
                  <a:off x="3084486" y="2719153"/>
                  <a:ext cx="971680" cy="316024"/>
                  <a:chOff x="4387850" y="3027845"/>
                  <a:chExt cx="971680" cy="316024"/>
                </a:xfrm>
              </p:grpSpPr>
              <p:cxnSp>
                <p:nvCxnSpPr>
                  <p:cNvPr id="61" name="Прямая соединительная линия 60">
                    <a:extLst>
                      <a:ext uri="{FF2B5EF4-FFF2-40B4-BE49-F238E27FC236}">
                        <a16:creationId xmlns:a16="http://schemas.microsoft.com/office/drawing/2014/main" id="{FFFFC4F8-1976-4655-D4B7-CE9C37060BA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387850" y="3027845"/>
                    <a:ext cx="481039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Прямая соединительная линия 61">
                    <a:extLst>
                      <a:ext uri="{FF2B5EF4-FFF2-40B4-BE49-F238E27FC236}">
                        <a16:creationId xmlns:a16="http://schemas.microsoft.com/office/drawing/2014/main" id="{CDD7879E-8E43-6500-B30B-3455E83A9B4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4868889" y="3027845"/>
                    <a:ext cx="490641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8" name="Группа 57">
                  <a:extLst>
                    <a:ext uri="{FF2B5EF4-FFF2-40B4-BE49-F238E27FC236}">
                      <a16:creationId xmlns:a16="http://schemas.microsoft.com/office/drawing/2014/main" id="{A0B20BA6-B2B0-4306-53E7-52BB0237524D}"/>
                    </a:ext>
                  </a:extLst>
                </p:cNvPr>
                <p:cNvGrpSpPr/>
                <p:nvPr/>
              </p:nvGrpSpPr>
              <p:grpSpPr>
                <a:xfrm rot="10800000">
                  <a:off x="152400" y="3035177"/>
                  <a:ext cx="971680" cy="316024"/>
                  <a:chOff x="4387850" y="3027845"/>
                  <a:chExt cx="971680" cy="316024"/>
                </a:xfrm>
              </p:grpSpPr>
              <p:cxnSp>
                <p:nvCxnSpPr>
                  <p:cNvPr id="59" name="Прямая соединительная линия 58">
                    <a:extLst>
                      <a:ext uri="{FF2B5EF4-FFF2-40B4-BE49-F238E27FC236}">
                        <a16:creationId xmlns:a16="http://schemas.microsoft.com/office/drawing/2014/main" id="{F7A0138C-EDC8-B6EC-27F8-81FBEEF150A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387850" y="3027845"/>
                    <a:ext cx="481039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0" name="Прямая соединительная линия 59">
                    <a:extLst>
                      <a:ext uri="{FF2B5EF4-FFF2-40B4-BE49-F238E27FC236}">
                        <a16:creationId xmlns:a16="http://schemas.microsoft.com/office/drawing/2014/main" id="{EE7691E4-CFA4-9F13-F7CC-11C16369841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4868889" y="3027845"/>
                    <a:ext cx="490641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FEB21829-C556-0344-49D2-57D288AA0DBD}"/>
                  </a:ext>
                </a:extLst>
              </p:cNvPr>
              <p:cNvSpPr txBox="1"/>
              <p:nvPr/>
            </p:nvSpPr>
            <p:spPr>
              <a:xfrm>
                <a:off x="5013346" y="1623950"/>
                <a:ext cx="3903766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Шаг 2</a:t>
                </a:r>
              </a:p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Корреляционный </a:t>
                </a:r>
              </a:p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анализ</a:t>
                </a:r>
              </a:p>
            </p:txBody>
          </p:sp>
        </p:grp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B4749FE0-9F58-1F3A-3FF2-9FFB7C52C52F}"/>
                </a:ext>
              </a:extLst>
            </p:cNvPr>
            <p:cNvSpPr txBox="1"/>
            <p:nvPr/>
          </p:nvSpPr>
          <p:spPr>
            <a:xfrm rot="10800000">
              <a:off x="5028036" y="-1148940"/>
              <a:ext cx="3903766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ru-RU" sz="16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Шаг 5. Разложение на </a:t>
              </a:r>
            </a:p>
            <a:p>
              <a:pPr algn="ctr"/>
              <a:r>
                <a:rPr lang="ru-RU" sz="16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компоненты</a:t>
              </a:r>
            </a:p>
            <a:p>
              <a:pPr algn="ctr"/>
              <a:r>
                <a:rPr lang="ru-RU" sz="16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(декомпозиция)</a:t>
              </a:r>
            </a:p>
          </p:txBody>
        </p:sp>
      </p:grpSp>
      <p:grpSp>
        <p:nvGrpSpPr>
          <p:cNvPr id="86" name="Группа 85">
            <a:extLst>
              <a:ext uri="{FF2B5EF4-FFF2-40B4-BE49-F238E27FC236}">
                <a16:creationId xmlns:a16="http://schemas.microsoft.com/office/drawing/2014/main" id="{13573D9A-2092-ED89-4658-E75140959A74}"/>
              </a:ext>
            </a:extLst>
          </p:cNvPr>
          <p:cNvGrpSpPr/>
          <p:nvPr/>
        </p:nvGrpSpPr>
        <p:grpSpPr>
          <a:xfrm rot="10800000">
            <a:off x="1150960" y="-1343198"/>
            <a:ext cx="3903766" cy="3903766"/>
            <a:chOff x="1208423" y="-1343198"/>
            <a:chExt cx="3903766" cy="3903766"/>
          </a:xfrm>
        </p:grpSpPr>
        <p:grpSp>
          <p:nvGrpSpPr>
            <p:cNvPr id="54" name="Группа 53">
              <a:extLst>
                <a:ext uri="{FF2B5EF4-FFF2-40B4-BE49-F238E27FC236}">
                  <a16:creationId xmlns:a16="http://schemas.microsoft.com/office/drawing/2014/main" id="{470EF6E8-CDC9-031C-3DC2-27285CD91BF3}"/>
                </a:ext>
              </a:extLst>
            </p:cNvPr>
            <p:cNvGrpSpPr/>
            <p:nvPr/>
          </p:nvGrpSpPr>
          <p:grpSpPr>
            <a:xfrm>
              <a:off x="1208423" y="-1343198"/>
              <a:ext cx="3903766" cy="3903766"/>
              <a:chOff x="152400" y="1057655"/>
              <a:chExt cx="3903766" cy="3903766"/>
            </a:xfrm>
          </p:grpSpPr>
          <p:sp>
            <p:nvSpPr>
              <p:cNvPr id="9" name="Полилиния: фигура 8">
                <a:extLst>
                  <a:ext uri="{FF2B5EF4-FFF2-40B4-BE49-F238E27FC236}">
                    <a16:creationId xmlns:a16="http://schemas.microsoft.com/office/drawing/2014/main" id="{19526487-9313-A03B-A0B2-839B9DF3E6DF}"/>
                  </a:ext>
                </a:extLst>
              </p:cNvPr>
              <p:cNvSpPr/>
              <p:nvPr/>
            </p:nvSpPr>
            <p:spPr>
              <a:xfrm>
                <a:off x="152400" y="1057655"/>
                <a:ext cx="3903766" cy="3903766"/>
              </a:xfrm>
              <a:custGeom>
                <a:avLst/>
                <a:gdLst>
                  <a:gd name="csX0" fmla="*/ 2492829 w 4985658"/>
                  <a:gd name="csY0" fmla="*/ 1240972 h 4985658"/>
                  <a:gd name="csX1" fmla="*/ 1240972 w 4985658"/>
                  <a:gd name="csY1" fmla="*/ 2492829 h 4985658"/>
                  <a:gd name="csX2" fmla="*/ 2492829 w 4985658"/>
                  <a:gd name="csY2" fmla="*/ 3744686 h 4985658"/>
                  <a:gd name="csX3" fmla="*/ 3744686 w 4985658"/>
                  <a:gd name="csY3" fmla="*/ 2492829 h 4985658"/>
                  <a:gd name="csX4" fmla="*/ 2492829 w 4985658"/>
                  <a:gd name="csY4" fmla="*/ 1240972 h 4985658"/>
                  <a:gd name="csX5" fmla="*/ 2492829 w 4985658"/>
                  <a:gd name="csY5" fmla="*/ 0 h 4985658"/>
                  <a:gd name="csX6" fmla="*/ 4985658 w 4985658"/>
                  <a:gd name="csY6" fmla="*/ 2492829 h 4985658"/>
                  <a:gd name="csX7" fmla="*/ 2492829 w 4985658"/>
                  <a:gd name="csY7" fmla="*/ 4985658 h 4985658"/>
                  <a:gd name="csX8" fmla="*/ 0 w 4985658"/>
                  <a:gd name="csY8" fmla="*/ 2492829 h 4985658"/>
                  <a:gd name="csX9" fmla="*/ 2492829 w 4985658"/>
                  <a:gd name="csY9" fmla="*/ 0 h 498565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4985658" h="4985658">
                    <a:moveTo>
                      <a:pt x="2492829" y="1240972"/>
                    </a:moveTo>
                    <a:cubicBezTo>
                      <a:pt x="1801447" y="1240972"/>
                      <a:pt x="1240972" y="1801447"/>
                      <a:pt x="1240972" y="2492829"/>
                    </a:cubicBezTo>
                    <a:cubicBezTo>
                      <a:pt x="1240972" y="3184211"/>
                      <a:pt x="1801447" y="3744686"/>
                      <a:pt x="2492829" y="3744686"/>
                    </a:cubicBezTo>
                    <a:cubicBezTo>
                      <a:pt x="3184211" y="3744686"/>
                      <a:pt x="3744686" y="3184211"/>
                      <a:pt x="3744686" y="2492829"/>
                    </a:cubicBezTo>
                    <a:cubicBezTo>
                      <a:pt x="3744686" y="1801447"/>
                      <a:pt x="3184211" y="1240972"/>
                      <a:pt x="2492829" y="1240972"/>
                    </a:cubicBezTo>
                    <a:close/>
                    <a:moveTo>
                      <a:pt x="2492829" y="0"/>
                    </a:moveTo>
                    <a:cubicBezTo>
                      <a:pt x="3869580" y="0"/>
                      <a:pt x="4985658" y="1116078"/>
                      <a:pt x="4985658" y="2492829"/>
                    </a:cubicBezTo>
                    <a:cubicBezTo>
                      <a:pt x="4985658" y="3869580"/>
                      <a:pt x="3869580" y="4985658"/>
                      <a:pt x="2492829" y="4985658"/>
                    </a:cubicBezTo>
                    <a:cubicBezTo>
                      <a:pt x="1116078" y="4985658"/>
                      <a:pt x="0" y="3869580"/>
                      <a:pt x="0" y="2492829"/>
                    </a:cubicBezTo>
                    <a:cubicBezTo>
                      <a:pt x="0" y="1116078"/>
                      <a:pt x="1116078" y="0"/>
                      <a:pt x="2492829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tx2">
                      <a:lumMod val="50000"/>
                      <a:lumOff val="50000"/>
                    </a:schemeClr>
                  </a:gs>
                  <a:gs pos="75000">
                    <a:srgbClr val="122639"/>
                  </a:gs>
                  <a:gs pos="100000">
                    <a:schemeClr val="tx1">
                      <a:lumMod val="95000"/>
                      <a:lumOff val="5000"/>
                    </a:schemeClr>
                  </a:gs>
                  <a:gs pos="44000">
                    <a:schemeClr val="tx2">
                      <a:lumMod val="90000"/>
                      <a:lumOff val="10000"/>
                    </a:schemeClr>
                  </a:gs>
                </a:gsLst>
                <a:lin ang="12600000" scaled="0"/>
              </a:gra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ru-RU" dirty="0"/>
              </a:p>
            </p:txBody>
          </p:sp>
          <p:grpSp>
            <p:nvGrpSpPr>
              <p:cNvPr id="50" name="Группа 49">
                <a:extLst>
                  <a:ext uri="{FF2B5EF4-FFF2-40B4-BE49-F238E27FC236}">
                    <a16:creationId xmlns:a16="http://schemas.microsoft.com/office/drawing/2014/main" id="{E23D6AB2-D675-05AA-9183-0F93EA10A97C}"/>
                  </a:ext>
                </a:extLst>
              </p:cNvPr>
              <p:cNvGrpSpPr/>
              <p:nvPr/>
            </p:nvGrpSpPr>
            <p:grpSpPr>
              <a:xfrm>
                <a:off x="3084486" y="2719153"/>
                <a:ext cx="971680" cy="316024"/>
                <a:chOff x="4387850" y="3027845"/>
                <a:chExt cx="971680" cy="316024"/>
              </a:xfrm>
            </p:grpSpPr>
            <p:cxnSp>
              <p:nvCxnSpPr>
                <p:cNvPr id="15" name="Прямая соединительная линия 14">
                  <a:extLst>
                    <a:ext uri="{FF2B5EF4-FFF2-40B4-BE49-F238E27FC236}">
                      <a16:creationId xmlns:a16="http://schemas.microsoft.com/office/drawing/2014/main" id="{073524E6-74D5-BC31-930E-4382A26520D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387850" y="3027845"/>
                  <a:ext cx="481039" cy="316024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Прямая соединительная линия 16">
                  <a:extLst>
                    <a:ext uri="{FF2B5EF4-FFF2-40B4-BE49-F238E27FC236}">
                      <a16:creationId xmlns:a16="http://schemas.microsoft.com/office/drawing/2014/main" id="{1DB5CC8C-EE01-E8D0-A6B1-DE75C713459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868889" y="3027845"/>
                  <a:ext cx="490641" cy="316024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1" name="Группа 50">
                <a:extLst>
                  <a:ext uri="{FF2B5EF4-FFF2-40B4-BE49-F238E27FC236}">
                    <a16:creationId xmlns:a16="http://schemas.microsoft.com/office/drawing/2014/main" id="{CC44DC75-1A64-C97F-1AED-E16E3D204610}"/>
                  </a:ext>
                </a:extLst>
              </p:cNvPr>
              <p:cNvGrpSpPr/>
              <p:nvPr/>
            </p:nvGrpSpPr>
            <p:grpSpPr>
              <a:xfrm rot="10800000">
                <a:off x="152400" y="3035177"/>
                <a:ext cx="971680" cy="316024"/>
                <a:chOff x="4387850" y="3027845"/>
                <a:chExt cx="971680" cy="316024"/>
              </a:xfrm>
            </p:grpSpPr>
            <p:cxnSp>
              <p:nvCxnSpPr>
                <p:cNvPr id="52" name="Прямая соединительная линия 51">
                  <a:extLst>
                    <a:ext uri="{FF2B5EF4-FFF2-40B4-BE49-F238E27FC236}">
                      <a16:creationId xmlns:a16="http://schemas.microsoft.com/office/drawing/2014/main" id="{FAEF8D33-1AA0-6F8C-5E5B-47D21FC4A05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387850" y="3027845"/>
                  <a:ext cx="481039" cy="316024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Прямая соединительная линия 52">
                  <a:extLst>
                    <a:ext uri="{FF2B5EF4-FFF2-40B4-BE49-F238E27FC236}">
                      <a16:creationId xmlns:a16="http://schemas.microsoft.com/office/drawing/2014/main" id="{E7D7C90B-8D28-A212-93D4-456801FDDD1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868889" y="3027845"/>
                  <a:ext cx="490641" cy="316024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85" name="Группа 84">
              <a:extLst>
                <a:ext uri="{FF2B5EF4-FFF2-40B4-BE49-F238E27FC236}">
                  <a16:creationId xmlns:a16="http://schemas.microsoft.com/office/drawing/2014/main" id="{D1ED814C-AD6E-FDE4-1426-873A1FA4C38E}"/>
                </a:ext>
              </a:extLst>
            </p:cNvPr>
            <p:cNvGrpSpPr/>
            <p:nvPr/>
          </p:nvGrpSpPr>
          <p:grpSpPr>
            <a:xfrm rot="10800000">
              <a:off x="1757182" y="-1002650"/>
              <a:ext cx="2806248" cy="3224868"/>
              <a:chOff x="1757182" y="-971872"/>
              <a:chExt cx="2806248" cy="3224868"/>
            </a:xfrm>
          </p:grpSpPr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2510E6EE-1102-E521-1368-06A030EE1631}"/>
                  </a:ext>
                </a:extLst>
              </p:cNvPr>
              <p:cNvSpPr txBox="1"/>
              <p:nvPr/>
            </p:nvSpPr>
            <p:spPr>
              <a:xfrm rot="10800000">
                <a:off x="1889778" y="-971872"/>
                <a:ext cx="2541057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Шаг 1</a:t>
                </a:r>
              </a:p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Качество данных</a:t>
                </a:r>
              </a:p>
            </p:txBody>
          </p:sp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73940E86-9DFE-4F52-C6F4-3283AE4D3539}"/>
                  </a:ext>
                </a:extLst>
              </p:cNvPr>
              <p:cNvSpPr txBox="1"/>
              <p:nvPr/>
            </p:nvSpPr>
            <p:spPr>
              <a:xfrm>
                <a:off x="1757182" y="1668221"/>
                <a:ext cx="2806248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Шаг 4. Распределения</a:t>
                </a:r>
              </a:p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измерений</a:t>
                </a:r>
              </a:p>
            </p:txBody>
          </p:sp>
        </p:grpSp>
      </p:grp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A59B95CE-E7A0-5BB4-088A-0B22A3BBDCB5}"/>
              </a:ext>
            </a:extLst>
          </p:cNvPr>
          <p:cNvSpPr/>
          <p:nvPr/>
        </p:nvSpPr>
        <p:spPr>
          <a:xfrm>
            <a:off x="-246746" y="-220648"/>
            <a:ext cx="12685487" cy="1312847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75000"/>
                  <a:lumOff val="25000"/>
                </a:schemeClr>
              </a:gs>
              <a:gs pos="75000">
                <a:srgbClr val="122639"/>
              </a:gs>
              <a:gs pos="100000">
                <a:schemeClr val="tx1">
                  <a:lumMod val="95000"/>
                  <a:lumOff val="5000"/>
                </a:schemeClr>
              </a:gs>
              <a:gs pos="44000">
                <a:schemeClr val="tx2">
                  <a:lumMod val="90000"/>
                  <a:lumOff val="10000"/>
                </a:schemeClr>
              </a:gs>
            </a:gsLst>
            <a:lin ang="12600000" scaled="0"/>
            <a:tileRect/>
          </a:gra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8A5FB4D-7250-481B-4D7C-94B3E5B8A83C}"/>
              </a:ext>
            </a:extLst>
          </p:cNvPr>
          <p:cNvSpPr txBox="1"/>
          <p:nvPr/>
        </p:nvSpPr>
        <p:spPr>
          <a:xfrm>
            <a:off x="651247" y="232100"/>
            <a:ext cx="10889495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Временные ряды: анализ</a:t>
            </a:r>
            <a:endParaRPr lang="ru-RU" sz="2000" dirty="0">
              <a:solidFill>
                <a:schemeClr val="bg1"/>
              </a:solidFill>
              <a:latin typeface="Arial Black" panose="020B0A040201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Дата 6">
            <a:extLst>
              <a:ext uri="{FF2B5EF4-FFF2-40B4-BE49-F238E27FC236}">
                <a16:creationId xmlns:a16="http://schemas.microsoft.com/office/drawing/2014/main" id="{7B1EE8BE-2099-8A4E-C10C-BD75191B34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280316" y="6284083"/>
            <a:ext cx="892634" cy="463875"/>
          </a:xfrm>
        </p:spPr>
        <p:txBody>
          <a:bodyPr/>
          <a:lstStyle/>
          <a:p>
            <a:pPr algn="ctr">
              <a:defRPr/>
            </a:pPr>
            <a:fld id="{D063FBCF-7873-4A49-B36C-1F912BB77786}" type="slidenum">
              <a:rPr lang="ru-RU" altLang="ru-RU" sz="2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ctr">
                <a:defRPr/>
              </a:pPr>
              <a:t>13</a:t>
            </a:fld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/13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03BC59B8-0A94-78C8-2AA1-9E15D717F243}"/>
              </a:ext>
            </a:extLst>
          </p:cNvPr>
          <p:cNvSpPr/>
          <p:nvPr/>
        </p:nvSpPr>
        <p:spPr>
          <a:xfrm>
            <a:off x="-476262" y="937951"/>
            <a:ext cx="13144512" cy="5201601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Дата 6">
            <a:extLst>
              <a:ext uri="{FF2B5EF4-FFF2-40B4-BE49-F238E27FC236}">
                <a16:creationId xmlns:a16="http://schemas.microsoft.com/office/drawing/2014/main" id="{519094AD-AE22-C7E1-E9A1-3C163D6A6701}"/>
              </a:ext>
            </a:extLst>
          </p:cNvPr>
          <p:cNvSpPr txBox="1">
            <a:spLocks/>
          </p:cNvSpPr>
          <p:nvPr/>
        </p:nvSpPr>
        <p:spPr>
          <a:xfrm>
            <a:off x="38100" y="6284084"/>
            <a:ext cx="7785187" cy="463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Курсовой проект «Поиск и первичный анализ наборов данных»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cxnSp>
        <p:nvCxnSpPr>
          <p:cNvPr id="79" name="Прямая соединительная линия 78">
            <a:extLst>
              <a:ext uri="{FF2B5EF4-FFF2-40B4-BE49-F238E27FC236}">
                <a16:creationId xmlns:a16="http://schemas.microsoft.com/office/drawing/2014/main" id="{94ADFB65-C615-C6F8-6918-9C6FF26A0642}"/>
              </a:ext>
            </a:extLst>
          </p:cNvPr>
          <p:cNvCxnSpPr>
            <a:cxnSpLocks/>
          </p:cNvCxnSpPr>
          <p:nvPr/>
        </p:nvCxnSpPr>
        <p:spPr>
          <a:xfrm flipH="1">
            <a:off x="-495312" y="2705100"/>
            <a:ext cx="13163562" cy="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3" name="Группа 122">
            <a:extLst>
              <a:ext uri="{FF2B5EF4-FFF2-40B4-BE49-F238E27FC236}">
                <a16:creationId xmlns:a16="http://schemas.microsoft.com/office/drawing/2014/main" id="{FEBC0455-6F72-D55A-1D2A-77458FD9DBAF}"/>
              </a:ext>
            </a:extLst>
          </p:cNvPr>
          <p:cNvGrpSpPr/>
          <p:nvPr/>
        </p:nvGrpSpPr>
        <p:grpSpPr>
          <a:xfrm>
            <a:off x="12339748" y="2705099"/>
            <a:ext cx="13163562" cy="3607987"/>
            <a:chOff x="-495312" y="2705100"/>
            <a:chExt cx="13163562" cy="3607987"/>
          </a:xfrm>
        </p:grpSpPr>
        <p:cxnSp>
          <p:nvCxnSpPr>
            <p:cNvPr id="72" name="Прямая соединительная линия 71">
              <a:extLst>
                <a:ext uri="{FF2B5EF4-FFF2-40B4-BE49-F238E27FC236}">
                  <a16:creationId xmlns:a16="http://schemas.microsoft.com/office/drawing/2014/main" id="{3F7A9321-BE3E-07FA-DC15-EBA092239B3A}"/>
                </a:ext>
              </a:extLst>
            </p:cNvPr>
            <p:cNvCxnSpPr>
              <a:cxnSpLocks/>
            </p:cNvCxnSpPr>
            <p:nvPr/>
          </p:nvCxnSpPr>
          <p:spPr>
            <a:xfrm>
              <a:off x="1226176" y="2705100"/>
              <a:ext cx="0" cy="3434452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Прямая соединительная линия 73">
              <a:extLst>
                <a:ext uri="{FF2B5EF4-FFF2-40B4-BE49-F238E27FC236}">
                  <a16:creationId xmlns:a16="http://schemas.microsoft.com/office/drawing/2014/main" id="{CF138B16-BBA9-585F-2B09-FD72518CEEC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495312" y="4670426"/>
              <a:ext cx="13163562" cy="0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9316F26E-6562-5846-95D8-402DCECBE23C}"/>
                </a:ext>
              </a:extLst>
            </p:cNvPr>
            <p:cNvSpPr txBox="1"/>
            <p:nvPr/>
          </p:nvSpPr>
          <p:spPr>
            <a:xfrm rot="3847950">
              <a:off x="-121036" y="3625376"/>
              <a:ext cx="15975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Результаты</a:t>
              </a: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A12A89CF-E7BA-8C78-2D9E-494AE4FC29E7}"/>
                </a:ext>
              </a:extLst>
            </p:cNvPr>
            <p:cNvSpPr txBox="1"/>
            <p:nvPr/>
          </p:nvSpPr>
          <p:spPr>
            <a:xfrm rot="3847950">
              <a:off x="-49012" y="5368638"/>
              <a:ext cx="151956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Действия</a:t>
              </a:r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5A2CCC70-38E4-4CAF-03D1-C3B29275D0DA}"/>
                </a:ext>
              </a:extLst>
            </p:cNvPr>
            <p:cNvSpPr txBox="1"/>
            <p:nvPr/>
          </p:nvSpPr>
          <p:spPr>
            <a:xfrm>
              <a:off x="1396280" y="2738923"/>
              <a:ext cx="3167803" cy="172015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Пропуски отсутствуют</a:t>
              </a:r>
            </a:p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Выбросы есть в </a:t>
              </a:r>
              <a:r>
                <a:rPr lang="en-US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Accelerometer1RMS </a:t>
              </a:r>
              <a:r>
                <a:rPr lang="ru-RU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(</a:t>
              </a:r>
              <a:r>
                <a:rPr lang="en-US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2.67%</a:t>
              </a:r>
              <a:r>
                <a:rPr lang="ru-RU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) и</a:t>
              </a:r>
              <a:r>
                <a:rPr lang="en-US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Accelerometer2RMS</a:t>
              </a:r>
              <a:r>
                <a:rPr lang="ru-RU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(</a:t>
              </a:r>
              <a:r>
                <a:rPr lang="en-US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2.62%</a:t>
              </a:r>
              <a:r>
                <a:rPr lang="ru-RU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</a:p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Выбросы отсутствуют в </a:t>
              </a:r>
              <a:r>
                <a:rPr lang="en-US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Temperature, Thermocouple, Volume Flow Rate</a:t>
              </a:r>
              <a:endParaRPr lang="ru-RU" sz="1200" dirty="0">
                <a:solidFill>
                  <a:srgbClr val="F9FAFB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В остальных</a:t>
              </a:r>
              <a:r>
                <a:rPr lang="en-CA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ru-RU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каналах (</a:t>
              </a:r>
              <a:r>
                <a:rPr lang="en-CA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&lt; </a:t>
              </a:r>
              <a:r>
                <a:rPr lang="ru-RU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0.2%)</a:t>
              </a:r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CAE8EFBA-F944-FBC6-0AC4-807F7FC9A660}"/>
                </a:ext>
              </a:extLst>
            </p:cNvPr>
            <p:cNvSpPr txBox="1"/>
            <p:nvPr/>
          </p:nvSpPr>
          <p:spPr>
            <a:xfrm>
              <a:off x="4564085" y="2743199"/>
              <a:ext cx="4278218" cy="116615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9 пар с </a:t>
              </a:r>
              <a:r>
                <a:rPr lang="en-US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r &gt; 0.7</a:t>
              </a:r>
            </a:p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en-US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Accelerometer1RMS </a:t>
              </a:r>
              <a:r>
                <a:rPr lang="ru-RU" sz="1200" b="1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– </a:t>
              </a:r>
              <a:r>
                <a:rPr lang="en-US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Accelerometer2RMS: 0.996</a:t>
              </a:r>
            </a:p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en-US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Temperature </a:t>
              </a:r>
              <a:r>
                <a:rPr lang="ru-RU" sz="1200" b="1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–</a:t>
              </a:r>
              <a:r>
                <a:rPr lang="en-US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 Volume Flow </a:t>
              </a:r>
              <a:r>
                <a:rPr lang="en-US" sz="1200" b="0" i="0" dirty="0" err="1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RateRMS</a:t>
              </a:r>
              <a:r>
                <a:rPr lang="en-US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: 0.902</a:t>
              </a:r>
            </a:p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Давление не зависит от других (</a:t>
              </a:r>
              <a:r>
                <a:rPr lang="en-US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r &lt; 0.11)</a:t>
              </a:r>
              <a:endParaRPr lang="ru-RU" sz="1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F89E4C90-8F50-3F44-5E09-8ED766FE6248}"/>
                </a:ext>
              </a:extLst>
            </p:cNvPr>
            <p:cNvSpPr txBox="1"/>
            <p:nvPr/>
          </p:nvSpPr>
          <p:spPr>
            <a:xfrm>
              <a:off x="8586491" y="2743199"/>
              <a:ext cx="3442447" cy="144315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285750">
                <a:lnSpc>
                  <a:spcPct val="150000"/>
                </a:lnSpc>
              </a:pPr>
              <a:r>
                <a:rPr lang="ru-RU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Значительное различие в масштабах</a:t>
              </a:r>
            </a:p>
            <a:p>
              <a:pPr marL="285750">
                <a:lnSpc>
                  <a:spcPct val="150000"/>
                </a:lnSpc>
              </a:pPr>
              <a:r>
                <a:rPr lang="ru-RU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измерений: от 0.026 (Accelerometer1RMS) до 254.74 (</a:t>
              </a:r>
              <a:r>
                <a:rPr lang="ru-RU" sz="1200" b="0" i="0" dirty="0" err="1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Voltage</a:t>
              </a:r>
              <a:r>
                <a:rPr lang="ru-RU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</a:p>
            <a:p>
              <a:pPr marL="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ru-RU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Различие в 352 раза</a:t>
              </a:r>
            </a:p>
            <a:p>
              <a:pPr marL="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2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ru-RU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Разные единицы: g, А, бар, °C, В, л/мин</a:t>
              </a:r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F1CFC7DE-E7DB-7F89-F514-8E4AF0F501D1}"/>
                </a:ext>
              </a:extLst>
            </p:cNvPr>
            <p:cNvSpPr txBox="1"/>
            <p:nvPr/>
          </p:nvSpPr>
          <p:spPr>
            <a:xfrm>
              <a:off x="1406586" y="4788442"/>
              <a:ext cx="3088211" cy="8891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Выбросы сохранить </a:t>
              </a:r>
              <a:r>
                <a:rPr lang="ru-RU" sz="1200" b="1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–</a:t>
              </a:r>
              <a:r>
                <a:rPr lang="ru-RU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 это пиковые вибрации при включении, </a:t>
              </a:r>
              <a:r>
                <a:rPr lang="ru-RU" sz="12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нормальное поведение системы</a:t>
              </a: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AAEF1D90-7377-576C-1080-855CBD87F159}"/>
                </a:ext>
              </a:extLst>
            </p:cNvPr>
            <p:cNvSpPr txBox="1"/>
            <p:nvPr/>
          </p:nvSpPr>
          <p:spPr>
            <a:xfrm>
              <a:off x="4564085" y="4848782"/>
              <a:ext cx="4168573" cy="8891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Сократить дублирующие каналы (</a:t>
              </a:r>
              <a:r>
                <a:rPr lang="en-CA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r &gt; 0.9</a:t>
              </a:r>
              <a:r>
                <a:rPr lang="ru-RU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Давление сохранить как</a:t>
              </a:r>
              <a:r>
                <a:rPr lang="en-CA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ru-RU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уникальный</a:t>
              </a:r>
              <a:endParaRPr lang="en-CA" sz="1200" dirty="0">
                <a:solidFill>
                  <a:srgbClr val="F9FAFB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>
                <a:lnSpc>
                  <a:spcPct val="150000"/>
                </a:lnSpc>
              </a:pPr>
              <a:r>
                <a:rPr lang="ru-RU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признак</a:t>
              </a: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992D251F-4434-FCED-7561-347E63571505}"/>
                </a:ext>
              </a:extLst>
            </p:cNvPr>
            <p:cNvSpPr txBox="1"/>
            <p:nvPr/>
          </p:nvSpPr>
          <p:spPr>
            <a:xfrm>
              <a:off x="8876295" y="4789078"/>
              <a:ext cx="2989310" cy="8891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2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Применить </a:t>
              </a:r>
              <a:r>
                <a:rPr lang="ru-RU" sz="1200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StandardScaler</a:t>
              </a:r>
              <a:r>
                <a:rPr lang="ru-RU" sz="12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, для приведения всех числовых признаков к единому масштабу</a:t>
              </a:r>
            </a:p>
          </p:txBody>
        </p:sp>
      </p:grpSp>
      <p:grpSp>
        <p:nvGrpSpPr>
          <p:cNvPr id="122" name="Группа 121">
            <a:extLst>
              <a:ext uri="{FF2B5EF4-FFF2-40B4-BE49-F238E27FC236}">
                <a16:creationId xmlns:a16="http://schemas.microsoft.com/office/drawing/2014/main" id="{441EFDFB-E7FB-1900-D255-B38869360B20}"/>
              </a:ext>
            </a:extLst>
          </p:cNvPr>
          <p:cNvGrpSpPr/>
          <p:nvPr/>
        </p:nvGrpSpPr>
        <p:grpSpPr>
          <a:xfrm>
            <a:off x="-485781" y="2705099"/>
            <a:ext cx="13163562" cy="3607987"/>
            <a:chOff x="12275671" y="2705100"/>
            <a:chExt cx="13163562" cy="3607987"/>
          </a:xfrm>
        </p:grpSpPr>
        <p:cxnSp>
          <p:nvCxnSpPr>
            <p:cNvPr id="111" name="Прямая соединительная линия 110">
              <a:extLst>
                <a:ext uri="{FF2B5EF4-FFF2-40B4-BE49-F238E27FC236}">
                  <a16:creationId xmlns:a16="http://schemas.microsoft.com/office/drawing/2014/main" id="{B49FD563-38B1-7F6E-A714-BEE29073C00A}"/>
                </a:ext>
              </a:extLst>
            </p:cNvPr>
            <p:cNvCxnSpPr>
              <a:cxnSpLocks/>
            </p:cNvCxnSpPr>
            <p:nvPr/>
          </p:nvCxnSpPr>
          <p:spPr>
            <a:xfrm>
              <a:off x="13997159" y="2705100"/>
              <a:ext cx="0" cy="3434452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21" name="Группа 120">
              <a:extLst>
                <a:ext uri="{FF2B5EF4-FFF2-40B4-BE49-F238E27FC236}">
                  <a16:creationId xmlns:a16="http://schemas.microsoft.com/office/drawing/2014/main" id="{0D84BD63-4F03-155A-E4BF-3963272A1FF4}"/>
                </a:ext>
              </a:extLst>
            </p:cNvPr>
            <p:cNvGrpSpPr/>
            <p:nvPr/>
          </p:nvGrpSpPr>
          <p:grpSpPr>
            <a:xfrm>
              <a:off x="12275671" y="2705100"/>
              <a:ext cx="13163562" cy="3607987"/>
              <a:chOff x="12275671" y="2705100"/>
              <a:chExt cx="13163562" cy="3607987"/>
            </a:xfrm>
          </p:grpSpPr>
          <p:cxnSp>
            <p:nvCxnSpPr>
              <p:cNvPr id="112" name="Прямая соединительная линия 111">
                <a:extLst>
                  <a:ext uri="{FF2B5EF4-FFF2-40B4-BE49-F238E27FC236}">
                    <a16:creationId xmlns:a16="http://schemas.microsoft.com/office/drawing/2014/main" id="{74DFA6CD-EC98-9494-0964-C8E5196BE70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2275671" y="4670426"/>
                <a:ext cx="13163562" cy="0"/>
              </a:xfrm>
              <a:prstGeom prst="line">
                <a:avLst/>
              </a:prstGeom>
              <a:ln w="25400"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3" name="TextBox 112">
                <a:extLst>
                  <a:ext uri="{FF2B5EF4-FFF2-40B4-BE49-F238E27FC236}">
                    <a16:creationId xmlns:a16="http://schemas.microsoft.com/office/drawing/2014/main" id="{3040357B-208D-7936-81C3-ADD5B4532752}"/>
                  </a:ext>
                </a:extLst>
              </p:cNvPr>
              <p:cNvSpPr txBox="1"/>
              <p:nvPr/>
            </p:nvSpPr>
            <p:spPr>
              <a:xfrm rot="3847950">
                <a:off x="12649947" y="3625376"/>
                <a:ext cx="15975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Результаты</a:t>
                </a:r>
              </a:p>
            </p:txBody>
          </p:sp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73CB1165-F8B6-6575-A3DE-477E800E2886}"/>
                  </a:ext>
                </a:extLst>
              </p:cNvPr>
              <p:cNvSpPr txBox="1"/>
              <p:nvPr/>
            </p:nvSpPr>
            <p:spPr>
              <a:xfrm rot="3847950">
                <a:off x="12721971" y="5368638"/>
                <a:ext cx="151956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Действия</a:t>
                </a:r>
              </a:p>
            </p:txBody>
          </p:sp>
          <p:sp>
            <p:nvSpPr>
              <p:cNvPr id="115" name="TextBox 114">
                <a:extLst>
                  <a:ext uri="{FF2B5EF4-FFF2-40B4-BE49-F238E27FC236}">
                    <a16:creationId xmlns:a16="http://schemas.microsoft.com/office/drawing/2014/main" id="{1DB5037C-0B03-38FF-FFB6-660764CF3CA0}"/>
                  </a:ext>
                </a:extLst>
              </p:cNvPr>
              <p:cNvSpPr txBox="1"/>
              <p:nvPr/>
            </p:nvSpPr>
            <p:spPr>
              <a:xfrm>
                <a:off x="14074343" y="2743199"/>
                <a:ext cx="3863630" cy="17201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en-US" sz="12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Accelerometer</a:t>
                </a:r>
                <a:r>
                  <a:rPr lang="ru-RU" sz="12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1</a:t>
                </a:r>
                <a:r>
                  <a:rPr lang="en-US" sz="12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, Pressure</a:t>
                </a:r>
                <a:r>
                  <a:rPr lang="ru-RU" sz="12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:r>
                  <a:rPr lang="en-US" sz="12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Voltage </a:t>
                </a:r>
                <a:r>
                  <a:rPr lang="ru-RU" sz="1200" b="1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–</a:t>
                </a:r>
                <a:r>
                  <a:rPr lang="en-US" sz="12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ru-RU" sz="12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мультимодальное распределение</a:t>
                </a:r>
              </a:p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en-US" sz="12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Accelerometer</a:t>
                </a:r>
                <a:r>
                  <a:rPr lang="ru-RU" sz="12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2, </a:t>
                </a:r>
                <a:r>
                  <a:rPr lang="en-US" sz="12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Current, Volume Flow</a:t>
                </a:r>
                <a:r>
                  <a:rPr lang="ru-RU" sz="12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– ассиметричное распределение</a:t>
                </a:r>
              </a:p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en-US" sz="12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Temperature</a:t>
                </a:r>
                <a:r>
                  <a:rPr lang="ru-RU" sz="12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:r>
                  <a:rPr lang="en-US" sz="12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Thermocouple</a:t>
                </a:r>
                <a:r>
                  <a:rPr lang="ru-RU" sz="12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ru-RU" sz="1200" b="1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–</a:t>
                </a:r>
                <a:r>
                  <a:rPr lang="en-US" sz="12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ru-RU" sz="12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мультимодальное (нагрев/остывание)</a:t>
                </a:r>
              </a:p>
            </p:txBody>
          </p:sp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DD967F5D-8FDB-71FE-E9FD-4FB1901FD446}"/>
                  </a:ext>
                </a:extLst>
              </p:cNvPr>
              <p:cNvSpPr txBox="1"/>
              <p:nvPr/>
            </p:nvSpPr>
            <p:spPr>
              <a:xfrm>
                <a:off x="18012063" y="2739324"/>
                <a:ext cx="3190587" cy="172015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2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Тренд: падающий (−8.17°C за 6 часов)</a:t>
                </a:r>
              </a:p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2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Сезонность: ~60 сек (циклы насоса), амплитуда низкая</a:t>
                </a:r>
              </a:p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2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Нестационарный ряд (есть тренд и сезонность)</a:t>
                </a:r>
                <a:endParaRPr lang="ru-RU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17" name="TextBox 116">
                <a:extLst>
                  <a:ext uri="{FF2B5EF4-FFF2-40B4-BE49-F238E27FC236}">
                    <a16:creationId xmlns:a16="http://schemas.microsoft.com/office/drawing/2014/main" id="{84A120CF-9F90-4FB9-D59F-D3C5D144E1F2}"/>
                  </a:ext>
                </a:extLst>
              </p:cNvPr>
              <p:cNvSpPr txBox="1"/>
              <p:nvPr/>
            </p:nvSpPr>
            <p:spPr>
              <a:xfrm>
                <a:off x="21647278" y="2705100"/>
                <a:ext cx="3442447" cy="11661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indent="-28440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2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SNR = 21.11 дБ – Отлично</a:t>
                </a:r>
              </a:p>
              <a:p>
                <a:pPr indent="-28440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2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Распределение остатков близко к нормальному</a:t>
                </a:r>
              </a:p>
              <a:p>
                <a:pPr indent="-28440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2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Шум случаен, декомпозиция адекватна</a:t>
                </a:r>
              </a:p>
            </p:txBody>
          </p:sp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114103BE-3149-9651-AA2E-EFFB8CF1D3AF}"/>
                  </a:ext>
                </a:extLst>
              </p:cNvPr>
              <p:cNvSpPr txBox="1"/>
              <p:nvPr/>
            </p:nvSpPr>
            <p:spPr>
              <a:xfrm>
                <a:off x="14106584" y="4735799"/>
                <a:ext cx="3735376" cy="13450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4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Учитывать асимметрию при выборе модели</a:t>
                </a:r>
              </a:p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4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Использование метрики </a:t>
                </a:r>
                <a:r>
                  <a:rPr lang="en-US" sz="14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MAE</a:t>
                </a:r>
                <a:r>
                  <a:rPr lang="ru-RU" sz="14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(средняя абсолютная ошибка)</a:t>
                </a:r>
              </a:p>
            </p:txBody>
          </p:sp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928A99A4-9DC7-11E4-1D2D-F70ED386BF8E}"/>
                  </a:ext>
                </a:extLst>
              </p:cNvPr>
              <p:cNvSpPr txBox="1"/>
              <p:nvPr/>
            </p:nvSpPr>
            <p:spPr>
              <a:xfrm>
                <a:off x="18012063" y="4788442"/>
                <a:ext cx="3263387" cy="8891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2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Для ARIMA – берем разность, чтобы убрать общий спад или рост</a:t>
                </a:r>
              </a:p>
              <a:p>
                <a:pPr marL="285750"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2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Для нейросетей – разность не нужна</a:t>
                </a:r>
                <a:endParaRPr lang="ru-RU" sz="12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5D7B05DB-1441-6370-82F5-EF472CE8A52D}"/>
                  </a:ext>
                </a:extLst>
              </p:cNvPr>
              <p:cNvSpPr txBox="1"/>
              <p:nvPr/>
            </p:nvSpPr>
            <p:spPr>
              <a:xfrm>
                <a:off x="21647278" y="4696367"/>
                <a:ext cx="2989310" cy="8891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2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Фильтрация не требуется</a:t>
                </a:r>
              </a:p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2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Данные чистые, модели будут хорошо работать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8120101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19C196-F714-514C-FB65-E60BF64A3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8CFA5601-7E51-CE67-5634-DC1EFD3BBBBA}"/>
              </a:ext>
            </a:extLst>
          </p:cNvPr>
          <p:cNvSpPr/>
          <p:nvPr/>
        </p:nvSpPr>
        <p:spPr>
          <a:xfrm>
            <a:off x="-246751" y="-220648"/>
            <a:ext cx="12685487" cy="7299296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50000"/>
                  <a:lumOff val="50000"/>
                </a:schemeClr>
              </a:gs>
              <a:gs pos="75000">
                <a:srgbClr val="122639"/>
              </a:gs>
              <a:gs pos="100000">
                <a:schemeClr val="tx1">
                  <a:lumMod val="95000"/>
                  <a:lumOff val="5000"/>
                </a:schemeClr>
              </a:gs>
              <a:gs pos="50000">
                <a:schemeClr val="tx2">
                  <a:lumMod val="90000"/>
                  <a:lumOff val="10000"/>
                </a:schemeClr>
              </a:gs>
            </a:gsLst>
            <a:lin ang="12000000" scaled="0"/>
            <a:tileRect/>
          </a:gra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8488237-7B93-E7AC-2BB0-7AC2438632EE}"/>
              </a:ext>
            </a:extLst>
          </p:cNvPr>
          <p:cNvSpPr txBox="1"/>
          <p:nvPr/>
        </p:nvSpPr>
        <p:spPr>
          <a:xfrm>
            <a:off x="651247" y="232100"/>
            <a:ext cx="10889495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Временные ряды: выводы</a:t>
            </a:r>
            <a:endParaRPr lang="ru-RU" sz="2000" dirty="0">
              <a:solidFill>
                <a:schemeClr val="bg1"/>
              </a:solidFill>
              <a:latin typeface="Arial Black" panose="020B0A040201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Дата 6">
            <a:extLst>
              <a:ext uri="{FF2B5EF4-FFF2-40B4-BE49-F238E27FC236}">
                <a16:creationId xmlns:a16="http://schemas.microsoft.com/office/drawing/2014/main" id="{5FCE7B98-87FD-7A88-1E44-8B516AB2C6E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280316" y="6284083"/>
            <a:ext cx="892634" cy="463875"/>
          </a:xfrm>
        </p:spPr>
        <p:txBody>
          <a:bodyPr/>
          <a:lstStyle/>
          <a:p>
            <a:pPr algn="ctr">
              <a:defRPr/>
            </a:pPr>
            <a:fld id="{D063FBCF-7873-4A49-B36C-1F912BB77786}" type="slidenum">
              <a:rPr lang="ru-RU" altLang="ru-RU" sz="2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ctr">
                <a:defRPr/>
              </a:pPr>
              <a:t>14</a:t>
            </a:fld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/13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A7669BB0-032E-7687-D900-31636983BFF6}"/>
              </a:ext>
            </a:extLst>
          </p:cNvPr>
          <p:cNvSpPr/>
          <p:nvPr/>
        </p:nvSpPr>
        <p:spPr>
          <a:xfrm>
            <a:off x="-476262" y="937951"/>
            <a:ext cx="13144512" cy="5201601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Дата 6">
            <a:extLst>
              <a:ext uri="{FF2B5EF4-FFF2-40B4-BE49-F238E27FC236}">
                <a16:creationId xmlns:a16="http://schemas.microsoft.com/office/drawing/2014/main" id="{23EC6828-AD25-419E-62DD-6376EEB9249E}"/>
              </a:ext>
            </a:extLst>
          </p:cNvPr>
          <p:cNvSpPr txBox="1">
            <a:spLocks/>
          </p:cNvSpPr>
          <p:nvPr/>
        </p:nvSpPr>
        <p:spPr>
          <a:xfrm>
            <a:off x="38100" y="6284084"/>
            <a:ext cx="7785187" cy="463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Курсовой проект «Поиск и первичный анализ наборов данных»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F2191D6-7459-E493-4C36-392A90073D29}"/>
              </a:ext>
            </a:extLst>
          </p:cNvPr>
          <p:cNvSpPr txBox="1"/>
          <p:nvPr/>
        </p:nvSpPr>
        <p:spPr>
          <a:xfrm>
            <a:off x="377364" y="1374335"/>
            <a:ext cx="11509836" cy="3739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ru-RU" sz="1600" b="1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Пригодность: </a:t>
            </a:r>
            <a:r>
              <a:rPr lang="ru-RU" sz="16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Данные полностью пригодны для задачи поиска аномалий в работе насосного оборудования. Пропуски в измерительных каналах отсутствуют, выбросы являются целевыми аномалиями и не подлежат удалению. Высокий показатель SNR (21.11 дБ — «Отлично») означает, что шум практически незаметен, данные чистые.</a:t>
            </a:r>
          </a:p>
          <a:p>
            <a:pPr>
              <a:lnSpc>
                <a:spcPct val="150000"/>
              </a:lnSpc>
            </a:pPr>
            <a:endParaRPr lang="ru-RU" sz="1600" b="1" i="0" dirty="0">
              <a:solidFill>
                <a:srgbClr val="F9FAFB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ru-RU" sz="1600" b="1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Рекомендации по предварительной обработке перед построением модели: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16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Применить стандартизацию (</a:t>
            </a:r>
            <a:r>
              <a:rPr lang="ru-RU" sz="1600" i="0" dirty="0" err="1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StandardScaler</a:t>
            </a:r>
            <a:r>
              <a:rPr lang="ru-RU" sz="16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) для приведения всех каналов к единому масштабу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16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Сохранить выбросы — это искомые аномалии (переходные режимы работы насоса)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16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Канал </a:t>
            </a:r>
            <a:r>
              <a:rPr lang="ru-RU" sz="1600" i="0" dirty="0" err="1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Pressure</a:t>
            </a:r>
            <a:r>
              <a:rPr lang="ru-RU" sz="16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сохранить как независимый признак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16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Сильно коррелирующие каналы (Accelerometer1RMS и Accelerometer2RMS, r = 0.996) сократить, оставив один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16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Использовать MAE вместо MSE — метрика устойчива к редким пиковым значениям</a:t>
            </a:r>
          </a:p>
        </p:txBody>
      </p:sp>
    </p:spTree>
    <p:extLst>
      <p:ext uri="{BB962C8B-B14F-4D97-AF65-F5344CB8AC3E}">
        <p14:creationId xmlns:p14="http://schemas.microsoft.com/office/powerpoint/2010/main" val="8303736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DEA1B-F651-A420-03C4-8FCD8FCA2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874BE533-842C-C5D4-AA07-D29EBF5AF993}"/>
              </a:ext>
            </a:extLst>
          </p:cNvPr>
          <p:cNvSpPr/>
          <p:nvPr/>
        </p:nvSpPr>
        <p:spPr>
          <a:xfrm>
            <a:off x="-246746" y="-220648"/>
            <a:ext cx="12685487" cy="7299296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50000"/>
                  <a:lumOff val="50000"/>
                </a:schemeClr>
              </a:gs>
              <a:gs pos="75000">
                <a:srgbClr val="122639"/>
              </a:gs>
              <a:gs pos="100000">
                <a:schemeClr val="tx1">
                  <a:lumMod val="95000"/>
                  <a:lumOff val="5000"/>
                </a:schemeClr>
              </a:gs>
              <a:gs pos="50000">
                <a:schemeClr val="tx2">
                  <a:lumMod val="90000"/>
                  <a:lumOff val="10000"/>
                </a:schemeClr>
              </a:gs>
            </a:gsLst>
            <a:lin ang="15000000" scaled="0"/>
            <a:tileRect/>
          </a:gra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29DA64B-7657-B2BC-9BC7-7BA6B2A2B96E}"/>
              </a:ext>
            </a:extLst>
          </p:cNvPr>
          <p:cNvSpPr txBox="1"/>
          <p:nvPr/>
        </p:nvSpPr>
        <p:spPr>
          <a:xfrm>
            <a:off x="335142" y="270199"/>
            <a:ext cx="11521703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Данные с изображениями: задача и описание данных</a:t>
            </a:r>
            <a:endParaRPr lang="ru-RU" sz="2000" dirty="0">
              <a:solidFill>
                <a:schemeClr val="bg1"/>
              </a:solidFill>
              <a:latin typeface="Arial Black" panose="020B0A040201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Дата 6">
            <a:extLst>
              <a:ext uri="{FF2B5EF4-FFF2-40B4-BE49-F238E27FC236}">
                <a16:creationId xmlns:a16="http://schemas.microsoft.com/office/drawing/2014/main" id="{FEA01F13-DC1A-0195-811D-B2307FA8891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280316" y="6284083"/>
            <a:ext cx="892634" cy="463875"/>
          </a:xfrm>
        </p:spPr>
        <p:txBody>
          <a:bodyPr/>
          <a:lstStyle/>
          <a:p>
            <a:pPr algn="ctr">
              <a:defRPr/>
            </a:pPr>
            <a:fld id="{D063FBCF-7873-4A49-B36C-1F912BB77786}" type="slidenum">
              <a:rPr lang="ru-RU" altLang="ru-RU" sz="2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ctr">
                <a:defRPr/>
              </a:pPr>
              <a:t>15</a:t>
            </a:fld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/13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03709602-D621-75E9-1286-6B4609C4CBC4}"/>
              </a:ext>
            </a:extLst>
          </p:cNvPr>
          <p:cNvSpPr/>
          <p:nvPr/>
        </p:nvSpPr>
        <p:spPr>
          <a:xfrm>
            <a:off x="-476262" y="937951"/>
            <a:ext cx="13144512" cy="5201601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Дата 6">
            <a:extLst>
              <a:ext uri="{FF2B5EF4-FFF2-40B4-BE49-F238E27FC236}">
                <a16:creationId xmlns:a16="http://schemas.microsoft.com/office/drawing/2014/main" id="{108A72F6-886E-C01B-2D6D-CF74E3F6E7C9}"/>
              </a:ext>
            </a:extLst>
          </p:cNvPr>
          <p:cNvSpPr txBox="1">
            <a:spLocks/>
          </p:cNvSpPr>
          <p:nvPr/>
        </p:nvSpPr>
        <p:spPr>
          <a:xfrm>
            <a:off x="38100" y="6284084"/>
            <a:ext cx="7785187" cy="463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Курсовой проект «Поиск и первичный анализ наборов данных»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5B7D828-E471-472B-1342-B0303AE2FE0E}"/>
              </a:ext>
            </a:extLst>
          </p:cNvPr>
          <p:cNvSpPr txBox="1"/>
          <p:nvPr/>
        </p:nvSpPr>
        <p:spPr>
          <a:xfrm>
            <a:off x="413651" y="981929"/>
            <a:ext cx="11364686" cy="51136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000" b="1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Задача: </a:t>
            </a: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Детекция помидоров на изображении и </a:t>
            </a:r>
          </a:p>
          <a:p>
            <a:pPr algn="just">
              <a:lnSpc>
                <a:spcPct val="150000"/>
              </a:lnSpc>
            </a:pP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классификация по двум признакам: размер (обычный/черри) </a:t>
            </a:r>
          </a:p>
          <a:p>
            <a:pPr algn="just">
              <a:lnSpc>
                <a:spcPct val="150000"/>
              </a:lnSpc>
            </a:pP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и стадия созревания (зелёный, </a:t>
            </a:r>
            <a:r>
              <a:rPr lang="ru-RU" sz="2000" i="0" dirty="0" err="1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полусозревший</a:t>
            </a: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созревший) </a:t>
            </a:r>
          </a:p>
          <a:p>
            <a:pPr algn="just">
              <a:lnSpc>
                <a:spcPct val="150000"/>
              </a:lnSpc>
            </a:pP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всего 6 классов</a:t>
            </a:r>
          </a:p>
          <a:p>
            <a:pPr algn="just">
              <a:lnSpc>
                <a:spcPct val="150000"/>
              </a:lnSpc>
            </a:pPr>
            <a:r>
              <a:rPr lang="ru-RU" sz="2000" b="1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Набор данных:</a:t>
            </a:r>
          </a:p>
          <a:p>
            <a:pPr marL="800100" lvl="1" indent="-342900" algn="just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Название, источник: Laboro Tomato, </a:t>
            </a:r>
            <a:r>
              <a:rPr lang="ru-RU" sz="2000" i="0" dirty="0" err="1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Kaggle</a:t>
            </a:r>
            <a:endParaRPr lang="ru-RU" sz="2000" i="0" dirty="0">
              <a:solidFill>
                <a:srgbClr val="F9FAFB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00100" lvl="1" indent="-342900" algn="just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URL: https://www.kaggle.com/datasets/nexuswho/laboro-tomato</a:t>
            </a:r>
          </a:p>
          <a:p>
            <a:pPr marL="800100" lvl="1" indent="-342900" algn="just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Автор: </a:t>
            </a:r>
            <a:r>
              <a:rPr lang="ru-RU" sz="2000" i="0" dirty="0" err="1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Karthik</a:t>
            </a: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2000" i="0" dirty="0" err="1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Vinayan</a:t>
            </a: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2023 г.</a:t>
            </a:r>
          </a:p>
          <a:p>
            <a:pPr marL="800100" lvl="1" indent="-342900" algn="just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Описание: цветные фотографии кустов томатов из теплицы</a:t>
            </a:r>
          </a:p>
          <a:p>
            <a:pPr marL="800100" lvl="1" indent="-342900" algn="just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Размерность: 804 изображения (643 </a:t>
            </a:r>
            <a:r>
              <a:rPr lang="ru-RU" sz="2000" i="0" dirty="0" err="1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train</a:t>
            </a: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/ 161 </a:t>
            </a:r>
            <a:r>
              <a:rPr lang="ru-RU" sz="2000" i="0" dirty="0" err="1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test</a:t>
            </a: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), 9 777 размеченных объектов</a:t>
            </a:r>
          </a:p>
          <a:p>
            <a:pPr marL="800100" lvl="1" indent="-342900" algn="just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200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Формат разметки: YOLO и COCO</a:t>
            </a:r>
          </a:p>
        </p:txBody>
      </p:sp>
      <p:pic>
        <p:nvPicPr>
          <p:cNvPr id="4" name="Рисунок 3" descr="Влияние гаджетов на сон">
            <a:extLst>
              <a:ext uri="{FF2B5EF4-FFF2-40B4-BE49-F238E27FC236}">
                <a16:creationId xmlns:a16="http://schemas.microsoft.com/office/drawing/2014/main" id="{F0F3C735-BD83-DC41-39CE-F6134631E7B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0000"/>
          </a:blip>
          <a:stretch>
            <a:fillRect/>
          </a:stretch>
        </p:blipFill>
        <p:spPr>
          <a:xfrm>
            <a:off x="8069943" y="981929"/>
            <a:ext cx="3598633" cy="2400886"/>
          </a:xfrm>
          <a:prstGeom prst="rect">
            <a:avLst/>
          </a:prstGeom>
          <a:effectLst>
            <a:softEdge rad="63500"/>
          </a:effectLst>
        </p:spPr>
      </p:pic>
    </p:spTree>
    <p:extLst>
      <p:ext uri="{BB962C8B-B14F-4D97-AF65-F5344CB8AC3E}">
        <p14:creationId xmlns:p14="http://schemas.microsoft.com/office/powerpoint/2010/main" val="31836171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596F0D-4697-1AB5-60B6-1BF073715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3637877C-7581-1222-A55F-EB7A6FD03574}"/>
              </a:ext>
            </a:extLst>
          </p:cNvPr>
          <p:cNvSpPr/>
          <p:nvPr/>
        </p:nvSpPr>
        <p:spPr>
          <a:xfrm>
            <a:off x="-246746" y="-220648"/>
            <a:ext cx="12685487" cy="7299296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50000"/>
                  <a:lumOff val="50000"/>
                </a:schemeClr>
              </a:gs>
              <a:gs pos="75000">
                <a:srgbClr val="122639"/>
              </a:gs>
              <a:gs pos="100000">
                <a:schemeClr val="tx1">
                  <a:lumMod val="95000"/>
                  <a:lumOff val="5000"/>
                </a:schemeClr>
              </a:gs>
              <a:gs pos="50000">
                <a:schemeClr val="tx2">
                  <a:lumMod val="90000"/>
                  <a:lumOff val="10000"/>
                </a:schemeClr>
              </a:gs>
            </a:gsLst>
            <a:lin ang="14400000" scaled="0"/>
            <a:tileRect/>
          </a:gra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C2B013-11F0-55D2-6A61-A5A9A831E8A3}"/>
              </a:ext>
            </a:extLst>
          </p:cNvPr>
          <p:cNvSpPr txBox="1"/>
          <p:nvPr/>
        </p:nvSpPr>
        <p:spPr>
          <a:xfrm>
            <a:off x="651247" y="232100"/>
            <a:ext cx="10889495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Данные с изображениями: атрибуты</a:t>
            </a:r>
          </a:p>
        </p:txBody>
      </p:sp>
      <p:sp>
        <p:nvSpPr>
          <p:cNvPr id="13" name="Дата 6">
            <a:extLst>
              <a:ext uri="{FF2B5EF4-FFF2-40B4-BE49-F238E27FC236}">
                <a16:creationId xmlns:a16="http://schemas.microsoft.com/office/drawing/2014/main" id="{910D87A7-98CB-13AA-2586-616E20EB0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280316" y="6284083"/>
            <a:ext cx="892634" cy="463875"/>
          </a:xfrm>
        </p:spPr>
        <p:txBody>
          <a:bodyPr/>
          <a:lstStyle/>
          <a:p>
            <a:pPr algn="ctr">
              <a:defRPr/>
            </a:pPr>
            <a:fld id="{D063FBCF-7873-4A49-B36C-1F912BB77786}" type="slidenum">
              <a:rPr lang="ru-RU" altLang="ru-RU" sz="2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ctr">
                <a:defRPr/>
              </a:pPr>
              <a:t>16</a:t>
            </a:fld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/13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F72BCBF8-8099-12BD-D31E-5F0E1AA01AC2}"/>
              </a:ext>
            </a:extLst>
          </p:cNvPr>
          <p:cNvSpPr/>
          <p:nvPr/>
        </p:nvSpPr>
        <p:spPr>
          <a:xfrm>
            <a:off x="-476262" y="937951"/>
            <a:ext cx="13144512" cy="5201601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Дата 6">
            <a:extLst>
              <a:ext uri="{FF2B5EF4-FFF2-40B4-BE49-F238E27FC236}">
                <a16:creationId xmlns:a16="http://schemas.microsoft.com/office/drawing/2014/main" id="{5FB31F9E-E399-8272-536A-C5069801B314}"/>
              </a:ext>
            </a:extLst>
          </p:cNvPr>
          <p:cNvSpPr txBox="1">
            <a:spLocks/>
          </p:cNvSpPr>
          <p:nvPr/>
        </p:nvSpPr>
        <p:spPr>
          <a:xfrm>
            <a:off x="38100" y="6284084"/>
            <a:ext cx="7785187" cy="463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Курсовой проект «Поиск и первичный анализ наборов данных»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8" name="Таблица 7">
            <a:extLst>
              <a:ext uri="{FF2B5EF4-FFF2-40B4-BE49-F238E27FC236}">
                <a16:creationId xmlns:a16="http://schemas.microsoft.com/office/drawing/2014/main" id="{C05B4A95-6853-569B-D852-BC1EB2A27C03}"/>
              </a:ext>
            </a:extLst>
          </p:cNvPr>
          <p:cNvGraphicFramePr>
            <a:graphicFrameLocks noGrp="1"/>
          </p:cNvGraphicFramePr>
          <p:nvPr/>
        </p:nvGraphicFramePr>
        <p:xfrm>
          <a:off x="393713" y="948802"/>
          <a:ext cx="5585899" cy="5190749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0756">
                  <a:extLst>
                    <a:ext uri="{9D8B030D-6E8A-4147-A177-3AD203B41FA5}">
                      <a16:colId xmlns:a16="http://schemas.microsoft.com/office/drawing/2014/main" val="1015900073"/>
                    </a:ext>
                  </a:extLst>
                </a:gridCol>
                <a:gridCol w="1048931">
                  <a:extLst>
                    <a:ext uri="{9D8B030D-6E8A-4147-A177-3AD203B41FA5}">
                      <a16:colId xmlns:a16="http://schemas.microsoft.com/office/drawing/2014/main" val="452573460"/>
                    </a:ext>
                  </a:extLst>
                </a:gridCol>
                <a:gridCol w="1447800">
                  <a:extLst>
                    <a:ext uri="{9D8B030D-6E8A-4147-A177-3AD203B41FA5}">
                      <a16:colId xmlns:a16="http://schemas.microsoft.com/office/drawing/2014/main" val="2242938945"/>
                    </a:ext>
                  </a:extLst>
                </a:gridCol>
                <a:gridCol w="1460500">
                  <a:extLst>
                    <a:ext uri="{9D8B030D-6E8A-4147-A177-3AD203B41FA5}">
                      <a16:colId xmlns:a16="http://schemas.microsoft.com/office/drawing/2014/main" val="3697788141"/>
                    </a:ext>
                  </a:extLst>
                </a:gridCol>
                <a:gridCol w="1267912">
                  <a:extLst>
                    <a:ext uri="{9D8B030D-6E8A-4147-A177-3AD203B41FA5}">
                      <a16:colId xmlns:a16="http://schemas.microsoft.com/office/drawing/2014/main" val="138882774"/>
                    </a:ext>
                  </a:extLst>
                </a:gridCol>
              </a:tblGrid>
              <a:tr h="670179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№</a:t>
                      </a:r>
                    </a:p>
                  </a:txBody>
                  <a:tcPr marR="152400" marT="95250" marB="9525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Название</a:t>
                      </a:r>
                    </a:p>
                  </a:txBody>
                  <a:tcPr marL="152400" marR="152400" marT="95250" marB="9525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Семантика</a:t>
                      </a:r>
                    </a:p>
                  </a:txBody>
                  <a:tcPr marL="152400" marR="152400" marT="95250" marB="9525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Тип</a:t>
                      </a:r>
                    </a:p>
                  </a:txBody>
                  <a:tcPr marL="152400" marR="152400" marT="95250" marB="9525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Допустимые значения</a:t>
                      </a:r>
                    </a:p>
                  </a:txBody>
                  <a:tcPr marL="152400" marR="152400" marT="95250" marB="9525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5554565"/>
                  </a:ext>
                </a:extLst>
              </a:tr>
              <a:tr h="670179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R="152400" marT="95250" marB="9525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user_id</a:t>
                      </a:r>
                      <a:endParaRPr lang="ru-RU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400" marR="152400" marT="95250" marB="9525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Уникальный идентификатор</a:t>
                      </a:r>
                    </a:p>
                  </a:txBody>
                  <a:tcPr marL="152400" marR="152400" marT="95250" marB="9525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числовой</a:t>
                      </a:r>
                    </a:p>
                  </a:txBody>
                  <a:tcPr marL="152400" marR="152400" marT="95250" marB="9525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1–15 000</a:t>
                      </a:r>
                    </a:p>
                  </a:txBody>
                  <a:tcPr marL="152400" marT="95250" marB="9525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06226786"/>
                  </a:ext>
                </a:extLst>
              </a:tr>
              <a:tr h="420431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age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Возраст (лет)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числовой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18–59</a:t>
                      </a:r>
                    </a:p>
                  </a:txBody>
                  <a:tcPr marL="152400" marT="95250" marB="9525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268196"/>
                  </a:ext>
                </a:extLst>
              </a:tr>
              <a:tr h="670179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gender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Пол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категориальный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Female</a:t>
                      </a: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</a:t>
                      </a:r>
                      <a:r>
                        <a:rPr lang="ru-RU" sz="12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Male</a:t>
                      </a: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</a:t>
                      </a:r>
                      <a:r>
                        <a:rPr lang="ru-RU" sz="12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Other</a:t>
                      </a:r>
                      <a:endParaRPr lang="ru-RU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400" marT="95250" marB="9525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4573889"/>
                  </a:ext>
                </a:extLst>
              </a:tr>
              <a:tr h="670179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occupation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Профессия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категориальный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 значений</a:t>
                      </a:r>
                    </a:p>
                  </a:txBody>
                  <a:tcPr marL="152400" marT="95250" marB="9525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42517128"/>
                  </a:ext>
                </a:extLst>
              </a:tr>
              <a:tr h="919927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</a:t>
                      </a:r>
                    </a:p>
                  </a:txBody>
                  <a:tcPr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daily_screen_time</a:t>
                      </a: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_ </a:t>
                      </a:r>
                      <a:r>
                        <a:rPr lang="ru-RU" sz="12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hours</a:t>
                      </a:r>
                      <a:endParaRPr lang="ru-RU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Экранное время (ч)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числовой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1–10</a:t>
                      </a:r>
                    </a:p>
                  </a:txBody>
                  <a:tcPr marL="152400" marT="95250" marB="9525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8698193"/>
                  </a:ext>
                </a:extLst>
              </a:tr>
              <a:tr h="1169675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</a:t>
                      </a:r>
                    </a:p>
                  </a:txBody>
                  <a:tcPr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phone_usage_before_sleep</a:t>
                      </a: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_ </a:t>
                      </a:r>
                      <a:r>
                        <a:rPr lang="ru-RU" sz="12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minutes</a:t>
                      </a:r>
                      <a:endParaRPr lang="ru-RU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Телефон перед сном (мин)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числовой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0–119</a:t>
                      </a:r>
                    </a:p>
                  </a:txBody>
                  <a:tcPr marL="152400" marT="95250" marB="9525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32022475"/>
                  </a:ext>
                </a:extLst>
              </a:tr>
            </a:tbl>
          </a:graphicData>
        </a:graphic>
      </p:graphicFrame>
      <p:graphicFrame>
        <p:nvGraphicFramePr>
          <p:cNvPr id="9" name="Таблица 8">
            <a:extLst>
              <a:ext uri="{FF2B5EF4-FFF2-40B4-BE49-F238E27FC236}">
                <a16:creationId xmlns:a16="http://schemas.microsoft.com/office/drawing/2014/main" id="{16B1C621-A14A-9A96-69EE-14BD89D269B4}"/>
              </a:ext>
            </a:extLst>
          </p:cNvPr>
          <p:cNvGraphicFramePr>
            <a:graphicFrameLocks noGrp="1"/>
          </p:cNvGraphicFramePr>
          <p:nvPr/>
        </p:nvGraphicFramePr>
        <p:xfrm>
          <a:off x="6209121" y="948803"/>
          <a:ext cx="5651500" cy="520160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44500">
                  <a:extLst>
                    <a:ext uri="{9D8B030D-6E8A-4147-A177-3AD203B41FA5}">
                      <a16:colId xmlns:a16="http://schemas.microsoft.com/office/drawing/2014/main" val="586533814"/>
                    </a:ext>
                  </a:extLst>
                </a:gridCol>
                <a:gridCol w="1212850">
                  <a:extLst>
                    <a:ext uri="{9D8B030D-6E8A-4147-A177-3AD203B41FA5}">
                      <a16:colId xmlns:a16="http://schemas.microsoft.com/office/drawing/2014/main" val="3895204415"/>
                    </a:ext>
                  </a:extLst>
                </a:gridCol>
                <a:gridCol w="2001429">
                  <a:extLst>
                    <a:ext uri="{9D8B030D-6E8A-4147-A177-3AD203B41FA5}">
                      <a16:colId xmlns:a16="http://schemas.microsoft.com/office/drawing/2014/main" val="4246933073"/>
                    </a:ext>
                  </a:extLst>
                </a:gridCol>
                <a:gridCol w="1040221">
                  <a:extLst>
                    <a:ext uri="{9D8B030D-6E8A-4147-A177-3AD203B41FA5}">
                      <a16:colId xmlns:a16="http://schemas.microsoft.com/office/drawing/2014/main" val="4117556164"/>
                    </a:ext>
                  </a:extLst>
                </a:gridCol>
                <a:gridCol w="952500">
                  <a:extLst>
                    <a:ext uri="{9D8B030D-6E8A-4147-A177-3AD203B41FA5}">
                      <a16:colId xmlns:a16="http://schemas.microsoft.com/office/drawing/2014/main" val="4035850811"/>
                    </a:ext>
                  </a:extLst>
                </a:gridCol>
              </a:tblGrid>
              <a:tr h="671155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</a:t>
                      </a: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sleep_duration_hours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Длительность сна (ч)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числовой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4–9</a:t>
                      </a:r>
                    </a:p>
                  </a:txBody>
                  <a:tcPr marL="152400" marT="95250" marB="9525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01802282"/>
                  </a:ext>
                </a:extLst>
              </a:tr>
              <a:tr h="671155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</a:t>
                      </a:r>
                    </a:p>
                  </a:txBody>
                  <a:tcPr marR="152400" marT="95250" marB="95250" anchor="ctr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sleep_quality_score</a:t>
                      </a:r>
                    </a:p>
                  </a:txBody>
                  <a:tcPr marL="152400" marR="152400" marT="95250" marB="95250" anchor="ctr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Качество сна (1–10)</a:t>
                      </a:r>
                    </a:p>
                  </a:txBody>
                  <a:tcPr marL="152400" marR="152400" marT="95250" marB="95250" anchor="ctr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целевой</a:t>
                      </a:r>
                    </a:p>
                  </a:txBody>
                  <a:tcPr marL="152400" marR="152400" marT="95250" marB="95250" anchor="ctr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1–10</a:t>
                      </a:r>
                    </a:p>
                  </a:txBody>
                  <a:tcPr marL="152400" marT="95250" marB="95250" anchor="ctr"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7519303"/>
                  </a:ext>
                </a:extLst>
              </a:tr>
              <a:tr h="421043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9</a:t>
                      </a:r>
                    </a:p>
                  </a:txBody>
                  <a:tcPr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stress_level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Уровень стресса (1–10)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целевой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1–10</a:t>
                      </a:r>
                    </a:p>
                  </a:txBody>
                  <a:tcPr marL="152400" marT="95250" marB="9525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34397231"/>
                  </a:ext>
                </a:extLst>
              </a:tr>
              <a:tr h="671155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</a:t>
                      </a:r>
                    </a:p>
                  </a:txBody>
                  <a:tcPr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caffeine_intake_cups</a:t>
                      </a:r>
                      <a:endParaRPr lang="ru-RU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Кофеин (чашек/день)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числовой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0–4</a:t>
                      </a:r>
                    </a:p>
                  </a:txBody>
                  <a:tcPr marL="152400" marT="95250" marB="9525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1077848"/>
                  </a:ext>
                </a:extLst>
              </a:tr>
              <a:tr h="671155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11</a:t>
                      </a:r>
                    </a:p>
                  </a:txBody>
                  <a:tcPr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physical_activity_minutes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Физ. активность (мин)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числовой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0–119</a:t>
                      </a:r>
                    </a:p>
                  </a:txBody>
                  <a:tcPr marL="152400" marT="95250" marB="9525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4439064"/>
                  </a:ext>
                </a:extLst>
              </a:tr>
              <a:tr h="921266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</a:t>
                      </a:r>
                    </a:p>
                  </a:txBody>
                  <a:tcPr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notifications_received_per_day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Уведомлений/день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числовой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20–299</a:t>
                      </a:r>
                    </a:p>
                  </a:txBody>
                  <a:tcPr marL="152400" marT="95250" marB="9525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99281645"/>
                  </a:ext>
                </a:extLst>
              </a:tr>
              <a:tr h="1174673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13</a:t>
                      </a:r>
                    </a:p>
                  </a:txBody>
                  <a:tcPr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mental_fatigue_score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Умственная усталость (1–10)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целевой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1–10</a:t>
                      </a:r>
                    </a:p>
                  </a:txBody>
                  <a:tcPr marL="152400" marT="95250" marB="9525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2423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522084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FC974D-CB0F-3EB1-11F9-A04332C06B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CAF1F676-EC26-474C-F775-4E5C56EBC64F}"/>
              </a:ext>
            </a:extLst>
          </p:cNvPr>
          <p:cNvSpPr/>
          <p:nvPr/>
        </p:nvSpPr>
        <p:spPr>
          <a:xfrm>
            <a:off x="-246746" y="-220648"/>
            <a:ext cx="12685487" cy="7299296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50000"/>
                  <a:lumOff val="50000"/>
                </a:schemeClr>
              </a:gs>
              <a:gs pos="75000">
                <a:srgbClr val="122639"/>
              </a:gs>
              <a:gs pos="100000">
                <a:schemeClr val="tx1">
                  <a:lumMod val="95000"/>
                  <a:lumOff val="5000"/>
                </a:schemeClr>
              </a:gs>
              <a:gs pos="50000">
                <a:schemeClr val="tx2">
                  <a:lumMod val="90000"/>
                  <a:lumOff val="10000"/>
                </a:schemeClr>
              </a:gs>
            </a:gsLst>
            <a:lin ang="13800000" scaled="0"/>
            <a:tileRect/>
          </a:gra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579722F6-47F5-2FBC-B82D-9ECD07B5763A}"/>
              </a:ext>
            </a:extLst>
          </p:cNvPr>
          <p:cNvSpPr/>
          <p:nvPr/>
        </p:nvSpPr>
        <p:spPr>
          <a:xfrm>
            <a:off x="-246746" y="-220648"/>
            <a:ext cx="12685487" cy="1312847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75000"/>
                  <a:lumOff val="25000"/>
                </a:schemeClr>
              </a:gs>
              <a:gs pos="75000">
                <a:srgbClr val="122639"/>
              </a:gs>
              <a:gs pos="100000">
                <a:schemeClr val="tx1">
                  <a:lumMod val="95000"/>
                  <a:lumOff val="5000"/>
                </a:schemeClr>
              </a:gs>
              <a:gs pos="43000">
                <a:schemeClr val="tx2">
                  <a:lumMod val="90000"/>
                  <a:lumOff val="10000"/>
                </a:schemeClr>
              </a:gs>
            </a:gsLst>
            <a:lin ang="13200000" scaled="0"/>
            <a:tileRect/>
          </a:gra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B20305-C1A8-D947-E8DE-FA26AD2F3AF6}"/>
              </a:ext>
            </a:extLst>
          </p:cNvPr>
          <p:cNvSpPr txBox="1"/>
          <p:nvPr/>
        </p:nvSpPr>
        <p:spPr>
          <a:xfrm>
            <a:off x="651247" y="232100"/>
            <a:ext cx="10889495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Данные с изображениями: пример</a:t>
            </a:r>
            <a:endParaRPr lang="ru-RU" sz="2000" dirty="0">
              <a:solidFill>
                <a:schemeClr val="bg1"/>
              </a:solidFill>
              <a:latin typeface="Arial Black" panose="020B0A040201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Дата 6">
            <a:extLst>
              <a:ext uri="{FF2B5EF4-FFF2-40B4-BE49-F238E27FC236}">
                <a16:creationId xmlns:a16="http://schemas.microsoft.com/office/drawing/2014/main" id="{288E0511-B5F4-7B2C-DD63-CDB2DD9C6B5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280316" y="6284083"/>
            <a:ext cx="892634" cy="463875"/>
          </a:xfrm>
        </p:spPr>
        <p:txBody>
          <a:bodyPr/>
          <a:lstStyle/>
          <a:p>
            <a:pPr algn="ctr">
              <a:defRPr/>
            </a:pPr>
            <a:fld id="{D063FBCF-7873-4A49-B36C-1F912BB77786}" type="slidenum">
              <a:rPr lang="ru-RU" altLang="ru-RU" sz="2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ctr">
                <a:defRPr/>
              </a:pPr>
              <a:t>17</a:t>
            </a:fld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/13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D47E6212-108E-0879-2C15-DB45B6275C64}"/>
              </a:ext>
            </a:extLst>
          </p:cNvPr>
          <p:cNvSpPr/>
          <p:nvPr/>
        </p:nvSpPr>
        <p:spPr>
          <a:xfrm>
            <a:off x="-476262" y="937951"/>
            <a:ext cx="13144512" cy="5201601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Дата 6">
            <a:extLst>
              <a:ext uri="{FF2B5EF4-FFF2-40B4-BE49-F238E27FC236}">
                <a16:creationId xmlns:a16="http://schemas.microsoft.com/office/drawing/2014/main" id="{1B0C7A4C-9923-B8E1-894D-CAD3C798F2F4}"/>
              </a:ext>
            </a:extLst>
          </p:cNvPr>
          <p:cNvSpPr txBox="1">
            <a:spLocks/>
          </p:cNvSpPr>
          <p:nvPr/>
        </p:nvSpPr>
        <p:spPr>
          <a:xfrm>
            <a:off x="38100" y="6284084"/>
            <a:ext cx="7785187" cy="463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Курсовой проект «Поиск и первичный анализ наборов данных»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8" name="Таблица 7">
            <a:extLst>
              <a:ext uri="{FF2B5EF4-FFF2-40B4-BE49-F238E27FC236}">
                <a16:creationId xmlns:a16="http://schemas.microsoft.com/office/drawing/2014/main" id="{26907DF2-1EC8-6F67-9F99-6549E75F2EA5}"/>
              </a:ext>
            </a:extLst>
          </p:cNvPr>
          <p:cNvGraphicFramePr>
            <a:graphicFrameLocks noGrp="1"/>
          </p:cNvGraphicFramePr>
          <p:nvPr/>
        </p:nvGraphicFramePr>
        <p:xfrm>
          <a:off x="336636" y="1444989"/>
          <a:ext cx="11518716" cy="41875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5065">
                  <a:extLst>
                    <a:ext uri="{9D8B030D-6E8A-4147-A177-3AD203B41FA5}">
                      <a16:colId xmlns:a16="http://schemas.microsoft.com/office/drawing/2014/main" val="1569345488"/>
                    </a:ext>
                  </a:extLst>
                </a:gridCol>
                <a:gridCol w="624115">
                  <a:extLst>
                    <a:ext uri="{9D8B030D-6E8A-4147-A177-3AD203B41FA5}">
                      <a16:colId xmlns:a16="http://schemas.microsoft.com/office/drawing/2014/main" val="111735924"/>
                    </a:ext>
                  </a:extLst>
                </a:gridCol>
                <a:gridCol w="827314">
                  <a:extLst>
                    <a:ext uri="{9D8B030D-6E8A-4147-A177-3AD203B41FA5}">
                      <a16:colId xmlns:a16="http://schemas.microsoft.com/office/drawing/2014/main" val="286224351"/>
                    </a:ext>
                  </a:extLst>
                </a:gridCol>
                <a:gridCol w="1132114">
                  <a:extLst>
                    <a:ext uri="{9D8B030D-6E8A-4147-A177-3AD203B41FA5}">
                      <a16:colId xmlns:a16="http://schemas.microsoft.com/office/drawing/2014/main" val="4258581387"/>
                    </a:ext>
                  </a:extLst>
                </a:gridCol>
                <a:gridCol w="979657">
                  <a:extLst>
                    <a:ext uri="{9D8B030D-6E8A-4147-A177-3AD203B41FA5}">
                      <a16:colId xmlns:a16="http://schemas.microsoft.com/office/drawing/2014/main" val="2896454625"/>
                    </a:ext>
                  </a:extLst>
                </a:gridCol>
                <a:gridCol w="878172">
                  <a:extLst>
                    <a:ext uri="{9D8B030D-6E8A-4147-A177-3AD203B41FA5}">
                      <a16:colId xmlns:a16="http://schemas.microsoft.com/office/drawing/2014/main" val="1130887205"/>
                    </a:ext>
                  </a:extLst>
                </a:gridCol>
                <a:gridCol w="943428">
                  <a:extLst>
                    <a:ext uri="{9D8B030D-6E8A-4147-A177-3AD203B41FA5}">
                      <a16:colId xmlns:a16="http://schemas.microsoft.com/office/drawing/2014/main" val="3807391186"/>
                    </a:ext>
                  </a:extLst>
                </a:gridCol>
                <a:gridCol w="899886">
                  <a:extLst>
                    <a:ext uri="{9D8B030D-6E8A-4147-A177-3AD203B41FA5}">
                      <a16:colId xmlns:a16="http://schemas.microsoft.com/office/drawing/2014/main" val="304095080"/>
                    </a:ext>
                  </a:extLst>
                </a:gridCol>
                <a:gridCol w="754743">
                  <a:extLst>
                    <a:ext uri="{9D8B030D-6E8A-4147-A177-3AD203B41FA5}">
                      <a16:colId xmlns:a16="http://schemas.microsoft.com/office/drawing/2014/main" val="910461317"/>
                    </a:ext>
                  </a:extLst>
                </a:gridCol>
                <a:gridCol w="922337">
                  <a:extLst>
                    <a:ext uri="{9D8B030D-6E8A-4147-A177-3AD203B41FA5}">
                      <a16:colId xmlns:a16="http://schemas.microsoft.com/office/drawing/2014/main" val="3653009250"/>
                    </a:ext>
                  </a:extLst>
                </a:gridCol>
                <a:gridCol w="833892">
                  <a:extLst>
                    <a:ext uri="{9D8B030D-6E8A-4147-A177-3AD203B41FA5}">
                      <a16:colId xmlns:a16="http://schemas.microsoft.com/office/drawing/2014/main" val="2026676986"/>
                    </a:ext>
                  </a:extLst>
                </a:gridCol>
                <a:gridCol w="1248228">
                  <a:extLst>
                    <a:ext uri="{9D8B030D-6E8A-4147-A177-3AD203B41FA5}">
                      <a16:colId xmlns:a16="http://schemas.microsoft.com/office/drawing/2014/main" val="139242865"/>
                    </a:ext>
                  </a:extLst>
                </a:gridCol>
                <a:gridCol w="849765">
                  <a:extLst>
                    <a:ext uri="{9D8B030D-6E8A-4147-A177-3AD203B41FA5}">
                      <a16:colId xmlns:a16="http://schemas.microsoft.com/office/drawing/2014/main" val="883981109"/>
                    </a:ext>
                  </a:extLst>
                </a:gridCol>
              </a:tblGrid>
              <a:tr h="1019884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</a:t>
                      </a:r>
                      <a:r>
                        <a:rPr lang="ru-RU" sz="12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ser</a:t>
                      </a:r>
                      <a:r>
                        <a:rPr lang="ru-RU" sz="12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ru-RU" sz="12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id</a:t>
                      </a:r>
                      <a:endParaRPr lang="ru-RU" sz="1200" b="1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R="152400" marT="95250" marB="9525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age</a:t>
                      </a:r>
                    </a:p>
                  </a:txBody>
                  <a:tcPr marL="152400" marR="152400" marT="95250" marB="9525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gender</a:t>
                      </a:r>
                      <a:endParaRPr lang="ru-RU" sz="1200" b="1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400" marR="152400" marT="95250" marB="9525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occupation</a:t>
                      </a:r>
                      <a:endParaRPr lang="ru-RU" sz="1200" b="1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400" marR="152400" marT="95250" marB="9525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screen</a:t>
                      </a:r>
                      <a:r>
                        <a:rPr lang="ru-RU" sz="12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ru-RU" sz="12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time</a:t>
                      </a:r>
                      <a:endParaRPr lang="ru-RU" sz="1200" b="1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400" marR="152400" marT="95250" marB="9525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</a:t>
                      </a:r>
                      <a:r>
                        <a:rPr lang="ru-RU" sz="12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hone</a:t>
                      </a:r>
                      <a:r>
                        <a:rPr lang="ru-RU" sz="12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ru-RU" sz="12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before</a:t>
                      </a:r>
                      <a:r>
                        <a:rPr lang="ru-RU" sz="12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 </a:t>
                      </a:r>
                      <a:r>
                        <a:rPr lang="ru-RU" sz="12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sleep</a:t>
                      </a:r>
                      <a:endParaRPr lang="ru-RU" sz="1200" b="1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400" marR="152400" marT="95250" marB="9525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sleep</a:t>
                      </a:r>
                      <a:r>
                        <a:rPr lang="ru-RU" sz="12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ru-RU" sz="12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duration</a:t>
                      </a:r>
                      <a:r>
                        <a:rPr lang="ru-RU" sz="12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</a:p>
                  </a:txBody>
                  <a:tcPr marL="152400" marR="152400" marT="95250" marB="9525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</a:t>
                      </a:r>
                      <a:r>
                        <a:rPr lang="ru-RU" sz="12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leep</a:t>
                      </a:r>
                      <a:r>
                        <a:rPr lang="ru-RU" sz="12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ru-RU" sz="12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quality</a:t>
                      </a:r>
                      <a:endParaRPr lang="ru-RU" sz="1200" b="1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400" marR="152400" marT="95250" marB="9525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stress</a:t>
                      </a:r>
                      <a:r>
                        <a:rPr lang="ru-RU" sz="12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ru-RU" sz="12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level</a:t>
                      </a:r>
                      <a:endParaRPr lang="ru-RU" sz="1200" b="1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400" marR="152400" marT="95250" marB="9525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caffeine</a:t>
                      </a:r>
                      <a:endParaRPr lang="ru-RU" sz="1200" b="1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400" marR="152400" marT="95250" marB="9525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activity</a:t>
                      </a:r>
                      <a:endParaRPr lang="ru-RU" sz="1200" b="1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400" marR="152400" marT="95250" marB="9525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notifications</a:t>
                      </a:r>
                      <a:endParaRPr lang="ru-RU" sz="1200" b="1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400" marR="152400" marT="95250" marB="9525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mental</a:t>
                      </a:r>
                      <a:r>
                        <a:rPr lang="ru-RU" sz="12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ru-RU" sz="1200" b="1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fatigue</a:t>
                      </a:r>
                      <a:endParaRPr lang="ru-RU" sz="1200" b="1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400" marR="152400" marT="95250" marB="95250" anchor="ctr"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174507"/>
                  </a:ext>
                </a:extLst>
              </a:tr>
              <a:tr h="869870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R="152400" marT="95250" marB="9525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56</a:t>
                      </a:r>
                    </a:p>
                  </a:txBody>
                  <a:tcPr marL="152400" marR="152400" marT="95250" marB="9525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Female</a:t>
                      </a:r>
                    </a:p>
                  </a:txBody>
                  <a:tcPr marL="152400" marR="152400" marT="95250" marB="9525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 err="1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Designer</a:t>
                      </a:r>
                      <a:endParaRPr lang="ru-RU" sz="1200" b="0" dirty="0">
                        <a:solidFill>
                          <a:schemeClr val="bg1"/>
                        </a:solidFill>
                        <a:effectLst/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152400" marR="152400" marT="95250" marB="9525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3.26</a:t>
                      </a:r>
                    </a:p>
                  </a:txBody>
                  <a:tcPr marL="152400" marR="152400" marT="95250" marB="9525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86</a:t>
                      </a:r>
                    </a:p>
                  </a:txBody>
                  <a:tcPr marL="152400" marR="152400" marT="95250" marB="9525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5.31</a:t>
                      </a:r>
                    </a:p>
                  </a:txBody>
                  <a:tcPr marL="152400" marR="152400" marT="95250" marB="9525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7.72</a:t>
                      </a:r>
                    </a:p>
                  </a:txBody>
                  <a:tcPr marL="152400" marR="152400" marT="95250" marB="9525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3.49</a:t>
                      </a:r>
                    </a:p>
                  </a:txBody>
                  <a:tcPr marL="152400" marR="152400" marT="95250" marB="9525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</a:t>
                      </a:r>
                    </a:p>
                  </a:txBody>
                  <a:tcPr marL="152400" marR="152400" marT="95250" marB="9525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35</a:t>
                      </a:r>
                    </a:p>
                  </a:txBody>
                  <a:tcPr marL="152400" marR="152400" marT="95250" marB="9525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119</a:t>
                      </a:r>
                    </a:p>
                  </a:txBody>
                  <a:tcPr marL="152400" marR="152400" marT="95250" marB="9525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3.57</a:t>
                      </a:r>
                    </a:p>
                  </a:txBody>
                  <a:tcPr marL="152400" marT="95250" marB="95250" anchor="ctr"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1605181"/>
                  </a:ext>
                </a:extLst>
              </a:tr>
              <a:tr h="869870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23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Male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Engineer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7.50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45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6.80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2.15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8.20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60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200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8.90</a:t>
                      </a:r>
                    </a:p>
                  </a:txBody>
                  <a:tcPr marL="152400" marT="95250" marB="9525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7665481"/>
                  </a:ext>
                </a:extLst>
              </a:tr>
              <a:tr h="869870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41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Other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Teacher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5.10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120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7.00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5.00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5.60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80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150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5.40</a:t>
                      </a:r>
                    </a:p>
                  </a:txBody>
                  <a:tcPr marL="152400" marT="95250" marB="9525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81632463"/>
                  </a:ext>
                </a:extLst>
              </a:tr>
              <a:tr h="558030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...</a:t>
                      </a:r>
                    </a:p>
                  </a:txBody>
                  <a:tcPr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...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...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...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...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...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...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...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...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...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...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...</a:t>
                      </a:r>
                    </a:p>
                  </a:txBody>
                  <a:tcPr marL="152400" marR="152400" marT="95250" marB="9525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ru-RU" sz="1200" b="0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...</a:t>
                      </a:r>
                    </a:p>
                  </a:txBody>
                  <a:tcPr marL="152400" marT="95250" marB="9525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23632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271483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49D4EF-0A5A-D831-396E-567456D5A4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9E1DF535-0829-195E-9EAA-D2E0B9165EE1}"/>
              </a:ext>
            </a:extLst>
          </p:cNvPr>
          <p:cNvSpPr/>
          <p:nvPr/>
        </p:nvSpPr>
        <p:spPr>
          <a:xfrm>
            <a:off x="-227696" y="-220648"/>
            <a:ext cx="12685487" cy="7299296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50000"/>
                  <a:lumOff val="50000"/>
                </a:schemeClr>
              </a:gs>
              <a:gs pos="75000">
                <a:srgbClr val="122639"/>
              </a:gs>
              <a:gs pos="100000">
                <a:schemeClr val="tx1">
                  <a:lumMod val="95000"/>
                  <a:lumOff val="5000"/>
                </a:schemeClr>
              </a:gs>
              <a:gs pos="50000">
                <a:schemeClr val="tx2">
                  <a:lumMod val="90000"/>
                  <a:lumOff val="10000"/>
                </a:schemeClr>
              </a:gs>
            </a:gsLst>
            <a:lin ang="13200000" scaled="0"/>
            <a:tileRect/>
          </a:gra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100" name="Группа 99">
            <a:extLst>
              <a:ext uri="{FF2B5EF4-FFF2-40B4-BE49-F238E27FC236}">
                <a16:creationId xmlns:a16="http://schemas.microsoft.com/office/drawing/2014/main" id="{D2CEC20E-9E1E-32B4-12D5-7B7C0C8DD4D9}"/>
              </a:ext>
            </a:extLst>
          </p:cNvPr>
          <p:cNvGrpSpPr/>
          <p:nvPr/>
        </p:nvGrpSpPr>
        <p:grpSpPr>
          <a:xfrm>
            <a:off x="8379802" y="-1343198"/>
            <a:ext cx="4125183" cy="3903766"/>
            <a:chOff x="8597992" y="-1343198"/>
            <a:chExt cx="4125183" cy="3903766"/>
          </a:xfrm>
        </p:grpSpPr>
        <p:grpSp>
          <p:nvGrpSpPr>
            <p:cNvPr id="95" name="Группа 94">
              <a:extLst>
                <a:ext uri="{FF2B5EF4-FFF2-40B4-BE49-F238E27FC236}">
                  <a16:creationId xmlns:a16="http://schemas.microsoft.com/office/drawing/2014/main" id="{66B07BF0-236E-8DC7-A8FF-8799A3EEEFF6}"/>
                </a:ext>
              </a:extLst>
            </p:cNvPr>
            <p:cNvGrpSpPr/>
            <p:nvPr/>
          </p:nvGrpSpPr>
          <p:grpSpPr>
            <a:xfrm>
              <a:off x="8670670" y="-1343198"/>
              <a:ext cx="3903766" cy="3903766"/>
              <a:chOff x="8746731" y="-1343198"/>
              <a:chExt cx="3903766" cy="3903766"/>
            </a:xfrm>
          </p:grpSpPr>
          <p:grpSp>
            <p:nvGrpSpPr>
              <p:cNvPr id="63" name="Группа 62">
                <a:extLst>
                  <a:ext uri="{FF2B5EF4-FFF2-40B4-BE49-F238E27FC236}">
                    <a16:creationId xmlns:a16="http://schemas.microsoft.com/office/drawing/2014/main" id="{040A8F7F-FD74-3D8E-3D0E-90C3373244DB}"/>
                  </a:ext>
                </a:extLst>
              </p:cNvPr>
              <p:cNvGrpSpPr/>
              <p:nvPr/>
            </p:nvGrpSpPr>
            <p:grpSpPr>
              <a:xfrm>
                <a:off x="8746731" y="-1343198"/>
                <a:ext cx="3903766" cy="3903766"/>
                <a:chOff x="152400" y="1057655"/>
                <a:chExt cx="3903766" cy="3903766"/>
              </a:xfrm>
            </p:grpSpPr>
            <p:sp>
              <p:nvSpPr>
                <p:cNvPr id="64" name="Полилиния: фигура 63">
                  <a:extLst>
                    <a:ext uri="{FF2B5EF4-FFF2-40B4-BE49-F238E27FC236}">
                      <a16:creationId xmlns:a16="http://schemas.microsoft.com/office/drawing/2014/main" id="{4FAF5EED-AF50-F7D5-1D2D-47BD57DA8CAE}"/>
                    </a:ext>
                  </a:extLst>
                </p:cNvPr>
                <p:cNvSpPr/>
                <p:nvPr/>
              </p:nvSpPr>
              <p:spPr>
                <a:xfrm>
                  <a:off x="152400" y="1057655"/>
                  <a:ext cx="3903766" cy="3903766"/>
                </a:xfrm>
                <a:custGeom>
                  <a:avLst/>
                  <a:gdLst>
                    <a:gd name="csX0" fmla="*/ 2492829 w 4985658"/>
                    <a:gd name="csY0" fmla="*/ 1240972 h 4985658"/>
                    <a:gd name="csX1" fmla="*/ 1240972 w 4985658"/>
                    <a:gd name="csY1" fmla="*/ 2492829 h 4985658"/>
                    <a:gd name="csX2" fmla="*/ 2492829 w 4985658"/>
                    <a:gd name="csY2" fmla="*/ 3744686 h 4985658"/>
                    <a:gd name="csX3" fmla="*/ 3744686 w 4985658"/>
                    <a:gd name="csY3" fmla="*/ 2492829 h 4985658"/>
                    <a:gd name="csX4" fmla="*/ 2492829 w 4985658"/>
                    <a:gd name="csY4" fmla="*/ 1240972 h 4985658"/>
                    <a:gd name="csX5" fmla="*/ 2492829 w 4985658"/>
                    <a:gd name="csY5" fmla="*/ 0 h 4985658"/>
                    <a:gd name="csX6" fmla="*/ 4985658 w 4985658"/>
                    <a:gd name="csY6" fmla="*/ 2492829 h 4985658"/>
                    <a:gd name="csX7" fmla="*/ 2492829 w 4985658"/>
                    <a:gd name="csY7" fmla="*/ 4985658 h 4985658"/>
                    <a:gd name="csX8" fmla="*/ 0 w 4985658"/>
                    <a:gd name="csY8" fmla="*/ 2492829 h 4985658"/>
                    <a:gd name="csX9" fmla="*/ 2492829 w 4985658"/>
                    <a:gd name="csY9" fmla="*/ 0 h 498565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</a:cxnLst>
                  <a:rect l="l" t="t" r="r" b="b"/>
                  <a:pathLst>
                    <a:path w="4985658" h="4985658">
                      <a:moveTo>
                        <a:pt x="2492829" y="1240972"/>
                      </a:moveTo>
                      <a:cubicBezTo>
                        <a:pt x="1801447" y="1240972"/>
                        <a:pt x="1240972" y="1801447"/>
                        <a:pt x="1240972" y="2492829"/>
                      </a:cubicBezTo>
                      <a:cubicBezTo>
                        <a:pt x="1240972" y="3184211"/>
                        <a:pt x="1801447" y="3744686"/>
                        <a:pt x="2492829" y="3744686"/>
                      </a:cubicBezTo>
                      <a:cubicBezTo>
                        <a:pt x="3184211" y="3744686"/>
                        <a:pt x="3744686" y="3184211"/>
                        <a:pt x="3744686" y="2492829"/>
                      </a:cubicBezTo>
                      <a:cubicBezTo>
                        <a:pt x="3744686" y="1801447"/>
                        <a:pt x="3184211" y="1240972"/>
                        <a:pt x="2492829" y="1240972"/>
                      </a:cubicBezTo>
                      <a:close/>
                      <a:moveTo>
                        <a:pt x="2492829" y="0"/>
                      </a:moveTo>
                      <a:cubicBezTo>
                        <a:pt x="3869580" y="0"/>
                        <a:pt x="4985658" y="1116078"/>
                        <a:pt x="4985658" y="2492829"/>
                      </a:cubicBezTo>
                      <a:cubicBezTo>
                        <a:pt x="4985658" y="3869580"/>
                        <a:pt x="3869580" y="4985658"/>
                        <a:pt x="2492829" y="4985658"/>
                      </a:cubicBezTo>
                      <a:cubicBezTo>
                        <a:pt x="1116078" y="4985658"/>
                        <a:pt x="0" y="3869580"/>
                        <a:pt x="0" y="2492829"/>
                      </a:cubicBezTo>
                      <a:cubicBezTo>
                        <a:pt x="0" y="1116078"/>
                        <a:pt x="1116078" y="0"/>
                        <a:pt x="2492829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tx2">
                        <a:lumMod val="50000"/>
                        <a:lumOff val="50000"/>
                      </a:schemeClr>
                    </a:gs>
                    <a:gs pos="75000">
                      <a:srgbClr val="122639"/>
                    </a:gs>
                    <a:gs pos="100000">
                      <a:schemeClr val="tx1">
                        <a:lumMod val="95000"/>
                        <a:lumOff val="5000"/>
                      </a:schemeClr>
                    </a:gs>
                    <a:gs pos="44000">
                      <a:schemeClr val="tx2">
                        <a:lumMod val="90000"/>
                        <a:lumOff val="10000"/>
                      </a:schemeClr>
                    </a:gs>
                  </a:gsLst>
                  <a:lin ang="12600000" scaled="0"/>
                </a:gra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ru-RU" dirty="0"/>
                </a:p>
              </p:txBody>
            </p:sp>
            <p:grpSp>
              <p:nvGrpSpPr>
                <p:cNvPr id="65" name="Группа 64">
                  <a:extLst>
                    <a:ext uri="{FF2B5EF4-FFF2-40B4-BE49-F238E27FC236}">
                      <a16:creationId xmlns:a16="http://schemas.microsoft.com/office/drawing/2014/main" id="{3995EC99-F596-11B1-F046-12658D09C903}"/>
                    </a:ext>
                  </a:extLst>
                </p:cNvPr>
                <p:cNvGrpSpPr/>
                <p:nvPr/>
              </p:nvGrpSpPr>
              <p:grpSpPr>
                <a:xfrm>
                  <a:off x="3084486" y="2719153"/>
                  <a:ext cx="971680" cy="316024"/>
                  <a:chOff x="4387850" y="3027845"/>
                  <a:chExt cx="971680" cy="316024"/>
                </a:xfrm>
              </p:grpSpPr>
              <p:cxnSp>
                <p:nvCxnSpPr>
                  <p:cNvPr id="69" name="Прямая соединительная линия 68">
                    <a:extLst>
                      <a:ext uri="{FF2B5EF4-FFF2-40B4-BE49-F238E27FC236}">
                        <a16:creationId xmlns:a16="http://schemas.microsoft.com/office/drawing/2014/main" id="{3ACCE01D-F2CA-FD32-D09F-1177B2DE56B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387850" y="3027845"/>
                    <a:ext cx="481039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0" name="Прямая соединительная линия 69">
                    <a:extLst>
                      <a:ext uri="{FF2B5EF4-FFF2-40B4-BE49-F238E27FC236}">
                        <a16:creationId xmlns:a16="http://schemas.microsoft.com/office/drawing/2014/main" id="{3DEA6CEB-2A2D-D92D-98FA-D3DE5F9CE02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4868889" y="3027845"/>
                    <a:ext cx="490641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6" name="Группа 65">
                  <a:extLst>
                    <a:ext uri="{FF2B5EF4-FFF2-40B4-BE49-F238E27FC236}">
                      <a16:creationId xmlns:a16="http://schemas.microsoft.com/office/drawing/2014/main" id="{1B5C1849-9B3F-FEAB-F301-702F660767F8}"/>
                    </a:ext>
                  </a:extLst>
                </p:cNvPr>
                <p:cNvGrpSpPr/>
                <p:nvPr/>
              </p:nvGrpSpPr>
              <p:grpSpPr>
                <a:xfrm rot="10800000">
                  <a:off x="152400" y="3035177"/>
                  <a:ext cx="971680" cy="316024"/>
                  <a:chOff x="4387850" y="3027845"/>
                  <a:chExt cx="971680" cy="316024"/>
                </a:xfrm>
              </p:grpSpPr>
              <p:cxnSp>
                <p:nvCxnSpPr>
                  <p:cNvPr id="67" name="Прямая соединительная линия 66">
                    <a:extLst>
                      <a:ext uri="{FF2B5EF4-FFF2-40B4-BE49-F238E27FC236}">
                        <a16:creationId xmlns:a16="http://schemas.microsoft.com/office/drawing/2014/main" id="{889697D4-7A97-F828-5AD4-C78C0B644F5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387850" y="3027845"/>
                    <a:ext cx="481039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8" name="Прямая соединительная линия 67">
                    <a:extLst>
                      <a:ext uri="{FF2B5EF4-FFF2-40B4-BE49-F238E27FC236}">
                        <a16:creationId xmlns:a16="http://schemas.microsoft.com/office/drawing/2014/main" id="{4173EFB3-F474-ED48-1DB3-B0254E2C5C1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4868889" y="3027845"/>
                    <a:ext cx="490641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4CCA476D-7B64-32D4-0213-15AAA31992E0}"/>
                  </a:ext>
                </a:extLst>
              </p:cNvPr>
              <p:cNvSpPr txBox="1"/>
              <p:nvPr/>
            </p:nvSpPr>
            <p:spPr>
              <a:xfrm>
                <a:off x="9256187" y="1628588"/>
                <a:ext cx="2960914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Шаг 3. Проверка</a:t>
                </a:r>
              </a:p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на диапазоны </a:t>
                </a:r>
              </a:p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значений</a:t>
                </a:r>
              </a:p>
            </p:txBody>
          </p:sp>
        </p:grp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D6011688-BD49-F417-1CC1-ECD6A3659BF7}"/>
                </a:ext>
              </a:extLst>
            </p:cNvPr>
            <p:cNvSpPr txBox="1"/>
            <p:nvPr/>
          </p:nvSpPr>
          <p:spPr>
            <a:xfrm rot="10800000">
              <a:off x="8597992" y="-1050811"/>
              <a:ext cx="4125183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ru-RU" sz="16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Шаг 6. Кодирование </a:t>
              </a:r>
            </a:p>
            <a:p>
              <a:pPr algn="ctr"/>
              <a:r>
                <a:rPr lang="ru-RU" sz="1600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категор</a:t>
              </a:r>
              <a:r>
                <a:rPr lang="ru-RU" sz="16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 атрибутов</a:t>
              </a:r>
            </a:p>
          </p:txBody>
        </p:sp>
      </p:grpSp>
      <p:grpSp>
        <p:nvGrpSpPr>
          <p:cNvPr id="99" name="Группа 98">
            <a:extLst>
              <a:ext uri="{FF2B5EF4-FFF2-40B4-BE49-F238E27FC236}">
                <a16:creationId xmlns:a16="http://schemas.microsoft.com/office/drawing/2014/main" id="{D8154802-57F1-F326-2E93-00D9800E20BE}"/>
              </a:ext>
            </a:extLst>
          </p:cNvPr>
          <p:cNvGrpSpPr/>
          <p:nvPr/>
        </p:nvGrpSpPr>
        <p:grpSpPr>
          <a:xfrm>
            <a:off x="4809846" y="-1343198"/>
            <a:ext cx="3922816" cy="3903766"/>
            <a:chOff x="5028036" y="-1343198"/>
            <a:chExt cx="3922816" cy="3903766"/>
          </a:xfrm>
        </p:grpSpPr>
        <p:grpSp>
          <p:nvGrpSpPr>
            <p:cNvPr id="89" name="Группа 88">
              <a:extLst>
                <a:ext uri="{FF2B5EF4-FFF2-40B4-BE49-F238E27FC236}">
                  <a16:creationId xmlns:a16="http://schemas.microsoft.com/office/drawing/2014/main" id="{B3E5FB36-D1F1-9461-2E59-AD5B5B19986F}"/>
                </a:ext>
              </a:extLst>
            </p:cNvPr>
            <p:cNvGrpSpPr/>
            <p:nvPr/>
          </p:nvGrpSpPr>
          <p:grpSpPr>
            <a:xfrm>
              <a:off x="5047086" y="-1343198"/>
              <a:ext cx="3903766" cy="3903766"/>
              <a:chOff x="5013346" y="-1343198"/>
              <a:chExt cx="3903766" cy="3903766"/>
            </a:xfrm>
          </p:grpSpPr>
          <p:grpSp>
            <p:nvGrpSpPr>
              <p:cNvPr id="55" name="Группа 54">
                <a:extLst>
                  <a:ext uri="{FF2B5EF4-FFF2-40B4-BE49-F238E27FC236}">
                    <a16:creationId xmlns:a16="http://schemas.microsoft.com/office/drawing/2014/main" id="{F0245843-961C-4CF1-35B1-D2AEA088ADE7}"/>
                  </a:ext>
                </a:extLst>
              </p:cNvPr>
              <p:cNvGrpSpPr/>
              <p:nvPr/>
            </p:nvGrpSpPr>
            <p:grpSpPr>
              <a:xfrm>
                <a:off x="5013346" y="-1343198"/>
                <a:ext cx="3903766" cy="3903766"/>
                <a:chOff x="152400" y="1057655"/>
                <a:chExt cx="3903766" cy="3903766"/>
              </a:xfrm>
            </p:grpSpPr>
            <p:sp>
              <p:nvSpPr>
                <p:cNvPr id="56" name="Полилиния: фигура 55">
                  <a:extLst>
                    <a:ext uri="{FF2B5EF4-FFF2-40B4-BE49-F238E27FC236}">
                      <a16:creationId xmlns:a16="http://schemas.microsoft.com/office/drawing/2014/main" id="{D340D5CC-ACE1-39C3-3AFC-986593F05E37}"/>
                    </a:ext>
                  </a:extLst>
                </p:cNvPr>
                <p:cNvSpPr/>
                <p:nvPr/>
              </p:nvSpPr>
              <p:spPr>
                <a:xfrm>
                  <a:off x="152400" y="1057655"/>
                  <a:ext cx="3903766" cy="3903766"/>
                </a:xfrm>
                <a:custGeom>
                  <a:avLst/>
                  <a:gdLst>
                    <a:gd name="csX0" fmla="*/ 2492829 w 4985658"/>
                    <a:gd name="csY0" fmla="*/ 1240972 h 4985658"/>
                    <a:gd name="csX1" fmla="*/ 1240972 w 4985658"/>
                    <a:gd name="csY1" fmla="*/ 2492829 h 4985658"/>
                    <a:gd name="csX2" fmla="*/ 2492829 w 4985658"/>
                    <a:gd name="csY2" fmla="*/ 3744686 h 4985658"/>
                    <a:gd name="csX3" fmla="*/ 3744686 w 4985658"/>
                    <a:gd name="csY3" fmla="*/ 2492829 h 4985658"/>
                    <a:gd name="csX4" fmla="*/ 2492829 w 4985658"/>
                    <a:gd name="csY4" fmla="*/ 1240972 h 4985658"/>
                    <a:gd name="csX5" fmla="*/ 2492829 w 4985658"/>
                    <a:gd name="csY5" fmla="*/ 0 h 4985658"/>
                    <a:gd name="csX6" fmla="*/ 4985658 w 4985658"/>
                    <a:gd name="csY6" fmla="*/ 2492829 h 4985658"/>
                    <a:gd name="csX7" fmla="*/ 2492829 w 4985658"/>
                    <a:gd name="csY7" fmla="*/ 4985658 h 4985658"/>
                    <a:gd name="csX8" fmla="*/ 0 w 4985658"/>
                    <a:gd name="csY8" fmla="*/ 2492829 h 4985658"/>
                    <a:gd name="csX9" fmla="*/ 2492829 w 4985658"/>
                    <a:gd name="csY9" fmla="*/ 0 h 498565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</a:cxnLst>
                  <a:rect l="l" t="t" r="r" b="b"/>
                  <a:pathLst>
                    <a:path w="4985658" h="4985658">
                      <a:moveTo>
                        <a:pt x="2492829" y="1240972"/>
                      </a:moveTo>
                      <a:cubicBezTo>
                        <a:pt x="1801447" y="1240972"/>
                        <a:pt x="1240972" y="1801447"/>
                        <a:pt x="1240972" y="2492829"/>
                      </a:cubicBezTo>
                      <a:cubicBezTo>
                        <a:pt x="1240972" y="3184211"/>
                        <a:pt x="1801447" y="3744686"/>
                        <a:pt x="2492829" y="3744686"/>
                      </a:cubicBezTo>
                      <a:cubicBezTo>
                        <a:pt x="3184211" y="3744686"/>
                        <a:pt x="3744686" y="3184211"/>
                        <a:pt x="3744686" y="2492829"/>
                      </a:cubicBezTo>
                      <a:cubicBezTo>
                        <a:pt x="3744686" y="1801447"/>
                        <a:pt x="3184211" y="1240972"/>
                        <a:pt x="2492829" y="1240972"/>
                      </a:cubicBezTo>
                      <a:close/>
                      <a:moveTo>
                        <a:pt x="2492829" y="0"/>
                      </a:moveTo>
                      <a:cubicBezTo>
                        <a:pt x="3869580" y="0"/>
                        <a:pt x="4985658" y="1116078"/>
                        <a:pt x="4985658" y="2492829"/>
                      </a:cubicBezTo>
                      <a:cubicBezTo>
                        <a:pt x="4985658" y="3869580"/>
                        <a:pt x="3869580" y="4985658"/>
                        <a:pt x="2492829" y="4985658"/>
                      </a:cubicBezTo>
                      <a:cubicBezTo>
                        <a:pt x="1116078" y="4985658"/>
                        <a:pt x="0" y="3869580"/>
                        <a:pt x="0" y="2492829"/>
                      </a:cubicBezTo>
                      <a:cubicBezTo>
                        <a:pt x="0" y="1116078"/>
                        <a:pt x="1116078" y="0"/>
                        <a:pt x="2492829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tx2">
                        <a:lumMod val="50000"/>
                        <a:lumOff val="50000"/>
                      </a:schemeClr>
                    </a:gs>
                    <a:gs pos="75000">
                      <a:srgbClr val="122639"/>
                    </a:gs>
                    <a:gs pos="100000">
                      <a:schemeClr val="tx1">
                        <a:lumMod val="95000"/>
                        <a:lumOff val="5000"/>
                      </a:schemeClr>
                    </a:gs>
                    <a:gs pos="44000">
                      <a:schemeClr val="tx2">
                        <a:lumMod val="90000"/>
                        <a:lumOff val="10000"/>
                      </a:schemeClr>
                    </a:gs>
                  </a:gsLst>
                  <a:lin ang="12600000" scaled="0"/>
                </a:gra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ru-RU" dirty="0"/>
                </a:p>
              </p:txBody>
            </p:sp>
            <p:grpSp>
              <p:nvGrpSpPr>
                <p:cNvPr id="57" name="Группа 56">
                  <a:extLst>
                    <a:ext uri="{FF2B5EF4-FFF2-40B4-BE49-F238E27FC236}">
                      <a16:creationId xmlns:a16="http://schemas.microsoft.com/office/drawing/2014/main" id="{5A9C368C-3354-CC3F-F6AE-C9E8693191EB}"/>
                    </a:ext>
                  </a:extLst>
                </p:cNvPr>
                <p:cNvGrpSpPr/>
                <p:nvPr/>
              </p:nvGrpSpPr>
              <p:grpSpPr>
                <a:xfrm>
                  <a:off x="3084486" y="2719153"/>
                  <a:ext cx="971680" cy="316024"/>
                  <a:chOff x="4387850" y="3027845"/>
                  <a:chExt cx="971680" cy="316024"/>
                </a:xfrm>
              </p:grpSpPr>
              <p:cxnSp>
                <p:nvCxnSpPr>
                  <p:cNvPr id="61" name="Прямая соединительная линия 60">
                    <a:extLst>
                      <a:ext uri="{FF2B5EF4-FFF2-40B4-BE49-F238E27FC236}">
                        <a16:creationId xmlns:a16="http://schemas.microsoft.com/office/drawing/2014/main" id="{6EE467A9-E44B-4A8A-9440-D85CB39E246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387850" y="3027845"/>
                    <a:ext cx="481039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Прямая соединительная линия 61">
                    <a:extLst>
                      <a:ext uri="{FF2B5EF4-FFF2-40B4-BE49-F238E27FC236}">
                        <a16:creationId xmlns:a16="http://schemas.microsoft.com/office/drawing/2014/main" id="{75DDC51D-3E22-9316-870D-15542D74AF7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4868889" y="3027845"/>
                    <a:ext cx="490641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8" name="Группа 57">
                  <a:extLst>
                    <a:ext uri="{FF2B5EF4-FFF2-40B4-BE49-F238E27FC236}">
                      <a16:creationId xmlns:a16="http://schemas.microsoft.com/office/drawing/2014/main" id="{F64ABB7A-B4B2-437F-3F4A-ED988F012433}"/>
                    </a:ext>
                  </a:extLst>
                </p:cNvPr>
                <p:cNvGrpSpPr/>
                <p:nvPr/>
              </p:nvGrpSpPr>
              <p:grpSpPr>
                <a:xfrm rot="10800000">
                  <a:off x="152400" y="3035177"/>
                  <a:ext cx="971680" cy="316024"/>
                  <a:chOff x="4387850" y="3027845"/>
                  <a:chExt cx="971680" cy="316024"/>
                </a:xfrm>
              </p:grpSpPr>
              <p:cxnSp>
                <p:nvCxnSpPr>
                  <p:cNvPr id="59" name="Прямая соединительная линия 58">
                    <a:extLst>
                      <a:ext uri="{FF2B5EF4-FFF2-40B4-BE49-F238E27FC236}">
                        <a16:creationId xmlns:a16="http://schemas.microsoft.com/office/drawing/2014/main" id="{4325C2CB-1D07-2DE7-ADFD-5D4CBEC5652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387850" y="3027845"/>
                    <a:ext cx="481039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0" name="Прямая соединительная линия 59">
                    <a:extLst>
                      <a:ext uri="{FF2B5EF4-FFF2-40B4-BE49-F238E27FC236}">
                        <a16:creationId xmlns:a16="http://schemas.microsoft.com/office/drawing/2014/main" id="{C91EA104-95EB-9B5F-F742-7C8040E4B3F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4868889" y="3027845"/>
                    <a:ext cx="490641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B680C5EE-4B7A-9934-D234-907D1E65F802}"/>
                  </a:ext>
                </a:extLst>
              </p:cNvPr>
              <p:cNvSpPr txBox="1"/>
              <p:nvPr/>
            </p:nvSpPr>
            <p:spPr>
              <a:xfrm>
                <a:off x="5013346" y="1623950"/>
                <a:ext cx="3903766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Шаг 2</a:t>
                </a:r>
              </a:p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Корреляционный </a:t>
                </a:r>
              </a:p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анализ</a:t>
                </a:r>
              </a:p>
            </p:txBody>
          </p:sp>
        </p:grp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4A373D10-B2B5-D3D2-F5C6-BE3A585E42AC}"/>
                </a:ext>
              </a:extLst>
            </p:cNvPr>
            <p:cNvSpPr txBox="1"/>
            <p:nvPr/>
          </p:nvSpPr>
          <p:spPr>
            <a:xfrm rot="10800000">
              <a:off x="5028036" y="-1025829"/>
              <a:ext cx="3903766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ru-RU" sz="16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Шаг 5. Распределения </a:t>
              </a:r>
            </a:p>
            <a:p>
              <a:pPr algn="ctr"/>
              <a:r>
                <a:rPr lang="ru-RU" sz="1600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категор</a:t>
              </a:r>
              <a:r>
                <a:rPr lang="ru-RU" sz="16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 атрибутов </a:t>
              </a:r>
            </a:p>
          </p:txBody>
        </p:sp>
      </p:grpSp>
      <p:grpSp>
        <p:nvGrpSpPr>
          <p:cNvPr id="86" name="Группа 85">
            <a:extLst>
              <a:ext uri="{FF2B5EF4-FFF2-40B4-BE49-F238E27FC236}">
                <a16:creationId xmlns:a16="http://schemas.microsoft.com/office/drawing/2014/main" id="{1BAA294E-3C74-B600-C953-AE930B97DDFF}"/>
              </a:ext>
            </a:extLst>
          </p:cNvPr>
          <p:cNvGrpSpPr/>
          <p:nvPr/>
        </p:nvGrpSpPr>
        <p:grpSpPr>
          <a:xfrm>
            <a:off x="1150960" y="-1343198"/>
            <a:ext cx="3903766" cy="3903766"/>
            <a:chOff x="1208423" y="-1343198"/>
            <a:chExt cx="3903766" cy="3903766"/>
          </a:xfrm>
        </p:grpSpPr>
        <p:grpSp>
          <p:nvGrpSpPr>
            <p:cNvPr id="54" name="Группа 53">
              <a:extLst>
                <a:ext uri="{FF2B5EF4-FFF2-40B4-BE49-F238E27FC236}">
                  <a16:creationId xmlns:a16="http://schemas.microsoft.com/office/drawing/2014/main" id="{E52A96D6-C09A-C6E0-652E-6CF02A19F513}"/>
                </a:ext>
              </a:extLst>
            </p:cNvPr>
            <p:cNvGrpSpPr/>
            <p:nvPr/>
          </p:nvGrpSpPr>
          <p:grpSpPr>
            <a:xfrm>
              <a:off x="1208423" y="-1343198"/>
              <a:ext cx="3903766" cy="3903766"/>
              <a:chOff x="152400" y="1057655"/>
              <a:chExt cx="3903766" cy="3903766"/>
            </a:xfrm>
          </p:grpSpPr>
          <p:sp>
            <p:nvSpPr>
              <p:cNvPr id="9" name="Полилиния: фигура 8">
                <a:extLst>
                  <a:ext uri="{FF2B5EF4-FFF2-40B4-BE49-F238E27FC236}">
                    <a16:creationId xmlns:a16="http://schemas.microsoft.com/office/drawing/2014/main" id="{9DE1FD03-99B5-944C-6D4E-55D189C3AE4A}"/>
                  </a:ext>
                </a:extLst>
              </p:cNvPr>
              <p:cNvSpPr/>
              <p:nvPr/>
            </p:nvSpPr>
            <p:spPr>
              <a:xfrm>
                <a:off x="152400" y="1057655"/>
                <a:ext cx="3903766" cy="3903766"/>
              </a:xfrm>
              <a:custGeom>
                <a:avLst/>
                <a:gdLst>
                  <a:gd name="csX0" fmla="*/ 2492829 w 4985658"/>
                  <a:gd name="csY0" fmla="*/ 1240972 h 4985658"/>
                  <a:gd name="csX1" fmla="*/ 1240972 w 4985658"/>
                  <a:gd name="csY1" fmla="*/ 2492829 h 4985658"/>
                  <a:gd name="csX2" fmla="*/ 2492829 w 4985658"/>
                  <a:gd name="csY2" fmla="*/ 3744686 h 4985658"/>
                  <a:gd name="csX3" fmla="*/ 3744686 w 4985658"/>
                  <a:gd name="csY3" fmla="*/ 2492829 h 4985658"/>
                  <a:gd name="csX4" fmla="*/ 2492829 w 4985658"/>
                  <a:gd name="csY4" fmla="*/ 1240972 h 4985658"/>
                  <a:gd name="csX5" fmla="*/ 2492829 w 4985658"/>
                  <a:gd name="csY5" fmla="*/ 0 h 4985658"/>
                  <a:gd name="csX6" fmla="*/ 4985658 w 4985658"/>
                  <a:gd name="csY6" fmla="*/ 2492829 h 4985658"/>
                  <a:gd name="csX7" fmla="*/ 2492829 w 4985658"/>
                  <a:gd name="csY7" fmla="*/ 4985658 h 4985658"/>
                  <a:gd name="csX8" fmla="*/ 0 w 4985658"/>
                  <a:gd name="csY8" fmla="*/ 2492829 h 4985658"/>
                  <a:gd name="csX9" fmla="*/ 2492829 w 4985658"/>
                  <a:gd name="csY9" fmla="*/ 0 h 498565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4985658" h="4985658">
                    <a:moveTo>
                      <a:pt x="2492829" y="1240972"/>
                    </a:moveTo>
                    <a:cubicBezTo>
                      <a:pt x="1801447" y="1240972"/>
                      <a:pt x="1240972" y="1801447"/>
                      <a:pt x="1240972" y="2492829"/>
                    </a:cubicBezTo>
                    <a:cubicBezTo>
                      <a:pt x="1240972" y="3184211"/>
                      <a:pt x="1801447" y="3744686"/>
                      <a:pt x="2492829" y="3744686"/>
                    </a:cubicBezTo>
                    <a:cubicBezTo>
                      <a:pt x="3184211" y="3744686"/>
                      <a:pt x="3744686" y="3184211"/>
                      <a:pt x="3744686" y="2492829"/>
                    </a:cubicBezTo>
                    <a:cubicBezTo>
                      <a:pt x="3744686" y="1801447"/>
                      <a:pt x="3184211" y="1240972"/>
                      <a:pt x="2492829" y="1240972"/>
                    </a:cubicBezTo>
                    <a:close/>
                    <a:moveTo>
                      <a:pt x="2492829" y="0"/>
                    </a:moveTo>
                    <a:cubicBezTo>
                      <a:pt x="3869580" y="0"/>
                      <a:pt x="4985658" y="1116078"/>
                      <a:pt x="4985658" y="2492829"/>
                    </a:cubicBezTo>
                    <a:cubicBezTo>
                      <a:pt x="4985658" y="3869580"/>
                      <a:pt x="3869580" y="4985658"/>
                      <a:pt x="2492829" y="4985658"/>
                    </a:cubicBezTo>
                    <a:cubicBezTo>
                      <a:pt x="1116078" y="4985658"/>
                      <a:pt x="0" y="3869580"/>
                      <a:pt x="0" y="2492829"/>
                    </a:cubicBezTo>
                    <a:cubicBezTo>
                      <a:pt x="0" y="1116078"/>
                      <a:pt x="1116078" y="0"/>
                      <a:pt x="2492829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tx2">
                      <a:lumMod val="50000"/>
                      <a:lumOff val="50000"/>
                    </a:schemeClr>
                  </a:gs>
                  <a:gs pos="75000">
                    <a:srgbClr val="122639"/>
                  </a:gs>
                  <a:gs pos="100000">
                    <a:schemeClr val="tx1">
                      <a:lumMod val="95000"/>
                      <a:lumOff val="5000"/>
                    </a:schemeClr>
                  </a:gs>
                  <a:gs pos="44000">
                    <a:schemeClr val="tx2">
                      <a:lumMod val="90000"/>
                      <a:lumOff val="10000"/>
                    </a:schemeClr>
                  </a:gs>
                </a:gsLst>
                <a:lin ang="12600000" scaled="0"/>
              </a:gra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ru-RU" dirty="0"/>
              </a:p>
            </p:txBody>
          </p:sp>
          <p:grpSp>
            <p:nvGrpSpPr>
              <p:cNvPr id="50" name="Группа 49">
                <a:extLst>
                  <a:ext uri="{FF2B5EF4-FFF2-40B4-BE49-F238E27FC236}">
                    <a16:creationId xmlns:a16="http://schemas.microsoft.com/office/drawing/2014/main" id="{AA27A328-6607-0D59-A6F4-90C134FA0D6E}"/>
                  </a:ext>
                </a:extLst>
              </p:cNvPr>
              <p:cNvGrpSpPr/>
              <p:nvPr/>
            </p:nvGrpSpPr>
            <p:grpSpPr>
              <a:xfrm>
                <a:off x="3084486" y="2719153"/>
                <a:ext cx="971680" cy="316024"/>
                <a:chOff x="4387850" y="3027845"/>
                <a:chExt cx="971680" cy="316024"/>
              </a:xfrm>
            </p:grpSpPr>
            <p:cxnSp>
              <p:nvCxnSpPr>
                <p:cNvPr id="15" name="Прямая соединительная линия 14">
                  <a:extLst>
                    <a:ext uri="{FF2B5EF4-FFF2-40B4-BE49-F238E27FC236}">
                      <a16:creationId xmlns:a16="http://schemas.microsoft.com/office/drawing/2014/main" id="{9209AC29-5B32-0654-05B3-6E75B3ECDD9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387850" y="3027845"/>
                  <a:ext cx="481039" cy="316024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Прямая соединительная линия 16">
                  <a:extLst>
                    <a:ext uri="{FF2B5EF4-FFF2-40B4-BE49-F238E27FC236}">
                      <a16:creationId xmlns:a16="http://schemas.microsoft.com/office/drawing/2014/main" id="{49C297FC-16D3-99C8-B3F6-AC9C14A3106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868889" y="3027845"/>
                  <a:ext cx="490641" cy="316024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1" name="Группа 50">
                <a:extLst>
                  <a:ext uri="{FF2B5EF4-FFF2-40B4-BE49-F238E27FC236}">
                    <a16:creationId xmlns:a16="http://schemas.microsoft.com/office/drawing/2014/main" id="{3D9E01DB-FF13-23F0-CA60-A36185170733}"/>
                  </a:ext>
                </a:extLst>
              </p:cNvPr>
              <p:cNvGrpSpPr/>
              <p:nvPr/>
            </p:nvGrpSpPr>
            <p:grpSpPr>
              <a:xfrm rot="10800000">
                <a:off x="152400" y="3035177"/>
                <a:ext cx="971680" cy="316024"/>
                <a:chOff x="4387850" y="3027845"/>
                <a:chExt cx="971680" cy="316024"/>
              </a:xfrm>
            </p:grpSpPr>
            <p:cxnSp>
              <p:nvCxnSpPr>
                <p:cNvPr id="52" name="Прямая соединительная линия 51">
                  <a:extLst>
                    <a:ext uri="{FF2B5EF4-FFF2-40B4-BE49-F238E27FC236}">
                      <a16:creationId xmlns:a16="http://schemas.microsoft.com/office/drawing/2014/main" id="{FEF7AA61-39F0-3BC5-2206-1AB9B097A2A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387850" y="3027845"/>
                  <a:ext cx="481039" cy="316024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Прямая соединительная линия 52">
                  <a:extLst>
                    <a:ext uri="{FF2B5EF4-FFF2-40B4-BE49-F238E27FC236}">
                      <a16:creationId xmlns:a16="http://schemas.microsoft.com/office/drawing/2014/main" id="{F424CB05-90EE-FBAB-E1A5-FF6D17B4B59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868889" y="3027845"/>
                  <a:ext cx="490641" cy="316024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85" name="Группа 84">
              <a:extLst>
                <a:ext uri="{FF2B5EF4-FFF2-40B4-BE49-F238E27FC236}">
                  <a16:creationId xmlns:a16="http://schemas.microsoft.com/office/drawing/2014/main" id="{80C96D96-946B-9B53-4196-A4E2BC4C8AB4}"/>
                </a:ext>
              </a:extLst>
            </p:cNvPr>
            <p:cNvGrpSpPr/>
            <p:nvPr/>
          </p:nvGrpSpPr>
          <p:grpSpPr>
            <a:xfrm rot="10800000">
              <a:off x="1757182" y="-1002650"/>
              <a:ext cx="2806248" cy="3224868"/>
              <a:chOff x="1757182" y="-971872"/>
              <a:chExt cx="2806248" cy="3224868"/>
            </a:xfrm>
          </p:grpSpPr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CE5A0E5A-32C7-4BAC-65FF-9545FB922B9D}"/>
                  </a:ext>
                </a:extLst>
              </p:cNvPr>
              <p:cNvSpPr txBox="1"/>
              <p:nvPr/>
            </p:nvSpPr>
            <p:spPr>
              <a:xfrm rot="10800000">
                <a:off x="1889778" y="-971872"/>
                <a:ext cx="2541057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Шаг 1</a:t>
                </a:r>
              </a:p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Качество данных</a:t>
                </a:r>
              </a:p>
            </p:txBody>
          </p:sp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97C8148C-16BE-55A6-8205-974C5BE7DC7E}"/>
                  </a:ext>
                </a:extLst>
              </p:cNvPr>
              <p:cNvSpPr txBox="1"/>
              <p:nvPr/>
            </p:nvSpPr>
            <p:spPr>
              <a:xfrm>
                <a:off x="1757182" y="1668221"/>
                <a:ext cx="2806248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Шаг 4. Распределения</a:t>
                </a:r>
              </a:p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числовых атрибутов</a:t>
                </a:r>
              </a:p>
            </p:txBody>
          </p:sp>
        </p:grpSp>
      </p:grp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923D8423-33E0-3B44-8B7E-0CD295510EDF}"/>
              </a:ext>
            </a:extLst>
          </p:cNvPr>
          <p:cNvSpPr/>
          <p:nvPr/>
        </p:nvSpPr>
        <p:spPr>
          <a:xfrm>
            <a:off x="-246746" y="-220648"/>
            <a:ext cx="12685487" cy="1312847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75000"/>
                  <a:lumOff val="25000"/>
                </a:schemeClr>
              </a:gs>
              <a:gs pos="75000">
                <a:srgbClr val="122639"/>
              </a:gs>
              <a:gs pos="100000">
                <a:schemeClr val="tx1">
                  <a:lumMod val="95000"/>
                  <a:lumOff val="5000"/>
                </a:schemeClr>
              </a:gs>
              <a:gs pos="44000">
                <a:schemeClr val="tx2">
                  <a:lumMod val="90000"/>
                  <a:lumOff val="10000"/>
                </a:schemeClr>
              </a:gs>
            </a:gsLst>
            <a:lin ang="12600000" scaled="0"/>
            <a:tileRect/>
          </a:gra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AE9BAE4-5ABF-D389-E951-BE495B428F33}"/>
              </a:ext>
            </a:extLst>
          </p:cNvPr>
          <p:cNvSpPr txBox="1"/>
          <p:nvPr/>
        </p:nvSpPr>
        <p:spPr>
          <a:xfrm>
            <a:off x="651247" y="232100"/>
            <a:ext cx="10889495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Данные с изображениями: анализ</a:t>
            </a:r>
            <a:endParaRPr lang="ru-RU" sz="2000" dirty="0">
              <a:solidFill>
                <a:schemeClr val="bg1"/>
              </a:solidFill>
              <a:latin typeface="Arial Black" panose="020B0A040201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Дата 6">
            <a:extLst>
              <a:ext uri="{FF2B5EF4-FFF2-40B4-BE49-F238E27FC236}">
                <a16:creationId xmlns:a16="http://schemas.microsoft.com/office/drawing/2014/main" id="{0461990B-9FA2-F3C6-2EAE-E540BED6630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280316" y="6284083"/>
            <a:ext cx="892634" cy="463875"/>
          </a:xfrm>
        </p:spPr>
        <p:txBody>
          <a:bodyPr/>
          <a:lstStyle/>
          <a:p>
            <a:pPr algn="ctr">
              <a:defRPr/>
            </a:pPr>
            <a:fld id="{D063FBCF-7873-4A49-B36C-1F912BB77786}" type="slidenum">
              <a:rPr lang="ru-RU" altLang="ru-RU" sz="2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ctr">
                <a:defRPr/>
              </a:pPr>
              <a:t>18</a:t>
            </a:fld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/13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4CDCDF06-CD1A-93E2-99F2-AC31216859C9}"/>
              </a:ext>
            </a:extLst>
          </p:cNvPr>
          <p:cNvSpPr/>
          <p:nvPr/>
        </p:nvSpPr>
        <p:spPr>
          <a:xfrm>
            <a:off x="-476262" y="937951"/>
            <a:ext cx="13144512" cy="5201601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Дата 6">
            <a:extLst>
              <a:ext uri="{FF2B5EF4-FFF2-40B4-BE49-F238E27FC236}">
                <a16:creationId xmlns:a16="http://schemas.microsoft.com/office/drawing/2014/main" id="{68F10E06-F5F1-684F-9D16-1A2263DCFC1A}"/>
              </a:ext>
            </a:extLst>
          </p:cNvPr>
          <p:cNvSpPr txBox="1">
            <a:spLocks/>
          </p:cNvSpPr>
          <p:nvPr/>
        </p:nvSpPr>
        <p:spPr>
          <a:xfrm>
            <a:off x="38100" y="6284084"/>
            <a:ext cx="7785187" cy="463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Курсовой проект «Поиск и первичный анализ наборов данных»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cxnSp>
        <p:nvCxnSpPr>
          <p:cNvPr id="79" name="Прямая соединительная линия 78">
            <a:extLst>
              <a:ext uri="{FF2B5EF4-FFF2-40B4-BE49-F238E27FC236}">
                <a16:creationId xmlns:a16="http://schemas.microsoft.com/office/drawing/2014/main" id="{9939B6A6-F8EB-788A-A96C-FA1C282843B1}"/>
              </a:ext>
            </a:extLst>
          </p:cNvPr>
          <p:cNvCxnSpPr>
            <a:cxnSpLocks/>
          </p:cNvCxnSpPr>
          <p:nvPr/>
        </p:nvCxnSpPr>
        <p:spPr>
          <a:xfrm flipH="1">
            <a:off x="-495312" y="2705100"/>
            <a:ext cx="13163562" cy="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3" name="Группа 122">
            <a:extLst>
              <a:ext uri="{FF2B5EF4-FFF2-40B4-BE49-F238E27FC236}">
                <a16:creationId xmlns:a16="http://schemas.microsoft.com/office/drawing/2014/main" id="{E3E807B5-421E-6803-3651-12F4C5080686}"/>
              </a:ext>
            </a:extLst>
          </p:cNvPr>
          <p:cNvGrpSpPr/>
          <p:nvPr/>
        </p:nvGrpSpPr>
        <p:grpSpPr>
          <a:xfrm>
            <a:off x="-495312" y="2705100"/>
            <a:ext cx="13163562" cy="3607987"/>
            <a:chOff x="-495312" y="2705100"/>
            <a:chExt cx="13163562" cy="3607987"/>
          </a:xfrm>
        </p:grpSpPr>
        <p:cxnSp>
          <p:nvCxnSpPr>
            <p:cNvPr id="72" name="Прямая соединительная линия 71">
              <a:extLst>
                <a:ext uri="{FF2B5EF4-FFF2-40B4-BE49-F238E27FC236}">
                  <a16:creationId xmlns:a16="http://schemas.microsoft.com/office/drawing/2014/main" id="{0E48F465-F4B5-B93A-1275-62EFA2E32272}"/>
                </a:ext>
              </a:extLst>
            </p:cNvPr>
            <p:cNvCxnSpPr>
              <a:cxnSpLocks/>
            </p:cNvCxnSpPr>
            <p:nvPr/>
          </p:nvCxnSpPr>
          <p:spPr>
            <a:xfrm>
              <a:off x="1226176" y="2705100"/>
              <a:ext cx="0" cy="3434452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Прямая соединительная линия 73">
              <a:extLst>
                <a:ext uri="{FF2B5EF4-FFF2-40B4-BE49-F238E27FC236}">
                  <a16:creationId xmlns:a16="http://schemas.microsoft.com/office/drawing/2014/main" id="{A9467774-7633-04A4-BE5A-F9E34FDD470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495312" y="4670426"/>
              <a:ext cx="13163562" cy="0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EFFD9D01-DDE3-EA52-BB98-861E14B56173}"/>
                </a:ext>
              </a:extLst>
            </p:cNvPr>
            <p:cNvSpPr txBox="1"/>
            <p:nvPr/>
          </p:nvSpPr>
          <p:spPr>
            <a:xfrm rot="3847950">
              <a:off x="-121036" y="3625376"/>
              <a:ext cx="15975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Результаты</a:t>
              </a: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E326E336-1EE9-AB55-8D12-C4A112B7F2E6}"/>
                </a:ext>
              </a:extLst>
            </p:cNvPr>
            <p:cNvSpPr txBox="1"/>
            <p:nvPr/>
          </p:nvSpPr>
          <p:spPr>
            <a:xfrm rot="3847950">
              <a:off x="-49012" y="5368638"/>
              <a:ext cx="151956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Действия</a:t>
              </a:r>
            </a:p>
          </p:txBody>
        </p:sp>
        <p:sp>
          <p:nvSpPr>
            <p:cNvPr id="102" name="TextBox 101">
              <a:extLst>
                <a:ext uri="{FF2B5EF4-FFF2-40B4-BE49-F238E27FC236}">
                  <a16:creationId xmlns:a16="http://schemas.microsoft.com/office/drawing/2014/main" id="{10781ED5-C610-72E6-2F52-9D881BF72FF5}"/>
                </a:ext>
              </a:extLst>
            </p:cNvPr>
            <p:cNvSpPr txBox="1"/>
            <p:nvPr/>
          </p:nvSpPr>
          <p:spPr>
            <a:xfrm>
              <a:off x="1396280" y="2738923"/>
              <a:ext cx="3098519" cy="14345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5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Отсутствие п</a:t>
              </a:r>
              <a:r>
                <a: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ропусков и дубликатов;</a:t>
              </a:r>
            </a:p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Выбросы только в признаке качество сна (9 шт., 0.06%).</a:t>
              </a:r>
              <a:endParaRPr lang="ru-RU" sz="15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2DFFDDFF-DE20-FA29-569B-C492018A8230}"/>
                </a:ext>
              </a:extLst>
            </p:cNvPr>
            <p:cNvSpPr txBox="1"/>
            <p:nvPr/>
          </p:nvSpPr>
          <p:spPr>
            <a:xfrm>
              <a:off x="4564085" y="2743199"/>
              <a:ext cx="4278218" cy="178080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Сильные: стресс и умственная усталость (+0.95), стресс и качество сна (-0.86), Стресс и экранное время: (+0.88);</a:t>
              </a:r>
            </a:p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500" b="0" i="0" dirty="0" err="1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Мультиколлинеарности</a:t>
              </a:r>
              <a:r>
                <a: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 входных признаков нет (&lt; 0.75).</a:t>
              </a:r>
              <a:endParaRPr lang="ru-RU" sz="15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2A8D7A29-485A-4985-CCB9-04CEA0E47626}"/>
                </a:ext>
              </a:extLst>
            </p:cNvPr>
            <p:cNvSpPr txBox="1"/>
            <p:nvPr/>
          </p:nvSpPr>
          <p:spPr>
            <a:xfrm>
              <a:off x="8586491" y="2743199"/>
              <a:ext cx="3442447" cy="178080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285750">
                <a:lnSpc>
                  <a:spcPct val="150000"/>
                </a:lnSpc>
              </a:pPr>
              <a:r>
                <a: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Значительное различие в </a:t>
              </a:r>
            </a:p>
            <a:p>
              <a:pPr marL="285750">
                <a:lnSpc>
                  <a:spcPct val="150000"/>
                </a:lnSpc>
              </a:pPr>
              <a:r>
                <a: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масштабах признаков:</a:t>
              </a:r>
            </a:p>
            <a:p>
              <a:pPr marL="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en-CA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r>
                <a:rPr lang="en-CA" sz="15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8</a:t>
              </a:r>
              <a:r>
                <a: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CA" sz="15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≤ </a:t>
              </a:r>
              <a:r>
                <a:rPr lang="ru-RU" sz="15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возраст</a:t>
              </a:r>
              <a:r>
                <a:rPr lang="en-CA" sz="15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≤ </a:t>
              </a:r>
              <a:r>
                <a:rPr lang="en-CA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59;</a:t>
              </a:r>
              <a:endParaRPr lang="ru-RU" sz="1500" b="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marL="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en-CA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 0 ≤ </a:t>
              </a:r>
              <a:r>
                <a:rPr lang="ru-RU" sz="1500" b="0" i="0" dirty="0" err="1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чашки_кофе</a:t>
              </a:r>
              <a:r>
                <a: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CA" sz="15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≤</a:t>
              </a:r>
              <a:r>
                <a:rPr lang="ru-RU" sz="15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4;</a:t>
              </a:r>
              <a:endParaRPr lang="ru-RU" sz="1500" b="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marL="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 20 </a:t>
              </a:r>
              <a:r>
                <a:rPr lang="en-CA" sz="15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≤</a:t>
              </a:r>
              <a:r>
                <a:rPr lang="ru-RU" sz="15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уведомления </a:t>
              </a:r>
              <a:r>
                <a:rPr lang="en-CA" sz="15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≤ </a:t>
              </a:r>
              <a:r>
                <a:rPr lang="ru-RU" sz="15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299.</a:t>
              </a:r>
              <a:endParaRPr lang="ru-RU" sz="1500" b="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D21A6834-2F1B-53E3-CE50-09D2778ECFC1}"/>
                </a:ext>
              </a:extLst>
            </p:cNvPr>
            <p:cNvSpPr txBox="1"/>
            <p:nvPr/>
          </p:nvSpPr>
          <p:spPr>
            <a:xfrm>
              <a:off x="1406586" y="4788442"/>
              <a:ext cx="2977089" cy="69871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4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Оставить выбросы как экстремальные случаи</a:t>
              </a:r>
              <a:endParaRPr lang="ru-RU" sz="14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8578639D-8F98-9285-3821-F95DCD909A62}"/>
                </a:ext>
              </a:extLst>
            </p:cNvPr>
            <p:cNvSpPr txBox="1"/>
            <p:nvPr/>
          </p:nvSpPr>
          <p:spPr>
            <a:xfrm>
              <a:off x="4564086" y="4848782"/>
              <a:ext cx="3549400" cy="5539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–"/>
              </a:pPr>
              <a:r>
                <a: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Использовать все признаки для</a:t>
              </a:r>
            </a:p>
            <a:p>
              <a:r>
                <a: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построения ИИ-модели</a:t>
              </a: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E5E2CBB5-2006-30B8-EAEF-7D07163D86B8}"/>
                </a:ext>
              </a:extLst>
            </p:cNvPr>
            <p:cNvSpPr txBox="1"/>
            <p:nvPr/>
          </p:nvSpPr>
          <p:spPr>
            <a:xfrm>
              <a:off x="8876295" y="4789078"/>
              <a:ext cx="2989310" cy="108831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5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Применить </a:t>
              </a:r>
              <a:r>
                <a:rPr lang="ru-RU" sz="1500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StandardScaler</a:t>
              </a:r>
              <a:r>
                <a:rPr lang="ru-RU" sz="15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, для приведения всех числовых признаков к единому масштабу</a:t>
              </a:r>
            </a:p>
          </p:txBody>
        </p:sp>
      </p:grpSp>
      <p:grpSp>
        <p:nvGrpSpPr>
          <p:cNvPr id="122" name="Группа 121">
            <a:extLst>
              <a:ext uri="{FF2B5EF4-FFF2-40B4-BE49-F238E27FC236}">
                <a16:creationId xmlns:a16="http://schemas.microsoft.com/office/drawing/2014/main" id="{29A26327-FEB5-B00C-20C6-58FFC8656A19}"/>
              </a:ext>
            </a:extLst>
          </p:cNvPr>
          <p:cNvGrpSpPr/>
          <p:nvPr/>
        </p:nvGrpSpPr>
        <p:grpSpPr>
          <a:xfrm>
            <a:off x="-13320841" y="2705100"/>
            <a:ext cx="13163562" cy="3607987"/>
            <a:chOff x="12275671" y="2705100"/>
            <a:chExt cx="13163562" cy="3607987"/>
          </a:xfrm>
        </p:grpSpPr>
        <p:cxnSp>
          <p:nvCxnSpPr>
            <p:cNvPr id="111" name="Прямая соединительная линия 110">
              <a:extLst>
                <a:ext uri="{FF2B5EF4-FFF2-40B4-BE49-F238E27FC236}">
                  <a16:creationId xmlns:a16="http://schemas.microsoft.com/office/drawing/2014/main" id="{F234E9A8-1B69-E03E-9B26-6C3EEFA2CF10}"/>
                </a:ext>
              </a:extLst>
            </p:cNvPr>
            <p:cNvCxnSpPr>
              <a:cxnSpLocks/>
            </p:cNvCxnSpPr>
            <p:nvPr/>
          </p:nvCxnSpPr>
          <p:spPr>
            <a:xfrm>
              <a:off x="13997159" y="2705100"/>
              <a:ext cx="0" cy="3434452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21" name="Группа 120">
              <a:extLst>
                <a:ext uri="{FF2B5EF4-FFF2-40B4-BE49-F238E27FC236}">
                  <a16:creationId xmlns:a16="http://schemas.microsoft.com/office/drawing/2014/main" id="{E625019F-932E-8812-12EA-CF62B35B7553}"/>
                </a:ext>
              </a:extLst>
            </p:cNvPr>
            <p:cNvGrpSpPr/>
            <p:nvPr/>
          </p:nvGrpSpPr>
          <p:grpSpPr>
            <a:xfrm>
              <a:off x="12275671" y="2705100"/>
              <a:ext cx="13163562" cy="3607987"/>
              <a:chOff x="12275671" y="2705100"/>
              <a:chExt cx="13163562" cy="3607987"/>
            </a:xfrm>
          </p:grpSpPr>
          <p:cxnSp>
            <p:nvCxnSpPr>
              <p:cNvPr id="112" name="Прямая соединительная линия 111">
                <a:extLst>
                  <a:ext uri="{FF2B5EF4-FFF2-40B4-BE49-F238E27FC236}">
                    <a16:creationId xmlns:a16="http://schemas.microsoft.com/office/drawing/2014/main" id="{7D5A0DC7-F4F5-9BE7-58E1-B88C3F4484E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2275671" y="4670426"/>
                <a:ext cx="13163562" cy="0"/>
              </a:xfrm>
              <a:prstGeom prst="line">
                <a:avLst/>
              </a:prstGeom>
              <a:ln w="25400"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3" name="TextBox 112">
                <a:extLst>
                  <a:ext uri="{FF2B5EF4-FFF2-40B4-BE49-F238E27FC236}">
                    <a16:creationId xmlns:a16="http://schemas.microsoft.com/office/drawing/2014/main" id="{B0582E96-F88C-1BE9-8CA5-DE653E5E96D4}"/>
                  </a:ext>
                </a:extLst>
              </p:cNvPr>
              <p:cNvSpPr txBox="1"/>
              <p:nvPr/>
            </p:nvSpPr>
            <p:spPr>
              <a:xfrm rot="3847950">
                <a:off x="12649947" y="3625376"/>
                <a:ext cx="15975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Результаты</a:t>
                </a:r>
              </a:p>
            </p:txBody>
          </p:sp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4951AA0C-EC61-26CB-B5AF-1D1037161DDE}"/>
                  </a:ext>
                </a:extLst>
              </p:cNvPr>
              <p:cNvSpPr txBox="1"/>
              <p:nvPr/>
            </p:nvSpPr>
            <p:spPr>
              <a:xfrm rot="3847950">
                <a:off x="12721971" y="5368638"/>
                <a:ext cx="151956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Действия</a:t>
                </a:r>
              </a:p>
            </p:txBody>
          </p:sp>
          <p:sp>
            <p:nvSpPr>
              <p:cNvPr id="115" name="TextBox 114">
                <a:extLst>
                  <a:ext uri="{FF2B5EF4-FFF2-40B4-BE49-F238E27FC236}">
                    <a16:creationId xmlns:a16="http://schemas.microsoft.com/office/drawing/2014/main" id="{2069F017-4520-0993-25FF-0285A2E4363C}"/>
                  </a:ext>
                </a:extLst>
              </p:cNvPr>
              <p:cNvSpPr txBox="1"/>
              <p:nvPr/>
            </p:nvSpPr>
            <p:spPr>
              <a:xfrm>
                <a:off x="14074343" y="2743199"/>
                <a:ext cx="3863630" cy="17808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5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Качество сна: Близко к нормальному;</a:t>
                </a:r>
              </a:p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5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Уровень стресса и умственная усталость: Левосторонняя асимметрия;</a:t>
                </a:r>
              </a:p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5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Кофеин: Дискретное;</a:t>
                </a:r>
              </a:p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5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Остальные признаки: Равномерное.</a:t>
                </a:r>
              </a:p>
            </p:txBody>
          </p:sp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4E474AFB-6FD3-D9D3-280F-DD38CC3A8740}"/>
                  </a:ext>
                </a:extLst>
              </p:cNvPr>
              <p:cNvSpPr txBox="1"/>
              <p:nvPr/>
            </p:nvSpPr>
            <p:spPr>
              <a:xfrm>
                <a:off x="18012063" y="2739324"/>
                <a:ext cx="3190587" cy="74206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Пол: Дисбаланс;</a:t>
                </a:r>
              </a:p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5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Профессия: равномерное.</a:t>
                </a:r>
                <a:endParaRPr lang="ru-RU" sz="15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17" name="TextBox 116">
                <a:extLst>
                  <a:ext uri="{FF2B5EF4-FFF2-40B4-BE49-F238E27FC236}">
                    <a16:creationId xmlns:a16="http://schemas.microsoft.com/office/drawing/2014/main" id="{7C26CE33-B8A4-1192-2C0A-0912B7E288E8}"/>
                  </a:ext>
                </a:extLst>
              </p:cNvPr>
              <p:cNvSpPr txBox="1"/>
              <p:nvPr/>
            </p:nvSpPr>
            <p:spPr>
              <a:xfrm>
                <a:off x="21647278" y="2705100"/>
                <a:ext cx="3442447" cy="10883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indent="-28440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Пол: </a:t>
                </a:r>
                <a:r>
                  <a:rPr lang="ru-RU" sz="1500" b="0" i="0" dirty="0" err="1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Female</a:t>
                </a:r>
                <a:r>
                  <a:rPr lang="ru-RU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:r>
                  <a:rPr lang="ru-RU" sz="1500" b="0" i="0" dirty="0" err="1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Male</a:t>
                </a:r>
                <a:r>
                  <a:rPr lang="ru-RU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:r>
                  <a:rPr lang="ru-RU" sz="1500" b="0" i="0" dirty="0" err="1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Other</a:t>
                </a:r>
                <a:r>
                  <a:rPr lang="ru-RU" sz="15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. </a:t>
                </a:r>
              </a:p>
              <a:p>
                <a:pPr indent="-284400">
                  <a:lnSpc>
                    <a:spcPct val="150000"/>
                  </a:lnSpc>
                </a:pPr>
                <a:r>
                  <a:rPr lang="en-CA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{</a:t>
                </a:r>
                <a:r>
                  <a:rPr lang="ru-RU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0, 2</a:t>
                </a:r>
                <a:r>
                  <a:rPr lang="en-CA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}</a:t>
                </a:r>
                <a:endPara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indent="-28440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Профессия: 8 категорий </a:t>
                </a:r>
                <a:r>
                  <a:rPr lang="en-CA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{</a:t>
                </a:r>
                <a:r>
                  <a:rPr lang="ru-RU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0, 7</a:t>
                </a:r>
                <a:r>
                  <a:rPr lang="en-CA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}</a:t>
                </a:r>
                <a:endPara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556CAC3C-66A9-4748-A44D-F5885869CCA9}"/>
                  </a:ext>
                </a:extLst>
              </p:cNvPr>
              <p:cNvSpPr txBox="1"/>
              <p:nvPr/>
            </p:nvSpPr>
            <p:spPr>
              <a:xfrm>
                <a:off x="14106584" y="4735799"/>
                <a:ext cx="3735376" cy="10218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4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Уровень стресса и умственная усталость: </a:t>
                </a:r>
                <a:r>
                  <a:rPr lang="ru-RU" sz="14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Группировка редких</a:t>
                </a:r>
              </a:p>
              <a:p>
                <a:pPr>
                  <a:lnSpc>
                    <a:spcPct val="150000"/>
                  </a:lnSpc>
                </a:pPr>
                <a:r>
                  <a:rPr lang="ru-RU" sz="14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значений</a:t>
                </a:r>
              </a:p>
            </p:txBody>
          </p:sp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D50296EF-7FA5-24BF-1AD3-A6888D156EDD}"/>
                  </a:ext>
                </a:extLst>
              </p:cNvPr>
              <p:cNvSpPr txBox="1"/>
              <p:nvPr/>
            </p:nvSpPr>
            <p:spPr>
              <a:xfrm>
                <a:off x="18012063" y="4788442"/>
                <a:ext cx="2977089" cy="5539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–"/>
                </a:pPr>
                <a:r>
                  <a:rPr lang="ru-RU" sz="15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Пол: </a:t>
                </a:r>
                <a:r>
                  <a:rPr lang="ru-RU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Учет дисбаланса</a:t>
                </a:r>
              </a:p>
              <a:p>
                <a:r>
                  <a:rPr lang="ru-RU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при обучении модели</a:t>
                </a:r>
              </a:p>
            </p:txBody>
          </p:sp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82076D73-1306-A0A0-E890-ABBA97423FC8}"/>
                  </a:ext>
                </a:extLst>
              </p:cNvPr>
              <p:cNvSpPr txBox="1"/>
              <p:nvPr/>
            </p:nvSpPr>
            <p:spPr>
              <a:xfrm>
                <a:off x="21647278" y="4696367"/>
                <a:ext cx="2989310" cy="39581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en-US" sz="15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Label Encoding</a:t>
                </a:r>
                <a:endParaRPr lang="ru-RU" sz="15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2452395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448B0F-0444-116A-2ED6-D1111C8B7B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AF66B133-35A4-1706-7D2C-F92C96CAC8E8}"/>
              </a:ext>
            </a:extLst>
          </p:cNvPr>
          <p:cNvSpPr/>
          <p:nvPr/>
        </p:nvSpPr>
        <p:spPr>
          <a:xfrm>
            <a:off x="-227696" y="-220648"/>
            <a:ext cx="12685487" cy="7299296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50000"/>
                  <a:lumOff val="50000"/>
                </a:schemeClr>
              </a:gs>
              <a:gs pos="75000">
                <a:srgbClr val="122639"/>
              </a:gs>
              <a:gs pos="100000">
                <a:schemeClr val="tx1">
                  <a:lumMod val="95000"/>
                  <a:lumOff val="5000"/>
                </a:schemeClr>
              </a:gs>
              <a:gs pos="50000">
                <a:schemeClr val="tx2">
                  <a:lumMod val="90000"/>
                  <a:lumOff val="10000"/>
                </a:schemeClr>
              </a:gs>
            </a:gsLst>
            <a:lin ang="12600000" scaled="0"/>
            <a:tileRect/>
          </a:gra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100" name="Группа 99">
            <a:extLst>
              <a:ext uri="{FF2B5EF4-FFF2-40B4-BE49-F238E27FC236}">
                <a16:creationId xmlns:a16="http://schemas.microsoft.com/office/drawing/2014/main" id="{72985EF4-9416-7CAD-6456-397EBA9FEA1B}"/>
              </a:ext>
            </a:extLst>
          </p:cNvPr>
          <p:cNvGrpSpPr/>
          <p:nvPr/>
        </p:nvGrpSpPr>
        <p:grpSpPr>
          <a:xfrm rot="10800000">
            <a:off x="8597992" y="-1343198"/>
            <a:ext cx="4125183" cy="3903766"/>
            <a:chOff x="8597992" y="-1343198"/>
            <a:chExt cx="4125183" cy="3903766"/>
          </a:xfrm>
        </p:grpSpPr>
        <p:grpSp>
          <p:nvGrpSpPr>
            <p:cNvPr id="95" name="Группа 94">
              <a:extLst>
                <a:ext uri="{FF2B5EF4-FFF2-40B4-BE49-F238E27FC236}">
                  <a16:creationId xmlns:a16="http://schemas.microsoft.com/office/drawing/2014/main" id="{BF0A2A35-F29F-DD3B-D642-4DEDAC7427F6}"/>
                </a:ext>
              </a:extLst>
            </p:cNvPr>
            <p:cNvGrpSpPr/>
            <p:nvPr/>
          </p:nvGrpSpPr>
          <p:grpSpPr>
            <a:xfrm>
              <a:off x="8670670" y="-1343198"/>
              <a:ext cx="3903766" cy="3903766"/>
              <a:chOff x="8746731" y="-1343198"/>
              <a:chExt cx="3903766" cy="3903766"/>
            </a:xfrm>
          </p:grpSpPr>
          <p:grpSp>
            <p:nvGrpSpPr>
              <p:cNvPr id="63" name="Группа 62">
                <a:extLst>
                  <a:ext uri="{FF2B5EF4-FFF2-40B4-BE49-F238E27FC236}">
                    <a16:creationId xmlns:a16="http://schemas.microsoft.com/office/drawing/2014/main" id="{27CA4019-179C-2CC4-7A76-52A2F9205AE5}"/>
                  </a:ext>
                </a:extLst>
              </p:cNvPr>
              <p:cNvGrpSpPr/>
              <p:nvPr/>
            </p:nvGrpSpPr>
            <p:grpSpPr>
              <a:xfrm>
                <a:off x="8746731" y="-1343198"/>
                <a:ext cx="3903766" cy="3903766"/>
                <a:chOff x="152400" y="1057655"/>
                <a:chExt cx="3903766" cy="3903766"/>
              </a:xfrm>
            </p:grpSpPr>
            <p:sp>
              <p:nvSpPr>
                <p:cNvPr id="64" name="Полилиния: фигура 63">
                  <a:extLst>
                    <a:ext uri="{FF2B5EF4-FFF2-40B4-BE49-F238E27FC236}">
                      <a16:creationId xmlns:a16="http://schemas.microsoft.com/office/drawing/2014/main" id="{DA640E4B-8AB1-B52C-51E2-47FDEFA8E4E5}"/>
                    </a:ext>
                  </a:extLst>
                </p:cNvPr>
                <p:cNvSpPr/>
                <p:nvPr/>
              </p:nvSpPr>
              <p:spPr>
                <a:xfrm>
                  <a:off x="152400" y="1057655"/>
                  <a:ext cx="3903766" cy="3903766"/>
                </a:xfrm>
                <a:custGeom>
                  <a:avLst/>
                  <a:gdLst>
                    <a:gd name="csX0" fmla="*/ 2492829 w 4985658"/>
                    <a:gd name="csY0" fmla="*/ 1240972 h 4985658"/>
                    <a:gd name="csX1" fmla="*/ 1240972 w 4985658"/>
                    <a:gd name="csY1" fmla="*/ 2492829 h 4985658"/>
                    <a:gd name="csX2" fmla="*/ 2492829 w 4985658"/>
                    <a:gd name="csY2" fmla="*/ 3744686 h 4985658"/>
                    <a:gd name="csX3" fmla="*/ 3744686 w 4985658"/>
                    <a:gd name="csY3" fmla="*/ 2492829 h 4985658"/>
                    <a:gd name="csX4" fmla="*/ 2492829 w 4985658"/>
                    <a:gd name="csY4" fmla="*/ 1240972 h 4985658"/>
                    <a:gd name="csX5" fmla="*/ 2492829 w 4985658"/>
                    <a:gd name="csY5" fmla="*/ 0 h 4985658"/>
                    <a:gd name="csX6" fmla="*/ 4985658 w 4985658"/>
                    <a:gd name="csY6" fmla="*/ 2492829 h 4985658"/>
                    <a:gd name="csX7" fmla="*/ 2492829 w 4985658"/>
                    <a:gd name="csY7" fmla="*/ 4985658 h 4985658"/>
                    <a:gd name="csX8" fmla="*/ 0 w 4985658"/>
                    <a:gd name="csY8" fmla="*/ 2492829 h 4985658"/>
                    <a:gd name="csX9" fmla="*/ 2492829 w 4985658"/>
                    <a:gd name="csY9" fmla="*/ 0 h 498565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</a:cxnLst>
                  <a:rect l="l" t="t" r="r" b="b"/>
                  <a:pathLst>
                    <a:path w="4985658" h="4985658">
                      <a:moveTo>
                        <a:pt x="2492829" y="1240972"/>
                      </a:moveTo>
                      <a:cubicBezTo>
                        <a:pt x="1801447" y="1240972"/>
                        <a:pt x="1240972" y="1801447"/>
                        <a:pt x="1240972" y="2492829"/>
                      </a:cubicBezTo>
                      <a:cubicBezTo>
                        <a:pt x="1240972" y="3184211"/>
                        <a:pt x="1801447" y="3744686"/>
                        <a:pt x="2492829" y="3744686"/>
                      </a:cubicBezTo>
                      <a:cubicBezTo>
                        <a:pt x="3184211" y="3744686"/>
                        <a:pt x="3744686" y="3184211"/>
                        <a:pt x="3744686" y="2492829"/>
                      </a:cubicBezTo>
                      <a:cubicBezTo>
                        <a:pt x="3744686" y="1801447"/>
                        <a:pt x="3184211" y="1240972"/>
                        <a:pt x="2492829" y="1240972"/>
                      </a:cubicBezTo>
                      <a:close/>
                      <a:moveTo>
                        <a:pt x="2492829" y="0"/>
                      </a:moveTo>
                      <a:cubicBezTo>
                        <a:pt x="3869580" y="0"/>
                        <a:pt x="4985658" y="1116078"/>
                        <a:pt x="4985658" y="2492829"/>
                      </a:cubicBezTo>
                      <a:cubicBezTo>
                        <a:pt x="4985658" y="3869580"/>
                        <a:pt x="3869580" y="4985658"/>
                        <a:pt x="2492829" y="4985658"/>
                      </a:cubicBezTo>
                      <a:cubicBezTo>
                        <a:pt x="1116078" y="4985658"/>
                        <a:pt x="0" y="3869580"/>
                        <a:pt x="0" y="2492829"/>
                      </a:cubicBezTo>
                      <a:cubicBezTo>
                        <a:pt x="0" y="1116078"/>
                        <a:pt x="1116078" y="0"/>
                        <a:pt x="2492829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tx2">
                        <a:lumMod val="50000"/>
                        <a:lumOff val="50000"/>
                      </a:schemeClr>
                    </a:gs>
                    <a:gs pos="75000">
                      <a:srgbClr val="122639"/>
                    </a:gs>
                    <a:gs pos="100000">
                      <a:schemeClr val="tx1">
                        <a:lumMod val="95000"/>
                        <a:lumOff val="5000"/>
                      </a:schemeClr>
                    </a:gs>
                    <a:gs pos="44000">
                      <a:schemeClr val="tx2">
                        <a:lumMod val="90000"/>
                        <a:lumOff val="10000"/>
                      </a:schemeClr>
                    </a:gs>
                  </a:gsLst>
                  <a:lin ang="12600000" scaled="0"/>
                </a:gra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ru-RU" dirty="0"/>
                </a:p>
              </p:txBody>
            </p:sp>
            <p:grpSp>
              <p:nvGrpSpPr>
                <p:cNvPr id="65" name="Группа 64">
                  <a:extLst>
                    <a:ext uri="{FF2B5EF4-FFF2-40B4-BE49-F238E27FC236}">
                      <a16:creationId xmlns:a16="http://schemas.microsoft.com/office/drawing/2014/main" id="{6495723D-D977-7EB1-EC98-652E3644F97C}"/>
                    </a:ext>
                  </a:extLst>
                </p:cNvPr>
                <p:cNvGrpSpPr/>
                <p:nvPr/>
              </p:nvGrpSpPr>
              <p:grpSpPr>
                <a:xfrm>
                  <a:off x="3084486" y="2719153"/>
                  <a:ext cx="971680" cy="316024"/>
                  <a:chOff x="4387850" y="3027845"/>
                  <a:chExt cx="971680" cy="316024"/>
                </a:xfrm>
              </p:grpSpPr>
              <p:cxnSp>
                <p:nvCxnSpPr>
                  <p:cNvPr id="69" name="Прямая соединительная линия 68">
                    <a:extLst>
                      <a:ext uri="{FF2B5EF4-FFF2-40B4-BE49-F238E27FC236}">
                        <a16:creationId xmlns:a16="http://schemas.microsoft.com/office/drawing/2014/main" id="{2A1366ED-816C-1A41-F433-E7C1426ACF9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387850" y="3027845"/>
                    <a:ext cx="481039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0" name="Прямая соединительная линия 69">
                    <a:extLst>
                      <a:ext uri="{FF2B5EF4-FFF2-40B4-BE49-F238E27FC236}">
                        <a16:creationId xmlns:a16="http://schemas.microsoft.com/office/drawing/2014/main" id="{2E7B340D-8C7F-F22D-3996-68FB60BEAF4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4868889" y="3027845"/>
                    <a:ext cx="490641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6" name="Группа 65">
                  <a:extLst>
                    <a:ext uri="{FF2B5EF4-FFF2-40B4-BE49-F238E27FC236}">
                      <a16:creationId xmlns:a16="http://schemas.microsoft.com/office/drawing/2014/main" id="{9EBD6643-4274-223F-0A52-C36111A90CF7}"/>
                    </a:ext>
                  </a:extLst>
                </p:cNvPr>
                <p:cNvGrpSpPr/>
                <p:nvPr/>
              </p:nvGrpSpPr>
              <p:grpSpPr>
                <a:xfrm rot="10800000">
                  <a:off x="152400" y="3035177"/>
                  <a:ext cx="971680" cy="316024"/>
                  <a:chOff x="4387850" y="3027845"/>
                  <a:chExt cx="971680" cy="316024"/>
                </a:xfrm>
              </p:grpSpPr>
              <p:cxnSp>
                <p:nvCxnSpPr>
                  <p:cNvPr id="67" name="Прямая соединительная линия 66">
                    <a:extLst>
                      <a:ext uri="{FF2B5EF4-FFF2-40B4-BE49-F238E27FC236}">
                        <a16:creationId xmlns:a16="http://schemas.microsoft.com/office/drawing/2014/main" id="{951552D5-D6AE-6934-93DA-514640B8B33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387850" y="3027845"/>
                    <a:ext cx="481039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8" name="Прямая соединительная линия 67">
                    <a:extLst>
                      <a:ext uri="{FF2B5EF4-FFF2-40B4-BE49-F238E27FC236}">
                        <a16:creationId xmlns:a16="http://schemas.microsoft.com/office/drawing/2014/main" id="{141AB026-AF37-DCA3-13AE-8823D6DFACE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4868889" y="3027845"/>
                    <a:ext cx="490641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84D1E091-7D18-BEFA-EF65-411D25F5A84B}"/>
                  </a:ext>
                </a:extLst>
              </p:cNvPr>
              <p:cNvSpPr txBox="1"/>
              <p:nvPr/>
            </p:nvSpPr>
            <p:spPr>
              <a:xfrm>
                <a:off x="9256187" y="1628588"/>
                <a:ext cx="2960914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Шаг 3. Проверка</a:t>
                </a:r>
              </a:p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на диапазоны </a:t>
                </a:r>
              </a:p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значений</a:t>
                </a:r>
              </a:p>
            </p:txBody>
          </p:sp>
        </p:grp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57759F79-A70B-712A-5AFC-ADEC6EE4AC1C}"/>
                </a:ext>
              </a:extLst>
            </p:cNvPr>
            <p:cNvSpPr txBox="1"/>
            <p:nvPr/>
          </p:nvSpPr>
          <p:spPr>
            <a:xfrm rot="10800000">
              <a:off x="8597992" y="-1050811"/>
              <a:ext cx="4125183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ru-RU" sz="16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Шаг 6. Кодирование </a:t>
              </a:r>
            </a:p>
            <a:p>
              <a:pPr algn="ctr"/>
              <a:r>
                <a:rPr lang="ru-RU" sz="1600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категор</a:t>
              </a:r>
              <a:r>
                <a:rPr lang="ru-RU" sz="16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 атрибутов</a:t>
              </a:r>
            </a:p>
          </p:txBody>
        </p:sp>
      </p:grpSp>
      <p:grpSp>
        <p:nvGrpSpPr>
          <p:cNvPr id="99" name="Группа 98">
            <a:extLst>
              <a:ext uri="{FF2B5EF4-FFF2-40B4-BE49-F238E27FC236}">
                <a16:creationId xmlns:a16="http://schemas.microsoft.com/office/drawing/2014/main" id="{3160A187-206C-C801-6A9A-AD9768298A13}"/>
              </a:ext>
            </a:extLst>
          </p:cNvPr>
          <p:cNvGrpSpPr/>
          <p:nvPr/>
        </p:nvGrpSpPr>
        <p:grpSpPr>
          <a:xfrm rot="10800000">
            <a:off x="5028036" y="-1343198"/>
            <a:ext cx="3922816" cy="3903766"/>
            <a:chOff x="5028036" y="-1343198"/>
            <a:chExt cx="3922816" cy="3903766"/>
          </a:xfrm>
        </p:grpSpPr>
        <p:grpSp>
          <p:nvGrpSpPr>
            <p:cNvPr id="89" name="Группа 88">
              <a:extLst>
                <a:ext uri="{FF2B5EF4-FFF2-40B4-BE49-F238E27FC236}">
                  <a16:creationId xmlns:a16="http://schemas.microsoft.com/office/drawing/2014/main" id="{6F157E45-C9D2-64EA-DFB8-74F3C8B92C9F}"/>
                </a:ext>
              </a:extLst>
            </p:cNvPr>
            <p:cNvGrpSpPr/>
            <p:nvPr/>
          </p:nvGrpSpPr>
          <p:grpSpPr>
            <a:xfrm>
              <a:off x="5047086" y="-1343198"/>
              <a:ext cx="3903766" cy="3903766"/>
              <a:chOff x="5013346" y="-1343198"/>
              <a:chExt cx="3903766" cy="3903766"/>
            </a:xfrm>
          </p:grpSpPr>
          <p:grpSp>
            <p:nvGrpSpPr>
              <p:cNvPr id="55" name="Группа 54">
                <a:extLst>
                  <a:ext uri="{FF2B5EF4-FFF2-40B4-BE49-F238E27FC236}">
                    <a16:creationId xmlns:a16="http://schemas.microsoft.com/office/drawing/2014/main" id="{40A3ADB2-857D-F8D9-F265-55A910E3AD5B}"/>
                  </a:ext>
                </a:extLst>
              </p:cNvPr>
              <p:cNvGrpSpPr/>
              <p:nvPr/>
            </p:nvGrpSpPr>
            <p:grpSpPr>
              <a:xfrm>
                <a:off x="5013346" y="-1343198"/>
                <a:ext cx="3903766" cy="3903766"/>
                <a:chOff x="152400" y="1057655"/>
                <a:chExt cx="3903766" cy="3903766"/>
              </a:xfrm>
            </p:grpSpPr>
            <p:sp>
              <p:nvSpPr>
                <p:cNvPr id="56" name="Полилиния: фигура 55">
                  <a:extLst>
                    <a:ext uri="{FF2B5EF4-FFF2-40B4-BE49-F238E27FC236}">
                      <a16:creationId xmlns:a16="http://schemas.microsoft.com/office/drawing/2014/main" id="{459A0AE3-19C5-4DF0-FE42-751F241A3BDE}"/>
                    </a:ext>
                  </a:extLst>
                </p:cNvPr>
                <p:cNvSpPr/>
                <p:nvPr/>
              </p:nvSpPr>
              <p:spPr>
                <a:xfrm>
                  <a:off x="152400" y="1057655"/>
                  <a:ext cx="3903766" cy="3903766"/>
                </a:xfrm>
                <a:custGeom>
                  <a:avLst/>
                  <a:gdLst>
                    <a:gd name="csX0" fmla="*/ 2492829 w 4985658"/>
                    <a:gd name="csY0" fmla="*/ 1240972 h 4985658"/>
                    <a:gd name="csX1" fmla="*/ 1240972 w 4985658"/>
                    <a:gd name="csY1" fmla="*/ 2492829 h 4985658"/>
                    <a:gd name="csX2" fmla="*/ 2492829 w 4985658"/>
                    <a:gd name="csY2" fmla="*/ 3744686 h 4985658"/>
                    <a:gd name="csX3" fmla="*/ 3744686 w 4985658"/>
                    <a:gd name="csY3" fmla="*/ 2492829 h 4985658"/>
                    <a:gd name="csX4" fmla="*/ 2492829 w 4985658"/>
                    <a:gd name="csY4" fmla="*/ 1240972 h 4985658"/>
                    <a:gd name="csX5" fmla="*/ 2492829 w 4985658"/>
                    <a:gd name="csY5" fmla="*/ 0 h 4985658"/>
                    <a:gd name="csX6" fmla="*/ 4985658 w 4985658"/>
                    <a:gd name="csY6" fmla="*/ 2492829 h 4985658"/>
                    <a:gd name="csX7" fmla="*/ 2492829 w 4985658"/>
                    <a:gd name="csY7" fmla="*/ 4985658 h 4985658"/>
                    <a:gd name="csX8" fmla="*/ 0 w 4985658"/>
                    <a:gd name="csY8" fmla="*/ 2492829 h 4985658"/>
                    <a:gd name="csX9" fmla="*/ 2492829 w 4985658"/>
                    <a:gd name="csY9" fmla="*/ 0 h 4985658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</a:cxnLst>
                  <a:rect l="l" t="t" r="r" b="b"/>
                  <a:pathLst>
                    <a:path w="4985658" h="4985658">
                      <a:moveTo>
                        <a:pt x="2492829" y="1240972"/>
                      </a:moveTo>
                      <a:cubicBezTo>
                        <a:pt x="1801447" y="1240972"/>
                        <a:pt x="1240972" y="1801447"/>
                        <a:pt x="1240972" y="2492829"/>
                      </a:cubicBezTo>
                      <a:cubicBezTo>
                        <a:pt x="1240972" y="3184211"/>
                        <a:pt x="1801447" y="3744686"/>
                        <a:pt x="2492829" y="3744686"/>
                      </a:cubicBezTo>
                      <a:cubicBezTo>
                        <a:pt x="3184211" y="3744686"/>
                        <a:pt x="3744686" y="3184211"/>
                        <a:pt x="3744686" y="2492829"/>
                      </a:cubicBezTo>
                      <a:cubicBezTo>
                        <a:pt x="3744686" y="1801447"/>
                        <a:pt x="3184211" y="1240972"/>
                        <a:pt x="2492829" y="1240972"/>
                      </a:cubicBezTo>
                      <a:close/>
                      <a:moveTo>
                        <a:pt x="2492829" y="0"/>
                      </a:moveTo>
                      <a:cubicBezTo>
                        <a:pt x="3869580" y="0"/>
                        <a:pt x="4985658" y="1116078"/>
                        <a:pt x="4985658" y="2492829"/>
                      </a:cubicBezTo>
                      <a:cubicBezTo>
                        <a:pt x="4985658" y="3869580"/>
                        <a:pt x="3869580" y="4985658"/>
                        <a:pt x="2492829" y="4985658"/>
                      </a:cubicBezTo>
                      <a:cubicBezTo>
                        <a:pt x="1116078" y="4985658"/>
                        <a:pt x="0" y="3869580"/>
                        <a:pt x="0" y="2492829"/>
                      </a:cubicBezTo>
                      <a:cubicBezTo>
                        <a:pt x="0" y="1116078"/>
                        <a:pt x="1116078" y="0"/>
                        <a:pt x="2492829" y="0"/>
                      </a:cubicBezTo>
                      <a:close/>
                    </a:path>
                  </a:pathLst>
                </a:custGeom>
                <a:gradFill>
                  <a:gsLst>
                    <a:gs pos="0">
                      <a:schemeClr val="tx2">
                        <a:lumMod val="50000"/>
                        <a:lumOff val="50000"/>
                      </a:schemeClr>
                    </a:gs>
                    <a:gs pos="75000">
                      <a:srgbClr val="122639"/>
                    </a:gs>
                    <a:gs pos="100000">
                      <a:schemeClr val="tx1">
                        <a:lumMod val="95000"/>
                        <a:lumOff val="5000"/>
                      </a:schemeClr>
                    </a:gs>
                    <a:gs pos="44000">
                      <a:schemeClr val="tx2">
                        <a:lumMod val="90000"/>
                        <a:lumOff val="10000"/>
                      </a:schemeClr>
                    </a:gs>
                  </a:gsLst>
                  <a:lin ang="12600000" scaled="0"/>
                </a:gra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ru-RU" dirty="0"/>
                </a:p>
              </p:txBody>
            </p:sp>
            <p:grpSp>
              <p:nvGrpSpPr>
                <p:cNvPr id="57" name="Группа 56">
                  <a:extLst>
                    <a:ext uri="{FF2B5EF4-FFF2-40B4-BE49-F238E27FC236}">
                      <a16:creationId xmlns:a16="http://schemas.microsoft.com/office/drawing/2014/main" id="{E45CD447-32F8-947D-6ABC-FE80777056B5}"/>
                    </a:ext>
                  </a:extLst>
                </p:cNvPr>
                <p:cNvGrpSpPr/>
                <p:nvPr/>
              </p:nvGrpSpPr>
              <p:grpSpPr>
                <a:xfrm>
                  <a:off x="3084486" y="2719153"/>
                  <a:ext cx="971680" cy="316024"/>
                  <a:chOff x="4387850" y="3027845"/>
                  <a:chExt cx="971680" cy="316024"/>
                </a:xfrm>
              </p:grpSpPr>
              <p:cxnSp>
                <p:nvCxnSpPr>
                  <p:cNvPr id="61" name="Прямая соединительная линия 60">
                    <a:extLst>
                      <a:ext uri="{FF2B5EF4-FFF2-40B4-BE49-F238E27FC236}">
                        <a16:creationId xmlns:a16="http://schemas.microsoft.com/office/drawing/2014/main" id="{A01B73A0-1F6F-EA78-020C-3D4FD4C0EBA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387850" y="3027845"/>
                    <a:ext cx="481039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2" name="Прямая соединительная линия 61">
                    <a:extLst>
                      <a:ext uri="{FF2B5EF4-FFF2-40B4-BE49-F238E27FC236}">
                        <a16:creationId xmlns:a16="http://schemas.microsoft.com/office/drawing/2014/main" id="{6AD3E0FE-DABF-2735-2EF9-98B07299072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4868889" y="3027845"/>
                    <a:ext cx="490641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8" name="Группа 57">
                  <a:extLst>
                    <a:ext uri="{FF2B5EF4-FFF2-40B4-BE49-F238E27FC236}">
                      <a16:creationId xmlns:a16="http://schemas.microsoft.com/office/drawing/2014/main" id="{4043283B-B551-30EC-0036-BDB309B21BC5}"/>
                    </a:ext>
                  </a:extLst>
                </p:cNvPr>
                <p:cNvGrpSpPr/>
                <p:nvPr/>
              </p:nvGrpSpPr>
              <p:grpSpPr>
                <a:xfrm rot="10800000">
                  <a:off x="152400" y="3035177"/>
                  <a:ext cx="971680" cy="316024"/>
                  <a:chOff x="4387850" y="3027845"/>
                  <a:chExt cx="971680" cy="316024"/>
                </a:xfrm>
              </p:grpSpPr>
              <p:cxnSp>
                <p:nvCxnSpPr>
                  <p:cNvPr id="59" name="Прямая соединительная линия 58">
                    <a:extLst>
                      <a:ext uri="{FF2B5EF4-FFF2-40B4-BE49-F238E27FC236}">
                        <a16:creationId xmlns:a16="http://schemas.microsoft.com/office/drawing/2014/main" id="{ACB8040A-6B11-BAD2-F665-5D7D410C3EE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4387850" y="3027845"/>
                    <a:ext cx="481039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0" name="Прямая соединительная линия 59">
                    <a:extLst>
                      <a:ext uri="{FF2B5EF4-FFF2-40B4-BE49-F238E27FC236}">
                        <a16:creationId xmlns:a16="http://schemas.microsoft.com/office/drawing/2014/main" id="{A521870D-1F6A-69E6-14F3-3DCF485332A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 flipV="1">
                    <a:off x="4868889" y="3027845"/>
                    <a:ext cx="490641" cy="316024"/>
                  </a:xfrm>
                  <a:prstGeom prst="line">
                    <a:avLst/>
                  </a:prstGeom>
                  <a:ln>
                    <a:solidFill>
                      <a:schemeClr val="bg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FD895E77-3875-6580-0A6E-F3047E33E063}"/>
                  </a:ext>
                </a:extLst>
              </p:cNvPr>
              <p:cNvSpPr txBox="1"/>
              <p:nvPr/>
            </p:nvSpPr>
            <p:spPr>
              <a:xfrm>
                <a:off x="5013346" y="1623950"/>
                <a:ext cx="3903766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Шаг 2</a:t>
                </a:r>
              </a:p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Корреляционный </a:t>
                </a:r>
              </a:p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анализ</a:t>
                </a:r>
              </a:p>
            </p:txBody>
          </p:sp>
        </p:grp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AE2D55AE-79D0-8130-5C43-7BD77654081D}"/>
                </a:ext>
              </a:extLst>
            </p:cNvPr>
            <p:cNvSpPr txBox="1"/>
            <p:nvPr/>
          </p:nvSpPr>
          <p:spPr>
            <a:xfrm rot="10800000">
              <a:off x="5028036" y="-1025829"/>
              <a:ext cx="3903766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ru-RU" sz="16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Шаг 5. Распределения </a:t>
              </a:r>
            </a:p>
            <a:p>
              <a:pPr algn="ctr"/>
              <a:r>
                <a:rPr lang="ru-RU" sz="1600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категор</a:t>
              </a:r>
              <a:r>
                <a:rPr lang="ru-RU" sz="16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. атрибутов </a:t>
              </a:r>
            </a:p>
          </p:txBody>
        </p:sp>
      </p:grpSp>
      <p:grpSp>
        <p:nvGrpSpPr>
          <p:cNvPr id="86" name="Группа 85">
            <a:extLst>
              <a:ext uri="{FF2B5EF4-FFF2-40B4-BE49-F238E27FC236}">
                <a16:creationId xmlns:a16="http://schemas.microsoft.com/office/drawing/2014/main" id="{F5CAB16C-3F6C-48CC-91BF-38858BD4D0A6}"/>
              </a:ext>
            </a:extLst>
          </p:cNvPr>
          <p:cNvGrpSpPr/>
          <p:nvPr/>
        </p:nvGrpSpPr>
        <p:grpSpPr>
          <a:xfrm rot="10800000">
            <a:off x="1369150" y="-1343198"/>
            <a:ext cx="3903766" cy="3903766"/>
            <a:chOff x="1208423" y="-1343198"/>
            <a:chExt cx="3903766" cy="3903766"/>
          </a:xfrm>
        </p:grpSpPr>
        <p:grpSp>
          <p:nvGrpSpPr>
            <p:cNvPr id="54" name="Группа 53">
              <a:extLst>
                <a:ext uri="{FF2B5EF4-FFF2-40B4-BE49-F238E27FC236}">
                  <a16:creationId xmlns:a16="http://schemas.microsoft.com/office/drawing/2014/main" id="{8E78F0BF-AFB4-CAC8-A13E-3AF6639122DA}"/>
                </a:ext>
              </a:extLst>
            </p:cNvPr>
            <p:cNvGrpSpPr/>
            <p:nvPr/>
          </p:nvGrpSpPr>
          <p:grpSpPr>
            <a:xfrm>
              <a:off x="1208423" y="-1343198"/>
              <a:ext cx="3903766" cy="3903766"/>
              <a:chOff x="152400" y="1057655"/>
              <a:chExt cx="3903766" cy="3903766"/>
            </a:xfrm>
          </p:grpSpPr>
          <p:sp>
            <p:nvSpPr>
              <p:cNvPr id="9" name="Полилиния: фигура 8">
                <a:extLst>
                  <a:ext uri="{FF2B5EF4-FFF2-40B4-BE49-F238E27FC236}">
                    <a16:creationId xmlns:a16="http://schemas.microsoft.com/office/drawing/2014/main" id="{D4427ABA-B182-C527-4571-3F2662AE429F}"/>
                  </a:ext>
                </a:extLst>
              </p:cNvPr>
              <p:cNvSpPr/>
              <p:nvPr/>
            </p:nvSpPr>
            <p:spPr>
              <a:xfrm>
                <a:off x="152400" y="1057655"/>
                <a:ext cx="3903766" cy="3903766"/>
              </a:xfrm>
              <a:custGeom>
                <a:avLst/>
                <a:gdLst>
                  <a:gd name="csX0" fmla="*/ 2492829 w 4985658"/>
                  <a:gd name="csY0" fmla="*/ 1240972 h 4985658"/>
                  <a:gd name="csX1" fmla="*/ 1240972 w 4985658"/>
                  <a:gd name="csY1" fmla="*/ 2492829 h 4985658"/>
                  <a:gd name="csX2" fmla="*/ 2492829 w 4985658"/>
                  <a:gd name="csY2" fmla="*/ 3744686 h 4985658"/>
                  <a:gd name="csX3" fmla="*/ 3744686 w 4985658"/>
                  <a:gd name="csY3" fmla="*/ 2492829 h 4985658"/>
                  <a:gd name="csX4" fmla="*/ 2492829 w 4985658"/>
                  <a:gd name="csY4" fmla="*/ 1240972 h 4985658"/>
                  <a:gd name="csX5" fmla="*/ 2492829 w 4985658"/>
                  <a:gd name="csY5" fmla="*/ 0 h 4985658"/>
                  <a:gd name="csX6" fmla="*/ 4985658 w 4985658"/>
                  <a:gd name="csY6" fmla="*/ 2492829 h 4985658"/>
                  <a:gd name="csX7" fmla="*/ 2492829 w 4985658"/>
                  <a:gd name="csY7" fmla="*/ 4985658 h 4985658"/>
                  <a:gd name="csX8" fmla="*/ 0 w 4985658"/>
                  <a:gd name="csY8" fmla="*/ 2492829 h 4985658"/>
                  <a:gd name="csX9" fmla="*/ 2492829 w 4985658"/>
                  <a:gd name="csY9" fmla="*/ 0 h 498565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4985658" h="4985658">
                    <a:moveTo>
                      <a:pt x="2492829" y="1240972"/>
                    </a:moveTo>
                    <a:cubicBezTo>
                      <a:pt x="1801447" y="1240972"/>
                      <a:pt x="1240972" y="1801447"/>
                      <a:pt x="1240972" y="2492829"/>
                    </a:cubicBezTo>
                    <a:cubicBezTo>
                      <a:pt x="1240972" y="3184211"/>
                      <a:pt x="1801447" y="3744686"/>
                      <a:pt x="2492829" y="3744686"/>
                    </a:cubicBezTo>
                    <a:cubicBezTo>
                      <a:pt x="3184211" y="3744686"/>
                      <a:pt x="3744686" y="3184211"/>
                      <a:pt x="3744686" y="2492829"/>
                    </a:cubicBezTo>
                    <a:cubicBezTo>
                      <a:pt x="3744686" y="1801447"/>
                      <a:pt x="3184211" y="1240972"/>
                      <a:pt x="2492829" y="1240972"/>
                    </a:cubicBezTo>
                    <a:close/>
                    <a:moveTo>
                      <a:pt x="2492829" y="0"/>
                    </a:moveTo>
                    <a:cubicBezTo>
                      <a:pt x="3869580" y="0"/>
                      <a:pt x="4985658" y="1116078"/>
                      <a:pt x="4985658" y="2492829"/>
                    </a:cubicBezTo>
                    <a:cubicBezTo>
                      <a:pt x="4985658" y="3869580"/>
                      <a:pt x="3869580" y="4985658"/>
                      <a:pt x="2492829" y="4985658"/>
                    </a:cubicBezTo>
                    <a:cubicBezTo>
                      <a:pt x="1116078" y="4985658"/>
                      <a:pt x="0" y="3869580"/>
                      <a:pt x="0" y="2492829"/>
                    </a:cubicBezTo>
                    <a:cubicBezTo>
                      <a:pt x="0" y="1116078"/>
                      <a:pt x="1116078" y="0"/>
                      <a:pt x="2492829" y="0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tx2">
                      <a:lumMod val="50000"/>
                      <a:lumOff val="50000"/>
                    </a:schemeClr>
                  </a:gs>
                  <a:gs pos="75000">
                    <a:srgbClr val="122639"/>
                  </a:gs>
                  <a:gs pos="100000">
                    <a:schemeClr val="tx1">
                      <a:lumMod val="95000"/>
                      <a:lumOff val="5000"/>
                    </a:schemeClr>
                  </a:gs>
                  <a:gs pos="44000">
                    <a:schemeClr val="tx2">
                      <a:lumMod val="90000"/>
                      <a:lumOff val="10000"/>
                    </a:schemeClr>
                  </a:gs>
                </a:gsLst>
                <a:lin ang="12600000" scaled="0"/>
              </a:gra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ru-RU" dirty="0"/>
              </a:p>
            </p:txBody>
          </p:sp>
          <p:grpSp>
            <p:nvGrpSpPr>
              <p:cNvPr id="50" name="Группа 49">
                <a:extLst>
                  <a:ext uri="{FF2B5EF4-FFF2-40B4-BE49-F238E27FC236}">
                    <a16:creationId xmlns:a16="http://schemas.microsoft.com/office/drawing/2014/main" id="{415EE052-8129-64EE-4F80-8084747055CF}"/>
                  </a:ext>
                </a:extLst>
              </p:cNvPr>
              <p:cNvGrpSpPr/>
              <p:nvPr/>
            </p:nvGrpSpPr>
            <p:grpSpPr>
              <a:xfrm>
                <a:off x="3084486" y="2719153"/>
                <a:ext cx="971680" cy="316024"/>
                <a:chOff x="4387850" y="3027845"/>
                <a:chExt cx="971680" cy="316024"/>
              </a:xfrm>
            </p:grpSpPr>
            <p:cxnSp>
              <p:nvCxnSpPr>
                <p:cNvPr id="15" name="Прямая соединительная линия 14">
                  <a:extLst>
                    <a:ext uri="{FF2B5EF4-FFF2-40B4-BE49-F238E27FC236}">
                      <a16:creationId xmlns:a16="http://schemas.microsoft.com/office/drawing/2014/main" id="{175CCFBA-F2B2-1CB3-C973-7AF1658152E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387850" y="3027845"/>
                  <a:ext cx="481039" cy="316024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Прямая соединительная линия 16">
                  <a:extLst>
                    <a:ext uri="{FF2B5EF4-FFF2-40B4-BE49-F238E27FC236}">
                      <a16:creationId xmlns:a16="http://schemas.microsoft.com/office/drawing/2014/main" id="{AEEB5AE1-2058-0E32-85F3-1258A696522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868889" y="3027845"/>
                  <a:ext cx="490641" cy="316024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1" name="Группа 50">
                <a:extLst>
                  <a:ext uri="{FF2B5EF4-FFF2-40B4-BE49-F238E27FC236}">
                    <a16:creationId xmlns:a16="http://schemas.microsoft.com/office/drawing/2014/main" id="{68BE466E-2586-A19F-3C4F-5524019DDDD0}"/>
                  </a:ext>
                </a:extLst>
              </p:cNvPr>
              <p:cNvGrpSpPr/>
              <p:nvPr/>
            </p:nvGrpSpPr>
            <p:grpSpPr>
              <a:xfrm rot="10800000">
                <a:off x="152400" y="3035177"/>
                <a:ext cx="971680" cy="316024"/>
                <a:chOff x="4387850" y="3027845"/>
                <a:chExt cx="971680" cy="316024"/>
              </a:xfrm>
            </p:grpSpPr>
            <p:cxnSp>
              <p:nvCxnSpPr>
                <p:cNvPr id="52" name="Прямая соединительная линия 51">
                  <a:extLst>
                    <a:ext uri="{FF2B5EF4-FFF2-40B4-BE49-F238E27FC236}">
                      <a16:creationId xmlns:a16="http://schemas.microsoft.com/office/drawing/2014/main" id="{0CD9C7A7-A589-89FE-E5D4-284B2A19E78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387850" y="3027845"/>
                  <a:ext cx="481039" cy="316024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Прямая соединительная линия 52">
                  <a:extLst>
                    <a:ext uri="{FF2B5EF4-FFF2-40B4-BE49-F238E27FC236}">
                      <a16:creationId xmlns:a16="http://schemas.microsoft.com/office/drawing/2014/main" id="{A5A31CC3-890F-EB7A-15B5-6CD2C958B00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868889" y="3027845"/>
                  <a:ext cx="490641" cy="316024"/>
                </a:xfrm>
                <a:prstGeom prst="line">
                  <a:avLst/>
                </a:prstGeom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85" name="Группа 84">
              <a:extLst>
                <a:ext uri="{FF2B5EF4-FFF2-40B4-BE49-F238E27FC236}">
                  <a16:creationId xmlns:a16="http://schemas.microsoft.com/office/drawing/2014/main" id="{970A2133-7823-F215-EB9C-5FC8B932D167}"/>
                </a:ext>
              </a:extLst>
            </p:cNvPr>
            <p:cNvGrpSpPr/>
            <p:nvPr/>
          </p:nvGrpSpPr>
          <p:grpSpPr>
            <a:xfrm rot="10800000">
              <a:off x="1757182" y="-1002650"/>
              <a:ext cx="2806248" cy="3224868"/>
              <a:chOff x="1757182" y="-971872"/>
              <a:chExt cx="2806248" cy="3224868"/>
            </a:xfrm>
          </p:grpSpPr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FCF36A99-CAB6-24C4-C03F-6292252297E0}"/>
                  </a:ext>
                </a:extLst>
              </p:cNvPr>
              <p:cNvSpPr txBox="1"/>
              <p:nvPr/>
            </p:nvSpPr>
            <p:spPr>
              <a:xfrm rot="10800000">
                <a:off x="1889778" y="-971872"/>
                <a:ext cx="2541057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Шаг 1</a:t>
                </a:r>
              </a:p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Качество данных</a:t>
                </a:r>
              </a:p>
            </p:txBody>
          </p:sp>
          <p:sp>
            <p:nvSpPr>
              <p:cNvPr id="84" name="TextBox 83">
                <a:extLst>
                  <a:ext uri="{FF2B5EF4-FFF2-40B4-BE49-F238E27FC236}">
                    <a16:creationId xmlns:a16="http://schemas.microsoft.com/office/drawing/2014/main" id="{0DBE11D6-D7A2-B6B6-DDA9-49ED9E28412D}"/>
                  </a:ext>
                </a:extLst>
              </p:cNvPr>
              <p:cNvSpPr txBox="1"/>
              <p:nvPr/>
            </p:nvSpPr>
            <p:spPr>
              <a:xfrm>
                <a:off x="1757182" y="1668221"/>
                <a:ext cx="2806248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Шаг 4. Распределения</a:t>
                </a:r>
              </a:p>
              <a:p>
                <a:pPr algn="ctr"/>
                <a:r>
                  <a:rPr lang="ru-RU" sz="16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числовых атрибутов</a:t>
                </a:r>
              </a:p>
            </p:txBody>
          </p:sp>
        </p:grpSp>
      </p:grp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0130EFA4-79E1-CCE5-7472-7809CB036A3F}"/>
              </a:ext>
            </a:extLst>
          </p:cNvPr>
          <p:cNvSpPr/>
          <p:nvPr/>
        </p:nvSpPr>
        <p:spPr>
          <a:xfrm>
            <a:off x="-246746" y="-220648"/>
            <a:ext cx="12685487" cy="1312847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75000"/>
                  <a:lumOff val="25000"/>
                </a:schemeClr>
              </a:gs>
              <a:gs pos="75000">
                <a:srgbClr val="122639"/>
              </a:gs>
              <a:gs pos="100000">
                <a:schemeClr val="tx1">
                  <a:lumMod val="95000"/>
                  <a:lumOff val="5000"/>
                </a:schemeClr>
              </a:gs>
              <a:gs pos="44000">
                <a:schemeClr val="tx2">
                  <a:lumMod val="90000"/>
                  <a:lumOff val="10000"/>
                </a:schemeClr>
              </a:gs>
            </a:gsLst>
            <a:lin ang="12600000" scaled="0"/>
            <a:tileRect/>
          </a:gra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FBC6AD-15E0-8939-5426-E4359F246DF0}"/>
              </a:ext>
            </a:extLst>
          </p:cNvPr>
          <p:cNvSpPr txBox="1"/>
          <p:nvPr/>
        </p:nvSpPr>
        <p:spPr>
          <a:xfrm>
            <a:off x="651247" y="232100"/>
            <a:ext cx="10889495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Данные с изображениями: анализ</a:t>
            </a:r>
            <a:endParaRPr lang="ru-RU" sz="2000" dirty="0">
              <a:solidFill>
                <a:schemeClr val="bg1"/>
              </a:solidFill>
              <a:latin typeface="Arial Black" panose="020B0A040201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Дата 6">
            <a:extLst>
              <a:ext uri="{FF2B5EF4-FFF2-40B4-BE49-F238E27FC236}">
                <a16:creationId xmlns:a16="http://schemas.microsoft.com/office/drawing/2014/main" id="{FE25101A-FBC2-ABFE-499A-512FB2526D8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280316" y="6284083"/>
            <a:ext cx="892634" cy="463875"/>
          </a:xfrm>
        </p:spPr>
        <p:txBody>
          <a:bodyPr/>
          <a:lstStyle/>
          <a:p>
            <a:pPr algn="ctr">
              <a:defRPr/>
            </a:pPr>
            <a:fld id="{D063FBCF-7873-4A49-B36C-1F912BB77786}" type="slidenum">
              <a:rPr lang="ru-RU" altLang="ru-RU" sz="2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ctr">
                <a:defRPr/>
              </a:pPr>
              <a:t>19</a:t>
            </a:fld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/13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A19D995B-B569-4F5B-9965-FFE2A74FD5EB}"/>
              </a:ext>
            </a:extLst>
          </p:cNvPr>
          <p:cNvSpPr/>
          <p:nvPr/>
        </p:nvSpPr>
        <p:spPr>
          <a:xfrm>
            <a:off x="-476262" y="937951"/>
            <a:ext cx="13144512" cy="5201601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Дата 6">
            <a:extLst>
              <a:ext uri="{FF2B5EF4-FFF2-40B4-BE49-F238E27FC236}">
                <a16:creationId xmlns:a16="http://schemas.microsoft.com/office/drawing/2014/main" id="{AA1B4D07-A4FD-A2EA-2914-2B54B1EC013F}"/>
              </a:ext>
            </a:extLst>
          </p:cNvPr>
          <p:cNvSpPr txBox="1">
            <a:spLocks/>
          </p:cNvSpPr>
          <p:nvPr/>
        </p:nvSpPr>
        <p:spPr>
          <a:xfrm>
            <a:off x="38100" y="6284084"/>
            <a:ext cx="7785187" cy="463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Курсовой проект «Поиск и первичный анализ наборов данных»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cxnSp>
        <p:nvCxnSpPr>
          <p:cNvPr id="79" name="Прямая соединительная линия 78">
            <a:extLst>
              <a:ext uri="{FF2B5EF4-FFF2-40B4-BE49-F238E27FC236}">
                <a16:creationId xmlns:a16="http://schemas.microsoft.com/office/drawing/2014/main" id="{BB77BFFC-256F-473D-73EF-350C6E8A4105}"/>
              </a:ext>
            </a:extLst>
          </p:cNvPr>
          <p:cNvCxnSpPr>
            <a:cxnSpLocks/>
          </p:cNvCxnSpPr>
          <p:nvPr/>
        </p:nvCxnSpPr>
        <p:spPr>
          <a:xfrm flipH="1">
            <a:off x="-476262" y="2683744"/>
            <a:ext cx="13163562" cy="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4" name="Группа 33">
            <a:extLst>
              <a:ext uri="{FF2B5EF4-FFF2-40B4-BE49-F238E27FC236}">
                <a16:creationId xmlns:a16="http://schemas.microsoft.com/office/drawing/2014/main" id="{F57511B9-ECC0-9D6F-A5E7-317B51D59331}"/>
              </a:ext>
            </a:extLst>
          </p:cNvPr>
          <p:cNvGrpSpPr/>
          <p:nvPr/>
        </p:nvGrpSpPr>
        <p:grpSpPr>
          <a:xfrm>
            <a:off x="-499372" y="2689395"/>
            <a:ext cx="13163562" cy="3607987"/>
            <a:chOff x="12275671" y="2705100"/>
            <a:chExt cx="13163562" cy="3607987"/>
          </a:xfrm>
        </p:grpSpPr>
        <p:cxnSp>
          <p:nvCxnSpPr>
            <p:cNvPr id="35" name="Прямая соединительная линия 34">
              <a:extLst>
                <a:ext uri="{FF2B5EF4-FFF2-40B4-BE49-F238E27FC236}">
                  <a16:creationId xmlns:a16="http://schemas.microsoft.com/office/drawing/2014/main" id="{8EDDF098-51B6-B578-7C02-099FBECDE0EC}"/>
                </a:ext>
              </a:extLst>
            </p:cNvPr>
            <p:cNvCxnSpPr>
              <a:cxnSpLocks/>
            </p:cNvCxnSpPr>
            <p:nvPr/>
          </p:nvCxnSpPr>
          <p:spPr>
            <a:xfrm>
              <a:off x="13997159" y="2705100"/>
              <a:ext cx="0" cy="3434452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6" name="Группа 35">
              <a:extLst>
                <a:ext uri="{FF2B5EF4-FFF2-40B4-BE49-F238E27FC236}">
                  <a16:creationId xmlns:a16="http://schemas.microsoft.com/office/drawing/2014/main" id="{3691A7CB-5E22-CEC8-E0CB-96A9412AB306}"/>
                </a:ext>
              </a:extLst>
            </p:cNvPr>
            <p:cNvGrpSpPr/>
            <p:nvPr/>
          </p:nvGrpSpPr>
          <p:grpSpPr>
            <a:xfrm>
              <a:off x="12275671" y="2705100"/>
              <a:ext cx="13163562" cy="3607987"/>
              <a:chOff x="12275671" y="2705100"/>
              <a:chExt cx="13163562" cy="3607987"/>
            </a:xfrm>
          </p:grpSpPr>
          <p:cxnSp>
            <p:nvCxnSpPr>
              <p:cNvPr id="37" name="Прямая соединительная линия 36">
                <a:extLst>
                  <a:ext uri="{FF2B5EF4-FFF2-40B4-BE49-F238E27FC236}">
                    <a16:creationId xmlns:a16="http://schemas.microsoft.com/office/drawing/2014/main" id="{08AA5DA6-A0E7-4D9F-0B26-288E2371B5E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2275671" y="4670426"/>
                <a:ext cx="13163562" cy="0"/>
              </a:xfrm>
              <a:prstGeom prst="line">
                <a:avLst/>
              </a:prstGeom>
              <a:ln w="25400">
                <a:solidFill>
                  <a:schemeClr val="bg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5071AE41-08AF-8902-78FE-62F89CB1624D}"/>
                  </a:ext>
                </a:extLst>
              </p:cNvPr>
              <p:cNvSpPr txBox="1"/>
              <p:nvPr/>
            </p:nvSpPr>
            <p:spPr>
              <a:xfrm rot="3847950">
                <a:off x="12649947" y="3625376"/>
                <a:ext cx="15975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Результаты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4CC001D0-2F85-B7A8-BBA3-9F150FC40A63}"/>
                  </a:ext>
                </a:extLst>
              </p:cNvPr>
              <p:cNvSpPr txBox="1"/>
              <p:nvPr/>
            </p:nvSpPr>
            <p:spPr>
              <a:xfrm rot="3847950">
                <a:off x="12721971" y="5368638"/>
                <a:ext cx="151956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ru-RU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Действия</a:t>
                </a:r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DBC031AD-4B7C-782E-1A00-294F07CE59F9}"/>
                  </a:ext>
                </a:extLst>
              </p:cNvPr>
              <p:cNvSpPr txBox="1"/>
              <p:nvPr/>
            </p:nvSpPr>
            <p:spPr>
              <a:xfrm>
                <a:off x="14074343" y="2743199"/>
                <a:ext cx="3863630" cy="178080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5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Качество сна: Близко к нормальному;</a:t>
                </a:r>
              </a:p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5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Уровень стресса и умственная усталость: Левосторонняя асимметрия;</a:t>
                </a:r>
              </a:p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5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Кофеин: Дискретное;</a:t>
                </a:r>
              </a:p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5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Остальные признаки: Равномерное.</a:t>
                </a: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1C4BD935-2A39-D303-2367-9E73D2E9DC72}"/>
                  </a:ext>
                </a:extLst>
              </p:cNvPr>
              <p:cNvSpPr txBox="1"/>
              <p:nvPr/>
            </p:nvSpPr>
            <p:spPr>
              <a:xfrm>
                <a:off x="18012063" y="2739324"/>
                <a:ext cx="3190587" cy="74206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Пол: Дисбаланс;</a:t>
                </a:r>
              </a:p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5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Профессия: равномерное.</a:t>
                </a:r>
                <a:endParaRPr lang="ru-RU" sz="15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A6210A43-D1E5-D631-CDDB-2309C581210E}"/>
                  </a:ext>
                </a:extLst>
              </p:cNvPr>
              <p:cNvSpPr txBox="1"/>
              <p:nvPr/>
            </p:nvSpPr>
            <p:spPr>
              <a:xfrm>
                <a:off x="21647278" y="2705100"/>
                <a:ext cx="3442447" cy="10883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indent="-28440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Пол: </a:t>
                </a:r>
                <a:r>
                  <a:rPr lang="ru-RU" sz="1500" b="0" i="0" dirty="0" err="1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Female</a:t>
                </a:r>
                <a:r>
                  <a:rPr lang="ru-RU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:r>
                  <a:rPr lang="ru-RU" sz="1500" b="0" i="0" dirty="0" err="1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Male</a:t>
                </a:r>
                <a:r>
                  <a:rPr lang="ru-RU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:r>
                  <a:rPr lang="ru-RU" sz="1500" b="0" i="0" dirty="0" err="1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Other</a:t>
                </a:r>
                <a:r>
                  <a:rPr lang="ru-RU" sz="15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. </a:t>
                </a:r>
              </a:p>
              <a:p>
                <a:pPr indent="-284400">
                  <a:lnSpc>
                    <a:spcPct val="150000"/>
                  </a:lnSpc>
                </a:pPr>
                <a:r>
                  <a:rPr lang="en-CA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{</a:t>
                </a:r>
                <a:r>
                  <a:rPr lang="ru-RU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0, 2</a:t>
                </a:r>
                <a:r>
                  <a:rPr lang="en-CA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}</a:t>
                </a:r>
                <a:endPara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indent="-28440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Профессия: 8 категорий </a:t>
                </a:r>
                <a:r>
                  <a:rPr lang="en-CA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{</a:t>
                </a:r>
                <a:r>
                  <a:rPr lang="ru-RU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0, 7</a:t>
                </a:r>
                <a:r>
                  <a:rPr lang="en-CA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}</a:t>
                </a:r>
                <a:endPara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DFC1C2B-7CE3-FB22-92A8-FBC816AD6169}"/>
                  </a:ext>
                </a:extLst>
              </p:cNvPr>
              <p:cNvSpPr txBox="1"/>
              <p:nvPr/>
            </p:nvSpPr>
            <p:spPr>
              <a:xfrm>
                <a:off x="14106584" y="4735799"/>
                <a:ext cx="3735376" cy="10218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ru-RU" sz="14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Уровень стресса и умственная усталость: </a:t>
                </a:r>
                <a:r>
                  <a:rPr lang="ru-RU" sz="14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Группировка редких</a:t>
                </a:r>
              </a:p>
              <a:p>
                <a:pPr>
                  <a:lnSpc>
                    <a:spcPct val="150000"/>
                  </a:lnSpc>
                </a:pPr>
                <a:r>
                  <a:rPr lang="ru-RU" sz="14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значений</a:t>
                </a:r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3AFF1F9F-D037-C887-0D3A-208A1717749D}"/>
                  </a:ext>
                </a:extLst>
              </p:cNvPr>
              <p:cNvSpPr txBox="1"/>
              <p:nvPr/>
            </p:nvSpPr>
            <p:spPr>
              <a:xfrm>
                <a:off x="18012063" y="4788442"/>
                <a:ext cx="2977089" cy="55399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–"/>
                </a:pPr>
                <a:r>
                  <a:rPr lang="ru-RU" sz="1500" dirty="0">
                    <a:solidFill>
                      <a:srgbClr val="F9FAFB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Пол: </a:t>
                </a:r>
                <a:r>
                  <a:rPr lang="ru-RU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Учет дисбаланса</a:t>
                </a:r>
              </a:p>
              <a:p>
                <a:r>
                  <a:rPr lang="ru-RU" sz="1500" b="0" i="0" dirty="0">
                    <a:solidFill>
                      <a:srgbClr val="F9FAFB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при обучении модели</a:t>
                </a:r>
              </a:p>
            </p:txBody>
          </p: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E7DDF871-9391-50C0-D3D0-4C7607F34648}"/>
                  </a:ext>
                </a:extLst>
              </p:cNvPr>
              <p:cNvSpPr txBox="1"/>
              <p:nvPr/>
            </p:nvSpPr>
            <p:spPr>
              <a:xfrm>
                <a:off x="21647278" y="4696367"/>
                <a:ext cx="2989310" cy="39581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indent="-285750">
                  <a:lnSpc>
                    <a:spcPct val="150000"/>
                  </a:lnSpc>
                  <a:buFont typeface="Arial" panose="020B0604020202020204" pitchFamily="34" charset="0"/>
                  <a:buChar char="–"/>
                </a:pPr>
                <a:r>
                  <a:rPr lang="en-US" sz="1500" dirty="0">
                    <a:solidFill>
                      <a:schemeClr val="bg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 Label Encoding</a:t>
                </a:r>
                <a:endParaRPr lang="ru-RU" sz="15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  <p:grpSp>
        <p:nvGrpSpPr>
          <p:cNvPr id="108" name="Группа 107">
            <a:extLst>
              <a:ext uri="{FF2B5EF4-FFF2-40B4-BE49-F238E27FC236}">
                <a16:creationId xmlns:a16="http://schemas.microsoft.com/office/drawing/2014/main" id="{433F0099-2E46-8EAF-2635-F28ABB403091}"/>
              </a:ext>
            </a:extLst>
          </p:cNvPr>
          <p:cNvGrpSpPr/>
          <p:nvPr/>
        </p:nvGrpSpPr>
        <p:grpSpPr>
          <a:xfrm>
            <a:off x="12405176" y="2687217"/>
            <a:ext cx="13163562" cy="3607987"/>
            <a:chOff x="-495312" y="2705100"/>
            <a:chExt cx="13163562" cy="3607987"/>
          </a:xfrm>
        </p:grpSpPr>
        <p:cxnSp>
          <p:nvCxnSpPr>
            <p:cNvPr id="109" name="Прямая соединительная линия 108">
              <a:extLst>
                <a:ext uri="{FF2B5EF4-FFF2-40B4-BE49-F238E27FC236}">
                  <a16:creationId xmlns:a16="http://schemas.microsoft.com/office/drawing/2014/main" id="{FAE1D558-5422-C096-89E1-24C970BEA9B3}"/>
                </a:ext>
              </a:extLst>
            </p:cNvPr>
            <p:cNvCxnSpPr>
              <a:cxnSpLocks/>
            </p:cNvCxnSpPr>
            <p:nvPr/>
          </p:nvCxnSpPr>
          <p:spPr>
            <a:xfrm>
              <a:off x="1226176" y="2705100"/>
              <a:ext cx="0" cy="3434452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Прямая соединительная линия 109">
              <a:extLst>
                <a:ext uri="{FF2B5EF4-FFF2-40B4-BE49-F238E27FC236}">
                  <a16:creationId xmlns:a16="http://schemas.microsoft.com/office/drawing/2014/main" id="{9ABA2753-7A29-9605-3C6A-6CB1939540D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-495312" y="4670426"/>
              <a:ext cx="13163562" cy="0"/>
            </a:xfrm>
            <a:prstGeom prst="line">
              <a:avLst/>
            </a:prstGeom>
            <a:ln w="254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8C00466E-F30E-C10B-634F-5554C449A93A}"/>
                </a:ext>
              </a:extLst>
            </p:cNvPr>
            <p:cNvSpPr txBox="1"/>
            <p:nvPr/>
          </p:nvSpPr>
          <p:spPr>
            <a:xfrm rot="3847950">
              <a:off x="-121036" y="3625376"/>
              <a:ext cx="15975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Результаты</a:t>
              </a: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C5020C42-52D8-B5D9-C8BB-F55074DC3BE7}"/>
                </a:ext>
              </a:extLst>
            </p:cNvPr>
            <p:cNvSpPr txBox="1"/>
            <p:nvPr/>
          </p:nvSpPr>
          <p:spPr>
            <a:xfrm rot="3847950">
              <a:off x="-49012" y="5368638"/>
              <a:ext cx="151956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ru-RU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Действия</a:t>
              </a: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203F8C6F-65CD-4DC7-17FE-E53482B62A45}"/>
                </a:ext>
              </a:extLst>
            </p:cNvPr>
            <p:cNvSpPr txBox="1"/>
            <p:nvPr/>
          </p:nvSpPr>
          <p:spPr>
            <a:xfrm>
              <a:off x="1396280" y="2738923"/>
              <a:ext cx="3098519" cy="14345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5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Отсутствие п</a:t>
              </a:r>
              <a:r>
                <a: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ропусков и дубликатов;</a:t>
              </a:r>
            </a:p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Выбросы только в признаке качество сна (9 шт., 0.06%).</a:t>
              </a:r>
              <a:endParaRPr lang="ru-RU" sz="15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F2E1BA36-D227-76FC-E6C8-29AEE36AF6A5}"/>
                </a:ext>
              </a:extLst>
            </p:cNvPr>
            <p:cNvSpPr txBox="1"/>
            <p:nvPr/>
          </p:nvSpPr>
          <p:spPr>
            <a:xfrm>
              <a:off x="4564085" y="2743199"/>
              <a:ext cx="4278218" cy="178080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Сильные: стресс и умственная усталость (+0.95), стресс и качество сна (-0.86), Стресс и экранное время: (+0.88);</a:t>
              </a:r>
            </a:p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500" b="0" i="0" dirty="0" err="1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Мультиколлинеарности</a:t>
              </a:r>
              <a:r>
                <a: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 входных признаков нет (&lt; 0.75).</a:t>
              </a:r>
              <a:endParaRPr lang="ru-RU" sz="15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09377F57-FFA4-EC6B-FD41-0A4D858110E0}"/>
                </a:ext>
              </a:extLst>
            </p:cNvPr>
            <p:cNvSpPr txBox="1"/>
            <p:nvPr/>
          </p:nvSpPr>
          <p:spPr>
            <a:xfrm>
              <a:off x="8586491" y="2743199"/>
              <a:ext cx="3442447" cy="178080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285750">
                <a:lnSpc>
                  <a:spcPct val="150000"/>
                </a:lnSpc>
              </a:pPr>
              <a:r>
                <a: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Значительное различие в </a:t>
              </a:r>
            </a:p>
            <a:p>
              <a:pPr marL="285750">
                <a:lnSpc>
                  <a:spcPct val="150000"/>
                </a:lnSpc>
              </a:pPr>
              <a:r>
                <a: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масштабах признаков:</a:t>
              </a:r>
            </a:p>
            <a:p>
              <a:pPr marL="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en-CA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r>
                <a:rPr lang="en-CA" sz="15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8</a:t>
              </a:r>
              <a:r>
                <a: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CA" sz="15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≤ </a:t>
              </a:r>
              <a:r>
                <a:rPr lang="ru-RU" sz="15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возраст</a:t>
              </a:r>
              <a:r>
                <a:rPr lang="en-CA" sz="15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≤ </a:t>
              </a:r>
              <a:r>
                <a:rPr lang="en-CA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59;</a:t>
              </a:r>
              <a:endParaRPr lang="ru-RU" sz="1500" b="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marL="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en-CA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 0 ≤ </a:t>
              </a:r>
              <a:r>
                <a:rPr lang="ru-RU" sz="1500" b="0" i="0" dirty="0" err="1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чашки_кофе</a:t>
              </a:r>
              <a:r>
                <a: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CA" sz="15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≤</a:t>
              </a:r>
              <a:r>
                <a:rPr lang="ru-RU" sz="15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4;</a:t>
              </a:r>
              <a:endParaRPr lang="ru-RU" sz="1500" b="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marL="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 20 </a:t>
              </a:r>
              <a:r>
                <a:rPr lang="en-CA" sz="15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≤</a:t>
              </a:r>
              <a:r>
                <a:rPr lang="ru-RU" sz="15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уведомления </a:t>
              </a:r>
              <a:r>
                <a:rPr lang="en-CA" sz="15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≤ </a:t>
              </a:r>
              <a:r>
                <a:rPr lang="ru-RU" sz="1500" dirty="0">
                  <a:solidFill>
                    <a:srgbClr val="F9FAF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299.</a:t>
              </a:r>
              <a:endParaRPr lang="ru-RU" sz="1500" b="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9AAC4722-9976-D725-E2E9-9B7317205E72}"/>
                </a:ext>
              </a:extLst>
            </p:cNvPr>
            <p:cNvSpPr txBox="1"/>
            <p:nvPr/>
          </p:nvSpPr>
          <p:spPr>
            <a:xfrm>
              <a:off x="1406586" y="4788442"/>
              <a:ext cx="2977089" cy="69871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4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Оставить выбросы как экстремальные случаи</a:t>
              </a:r>
              <a:endParaRPr lang="ru-RU" sz="14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8C19122D-E61E-2966-B0F2-35B9521D9510}"/>
                </a:ext>
              </a:extLst>
            </p:cNvPr>
            <p:cNvSpPr txBox="1"/>
            <p:nvPr/>
          </p:nvSpPr>
          <p:spPr>
            <a:xfrm>
              <a:off x="4564086" y="4848782"/>
              <a:ext cx="3549400" cy="5539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–"/>
              </a:pPr>
              <a:r>
                <a: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Использовать все признаки для</a:t>
              </a:r>
            </a:p>
            <a:p>
              <a:r>
                <a:rPr lang="ru-RU" sz="1500" b="0" i="0" dirty="0">
                  <a:solidFill>
                    <a:srgbClr val="F9FAFB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rPr>
                <a:t>построения ИИ-модели</a:t>
              </a:r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ACA99E8A-3617-F745-3D2C-C85C255122F9}"/>
                </a:ext>
              </a:extLst>
            </p:cNvPr>
            <p:cNvSpPr txBox="1"/>
            <p:nvPr/>
          </p:nvSpPr>
          <p:spPr>
            <a:xfrm>
              <a:off x="8876295" y="4789078"/>
              <a:ext cx="2989310" cy="108831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indent="-285750">
                <a:lnSpc>
                  <a:spcPct val="150000"/>
                </a:lnSpc>
                <a:buFont typeface="Arial" panose="020B0604020202020204" pitchFamily="34" charset="0"/>
                <a:buChar char="–"/>
              </a:pPr>
              <a:r>
                <a:rPr lang="ru-RU" sz="15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Применить </a:t>
              </a:r>
              <a:r>
                <a:rPr lang="ru-RU" sz="1500" dirty="0" err="1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StandardScaler</a:t>
              </a:r>
              <a:r>
                <a:rPr lang="ru-RU" sz="150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, для приведения всех числовых признаков к единому масштабу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16748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2940B9-B99C-9409-1502-9AD5252175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49D4F520-FC19-40D6-49C6-8548DFD1D9A7}"/>
              </a:ext>
            </a:extLst>
          </p:cNvPr>
          <p:cNvSpPr/>
          <p:nvPr/>
        </p:nvSpPr>
        <p:spPr>
          <a:xfrm>
            <a:off x="-246751" y="-220648"/>
            <a:ext cx="12685487" cy="7299296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50000"/>
                  <a:lumOff val="50000"/>
                </a:schemeClr>
              </a:gs>
              <a:gs pos="75000">
                <a:srgbClr val="122639"/>
              </a:gs>
              <a:gs pos="100000">
                <a:schemeClr val="tx1">
                  <a:lumMod val="95000"/>
                  <a:lumOff val="5000"/>
                </a:schemeClr>
              </a:gs>
              <a:gs pos="50000">
                <a:schemeClr val="tx2">
                  <a:lumMod val="90000"/>
                  <a:lumOff val="10000"/>
                </a:schemeClr>
              </a:gs>
            </a:gsLst>
            <a:lin ang="12000000" scaled="0"/>
            <a:tileRect/>
          </a:gra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AC3A158-D99E-6343-DD86-F390321D300C}"/>
              </a:ext>
            </a:extLst>
          </p:cNvPr>
          <p:cNvSpPr txBox="1"/>
          <p:nvPr/>
        </p:nvSpPr>
        <p:spPr>
          <a:xfrm>
            <a:off x="651247" y="232100"/>
            <a:ext cx="10889495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sz="2800" dirty="0">
                <a:solidFill>
                  <a:schemeClr val="bg1"/>
                </a:solidFill>
                <a:latin typeface="Arial Black" panose="020B0A04020102020204" pitchFamily="34" charset="0"/>
                <a:cs typeface="Arial" panose="020B0604020202020204" pitchFamily="34" charset="0"/>
              </a:rPr>
              <a:t>Данные с изображениями: выводы</a:t>
            </a:r>
            <a:endParaRPr lang="ru-RU" sz="2000" dirty="0">
              <a:solidFill>
                <a:schemeClr val="bg1"/>
              </a:solidFill>
              <a:latin typeface="Arial Black" panose="020B0A040201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Дата 6">
            <a:extLst>
              <a:ext uri="{FF2B5EF4-FFF2-40B4-BE49-F238E27FC236}">
                <a16:creationId xmlns:a16="http://schemas.microsoft.com/office/drawing/2014/main" id="{21B2731D-A000-B090-3515-4A4A4F8BFE9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280316" y="6284083"/>
            <a:ext cx="892634" cy="463875"/>
          </a:xfrm>
        </p:spPr>
        <p:txBody>
          <a:bodyPr/>
          <a:lstStyle/>
          <a:p>
            <a:pPr algn="ctr">
              <a:defRPr/>
            </a:pPr>
            <a:fld id="{D063FBCF-7873-4A49-B36C-1F912BB77786}" type="slidenum">
              <a:rPr lang="ru-RU" altLang="ru-RU" sz="2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 algn="ctr">
                <a:defRPr/>
              </a:pPr>
              <a:t>20</a:t>
            </a:fld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/13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3487C745-B629-9ED7-75A8-0A5C185B3EB9}"/>
              </a:ext>
            </a:extLst>
          </p:cNvPr>
          <p:cNvSpPr/>
          <p:nvPr/>
        </p:nvSpPr>
        <p:spPr>
          <a:xfrm>
            <a:off x="-476262" y="937951"/>
            <a:ext cx="13144512" cy="5201601"/>
          </a:xfrm>
          <a:prstGeom prst="rect">
            <a:avLst/>
          </a:prstGeom>
          <a:noFill/>
          <a:ln w="381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Дата 6">
            <a:extLst>
              <a:ext uri="{FF2B5EF4-FFF2-40B4-BE49-F238E27FC236}">
                <a16:creationId xmlns:a16="http://schemas.microsoft.com/office/drawing/2014/main" id="{23A2DADD-183B-26E7-B6EB-7B86FA3B232D}"/>
              </a:ext>
            </a:extLst>
          </p:cNvPr>
          <p:cNvSpPr txBox="1">
            <a:spLocks/>
          </p:cNvSpPr>
          <p:nvPr/>
        </p:nvSpPr>
        <p:spPr>
          <a:xfrm>
            <a:off x="38100" y="6284084"/>
            <a:ext cx="7785187" cy="463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ru-RU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ru-RU" alt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Курсовой проект «Поиск и первичный анализ наборов данных»</a:t>
            </a:r>
            <a:endParaRPr lang="ru-RU" altLang="zh-CN" sz="2000" dirty="0">
              <a:solidFill>
                <a:schemeClr val="bg1"/>
              </a:solidFill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B9186FF-E765-ECD9-2748-CB74F19BC93A}"/>
              </a:ext>
            </a:extLst>
          </p:cNvPr>
          <p:cNvSpPr txBox="1"/>
          <p:nvPr/>
        </p:nvSpPr>
        <p:spPr>
          <a:xfrm>
            <a:off x="420915" y="1350346"/>
            <a:ext cx="11437256" cy="4109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ru-RU" sz="1600" b="1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Пригодность:</a:t>
            </a:r>
            <a:r>
              <a:rPr lang="ru-RU" sz="1600" b="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Набор данных полностью пригоден для прогнозирования уровня стресса, качества сна и умственной усталости. Пропуски и дубликаты отсутствуют, выбросы единичны, категории почти сбалансированы, нужно учесть дисбаланс пола</a:t>
            </a:r>
            <a:r>
              <a:rPr lang="en-CA" sz="1600" dirty="0">
                <a:solidFill>
                  <a:srgbClr val="F9FAF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600" b="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при обучении. Данные не требуют трудоёмкой предварительной очистки. Единственное ограничение синтетическая природа данных, которая может затруднить перенос результатов на реальные данные.</a:t>
            </a:r>
          </a:p>
          <a:p>
            <a:pPr algn="l">
              <a:lnSpc>
                <a:spcPct val="150000"/>
              </a:lnSpc>
              <a:buNone/>
            </a:pPr>
            <a:endParaRPr lang="ru-RU" sz="1600" b="0" i="0" dirty="0">
              <a:solidFill>
                <a:srgbClr val="F9FAFB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>
              <a:lnSpc>
                <a:spcPct val="150000"/>
              </a:lnSpc>
              <a:buNone/>
            </a:pPr>
            <a:r>
              <a:rPr lang="ru-RU" sz="1600" b="1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Рекомендации по предварительной обработке перед построением модели:</a:t>
            </a:r>
            <a:endParaRPr lang="ru-RU" sz="1600" dirty="0">
              <a:solidFill>
                <a:srgbClr val="F9FAF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indent="-285750" algn="l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1600" b="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Применить стандартизацию (</a:t>
            </a:r>
            <a:r>
              <a:rPr lang="ru-RU" sz="1600" b="0" i="0" dirty="0" err="1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StandardScaler</a:t>
            </a:r>
            <a:r>
              <a:rPr lang="ru-RU" sz="1600" b="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) для приведения всех числовых признаков к единому масштабу</a:t>
            </a:r>
          </a:p>
          <a:p>
            <a:pPr indent="-285750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1600" b="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Закодировать категориальные признаки: </a:t>
            </a:r>
            <a:r>
              <a:rPr lang="ru-RU" sz="1600" dirty="0">
                <a:solidFill>
                  <a:srgbClr val="F9FAF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пол – Label </a:t>
            </a:r>
            <a:r>
              <a:rPr lang="ru-RU" sz="1600" b="0" i="0" dirty="0" err="1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Encoding</a:t>
            </a:r>
            <a:r>
              <a:rPr lang="ru-RU" sz="1600" b="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ru-RU" sz="1600" dirty="0">
                <a:solidFill>
                  <a:srgbClr val="F9FAF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профессию – </a:t>
            </a:r>
            <a:r>
              <a:rPr lang="ru-RU" sz="1600" b="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One-Hot </a:t>
            </a:r>
            <a:r>
              <a:rPr lang="ru-RU" sz="1600" b="0" i="0" dirty="0" err="1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Encoding</a:t>
            </a:r>
            <a:endParaRPr lang="ru-RU" sz="1600" dirty="0">
              <a:solidFill>
                <a:srgbClr val="F9FAF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indent="-285750" algn="l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1600" b="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Разделить выборку: 70% обучение, 15% валидация, 15% тест</a:t>
            </a:r>
          </a:p>
          <a:p>
            <a:pPr indent="-285750" algn="l">
              <a:lnSpc>
                <a:spcPct val="150000"/>
              </a:lnSpc>
              <a:buFont typeface="Arial" panose="020B0604020202020204" pitchFamily="34" charset="0"/>
              <a:buChar char="–"/>
            </a:pPr>
            <a:r>
              <a:rPr lang="ru-RU" sz="1600" b="0" i="0" dirty="0">
                <a:solidFill>
                  <a:srgbClr val="F9FAFB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Использовать наиболее значимые признаки: экранное время, физическая активность, кофеин, умственная усталость</a:t>
            </a:r>
          </a:p>
        </p:txBody>
      </p:sp>
    </p:spTree>
    <p:extLst>
      <p:ext uri="{BB962C8B-B14F-4D97-AF65-F5344CB8AC3E}">
        <p14:creationId xmlns:p14="http://schemas.microsoft.com/office/powerpoint/2010/main" val="1722400624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744</TotalTime>
  <Words>3313</Words>
  <Application>Microsoft Office PowerPoint</Application>
  <PresentationFormat>Широкоэкранный</PresentationFormat>
  <Paragraphs>780</Paragraphs>
  <Slides>20</Slides>
  <Notes>20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20</vt:i4>
      </vt:variant>
    </vt:vector>
  </HeadingPairs>
  <TitlesOfParts>
    <vt:vector size="26" baseType="lpstr">
      <vt:lpstr>Aptos</vt:lpstr>
      <vt:lpstr>Aptos Display</vt:lpstr>
      <vt:lpstr>Arial</vt:lpstr>
      <vt:lpstr>Arial Black</vt:lpstr>
      <vt:lpstr>Calibri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Влад Бобыкин</dc:creator>
  <cp:lastModifiedBy>Влад Бобыкин</cp:lastModifiedBy>
  <cp:revision>6</cp:revision>
  <dcterms:created xsi:type="dcterms:W3CDTF">2026-06-01T05:52:45Z</dcterms:created>
  <dcterms:modified xsi:type="dcterms:W3CDTF">2026-06-04T16:57:36Z</dcterms:modified>
</cp:coreProperties>
</file>